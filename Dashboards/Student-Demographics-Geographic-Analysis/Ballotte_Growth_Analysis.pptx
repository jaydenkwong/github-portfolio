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6301"/>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E1F27"/>
                </a:solidFill>
                <a:latin typeface="Cambria"/>
              </a:defRPr>
            </a:pPr>
            <a:r>
              <a:rPr lang="en-US" sz="1400" b="0" i="0" u="none" strike="noStrike">
                <a:solidFill>
                  <a:srgbClr val="2E1F27"/>
                </a:solidFill>
                <a:latin typeface="Cambria"/>
              </a:rPr>
              <a:t>Facebook followers</a:t>
            </a:r>
          </a:p>
        </c:rich>
      </c:tx>
      <c:overlay val="0"/>
    </c:title>
    <c:autoTitleDeleted val="0"/>
    <c:plotArea>
      <c:layout/>
      <c:barChart>
        <c:barDir val="bar"/>
        <c:grouping val="clustered"/>
        <c:varyColors val="0"/>
        <c:ser>
          <c:idx val="0"/>
          <c:order val="0"/>
          <c:tx>
            <c:strRef>
              <c:f>Sheet1!$B$1</c:f>
              <c:strCache>
                <c:ptCount val="1"/>
                <c:pt idx="0">
                  <c:v>Facebook followers</c:v>
                </c:pt>
              </c:strCache>
            </c:strRef>
          </c:tx>
          <c:spPr>
            <a:solidFill>
              <a:srgbClr val="C99474"/>
            </a:solidFill>
            <a:effectLst/>
          </c:spPr>
          <c:invertIfNegative val="0"/>
          <c:dLbls>
            <c:numFmt formatCode="#,##0" sourceLinked="0"/>
            <c:spPr>
              <a:noFill/>
              <a:ln>
                <a:noFill/>
              </a:ln>
              <a:effectLst/>
            </c:spPr>
            <c:txPr>
              <a:bodyPr/>
              <a:lstStyle/>
              <a:p>
                <a:pPr>
                  <a:defRPr sz="1100" b="0" i="0" u="none" strike="noStrike">
                    <a:solidFill>
                      <a:srgbClr val="2B212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Dua Space</c:v>
                </c:pt>
                <c:pt idx="1">
                  <c:v>Dance Rise</c:v>
                </c:pt>
                <c:pt idx="2">
                  <c:v>Ballotté</c:v>
                </c:pt>
                <c:pt idx="3">
                  <c:v>Angie Lee</c:v>
                </c:pt>
                <c:pt idx="4">
                  <c:v>Great Dance</c:v>
                </c:pt>
                <c:pt idx="5">
                  <c:v>Pointe &amp; Music</c:v>
                </c:pt>
              </c:strCache>
            </c:strRef>
          </c:cat>
          <c:val>
            <c:numRef>
              <c:f>Sheet1!$B$2:$B$7</c:f>
              <c:numCache>
                <c:formatCode>General</c:formatCode>
                <c:ptCount val="6"/>
                <c:pt idx="0">
                  <c:v>135</c:v>
                </c:pt>
                <c:pt idx="1">
                  <c:v>169</c:v>
                </c:pt>
                <c:pt idx="2">
                  <c:v>406</c:v>
                </c:pt>
                <c:pt idx="3">
                  <c:v>1100</c:v>
                </c:pt>
                <c:pt idx="4">
                  <c:v>1853</c:v>
                </c:pt>
                <c:pt idx="5">
                  <c:v>3600</c:v>
                </c:pt>
              </c:numCache>
            </c:numRef>
          </c:val>
          <c:extLst>
            <c:ext xmlns:c16="http://schemas.microsoft.com/office/drawing/2014/chart" uri="{C3380CC4-5D6E-409C-BE32-E72D297353CC}">
              <c16:uniqueId val="{00000000-FE96-3845-B21E-F24E1F7F810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B2124"/>
                </a:solidFill>
                <a:latin typeface="Calibri"/>
              </a:defRPr>
            </a:pPr>
            <a:endParaRPr lang="en-US"/>
          </a:p>
        </c:txPr>
        <c:crossAx val="2094734552"/>
        <c:crosses val="autoZero"/>
        <c:auto val="1"/>
        <c:lblAlgn val="ctr"/>
        <c:lblOffset val="100"/>
        <c:noMultiLvlLbl val="1"/>
      </c:catAx>
      <c:valAx>
        <c:axId val="2094734552"/>
        <c:scaling>
          <c:orientation val="minMax"/>
          <c:max val="430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6333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deck reviews who Ballotté's students are, where they live, where new students could come from, who the nearby ballet competitors are and how they market themselves, ending with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1 to 5 come from the original student analysis. Questions 6 to 9 extend it to nearby markets, competitors and online visibility.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Tableau dashboard: total students, average age and number of areas at the top; students by township, age group, a map by city, and citizenship.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Findings from the dashboard. Ages 4 to 9 are three quarters of students. Puchong and Cyberjaya together are 91 percent.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plots the 68 students from the dashboard's top 10 areas with circles every 5 km from the studio.</a:t>
            </a:r>
          </a:p>
          <a:p>
            <a:r>
              <a:rPr lang="en-US" dirty="0"/>
              <a:t>https://</a:t>
            </a:r>
            <a:r>
              <a:rPr lang="en-US" dirty="0" err="1"/>
              <a:t>www.yelp.com</a:t>
            </a:r>
            <a:r>
              <a:rPr lang="en-US" dirty="0"/>
              <a:t>/</a:t>
            </a:r>
            <a:r>
              <a:rPr lang="en-US" dirty="0" err="1"/>
              <a:t>search?find_desc</a:t>
            </a:r>
            <a:r>
              <a:rPr lang="en-US" dirty="0"/>
              <a:t>=</a:t>
            </a:r>
            <a:r>
              <a:rPr lang="en-US" dirty="0" err="1"/>
              <a:t>Dance+Studios&amp;find_loc</a:t>
            </a:r>
            <a:r>
              <a:rPr lang="en-US" dirty="0"/>
              <a:t>=Cyberjaya%2C+Selangor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of the 13 developments are 1.4 to 4.7 km from the studio. Groups: A North Puchong, B South-west, C East, D Cyberjaya.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confirmed ballet competitors, coloured by how similar they are to Ballotté.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Tone Color Academy, Wow Talent Academy and Dancing Art Solutions were excluded because ballet is a side class there.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Ballotté's column is highlighted. It is the only studio here without a website, and its Facebook page has no phone number or WhatsApp button.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Parents often check Facebook for reviews and contact details, so the gap there matters even though Ballotté's Instagram is strong.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Ballotté already does exams, camps and competitions. The problem is visibility: the content is not reused on Facebook or a website, and there is no website to send Google searchers to.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shows Ballotté's profile with 4.8 stars from 55 reviews, far more reviews than competitors show on Facebook. But the Website button points to ballottedance.com, which now opens the gambling site 365dmd.online. This is bad for the studio's reputation and should be fixed first: remove or replace the website link on the Google profile and anywhere else it appears.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tactics Ballotté does not use are Pointe's blog and trial booking, Great Dance's newsletter and event posts, and adult programmes at Angie Lee, Dance Rise and Dua Space.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Screenshots from competitors' Facebook pages and websites, September 2026.</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Listing sites found for each studio during the research, September 2026.</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places where parents or dance fans look for classes. Start with TallyPress and Kiddy123.</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combine the original analysis (focus on Puchong and Cyberjaya, referrals, ages 4 to 9, investigating why Cyberjaya families travel) with the competitor and visibility findings.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F27"/>
        </a:solidFill>
        <a:effectLst/>
      </p:bgPr>
    </p:bg>
    <p:spTree>
      <p:nvGrpSpPr>
        <p:cNvPr id="1" name=""/>
        <p:cNvGrpSpPr/>
        <p:nvPr/>
      </p:nvGrpSpPr>
      <p:grpSpPr>
        <a:xfrm>
          <a:off x="0" y="0"/>
          <a:ext cx="0" cy="0"/>
          <a:chOff x="0" y="0"/>
          <a:chExt cx="0" cy="0"/>
        </a:xfrm>
      </p:grpSpPr>
      <p:sp>
        <p:nvSpPr>
          <p:cNvPr id="2" name="Shape 0"/>
          <p:cNvSpPr/>
          <p:nvPr/>
        </p:nvSpPr>
        <p:spPr>
          <a:xfrm>
            <a:off x="6629400" y="777240"/>
            <a:ext cx="5577840" cy="5577840"/>
          </a:xfrm>
          <a:prstGeom prst="ellipse">
            <a:avLst/>
          </a:prstGeom>
          <a:ln w="15875">
            <a:solidFill>
              <a:srgbClr val="C99474">
                <a:alpha val="45000"/>
              </a:srgbClr>
            </a:solidFill>
            <a:prstDash val="solid"/>
          </a:ln>
        </p:spPr>
        <p:txBody>
          <a:bodyPr/>
          <a:lstStyle/>
          <a:p>
            <a:endParaRPr lang="en-US"/>
          </a:p>
        </p:txBody>
      </p:sp>
      <p:sp>
        <p:nvSpPr>
          <p:cNvPr id="3" name="Shape 1"/>
          <p:cNvSpPr/>
          <p:nvPr/>
        </p:nvSpPr>
        <p:spPr>
          <a:xfrm>
            <a:off x="6583680" y="-274320"/>
            <a:ext cx="6766560" cy="6766560"/>
          </a:xfrm>
          <a:prstGeom prst="ellipse">
            <a:avLst/>
          </a:prstGeom>
          <a:ln w="9525">
            <a:solidFill>
              <a:srgbClr val="C99474">
                <a:alpha val="25000"/>
              </a:srgbClr>
            </a:solidFill>
            <a:prstDash val="solid"/>
          </a:ln>
        </p:spPr>
        <p:txBody>
          <a:bodyPr/>
          <a:lstStyle/>
          <a:p>
            <a:endParaRPr lang="en-US"/>
          </a:p>
        </p:txBody>
      </p:sp>
      <p:pic>
        <p:nvPicPr>
          <p:cNvPr id="4" name="Image 0" descr="/home/claude/deck/img/dancer_light.png"/>
          <p:cNvPicPr>
            <a:picLocks noChangeAspect="1"/>
          </p:cNvPicPr>
          <p:nvPr/>
        </p:nvPicPr>
        <p:blipFill>
          <a:blip r:embed="rId3"/>
          <a:stretch>
            <a:fillRect/>
          </a:stretch>
        </p:blipFill>
        <p:spPr>
          <a:xfrm>
            <a:off x="7223760" y="753345"/>
            <a:ext cx="4480560" cy="5351310"/>
          </a:xfrm>
          <a:prstGeom prst="rect">
            <a:avLst/>
          </a:prstGeom>
        </p:spPr>
      </p:pic>
      <p:sp>
        <p:nvSpPr>
          <p:cNvPr id="5" name="Text 2"/>
          <p:cNvSpPr txBox="1"/>
          <p:nvPr/>
        </p:nvSpPr>
        <p:spPr>
          <a:xfrm>
            <a:off x="640080" y="1417320"/>
            <a:ext cx="6400800" cy="320040"/>
          </a:xfrm>
          <a:prstGeom prst="rect">
            <a:avLst/>
          </a:prstGeom>
          <a:noFill/>
          <a:ln/>
        </p:spPr>
        <p:txBody>
          <a:bodyPr wrap="square" lIns="0" tIns="0" rIns="0" bIns="0" rtlCol="0" anchor="ctr"/>
          <a:lstStyle/>
          <a:p>
            <a:pPr marL="0" indent="0">
              <a:buNone/>
            </a:pPr>
            <a:r>
              <a:rPr lang="en-US" sz="1200" b="1" kern="0" spc="500" dirty="0">
                <a:solidFill>
                  <a:srgbClr val="C99474"/>
                </a:solidFill>
                <a:latin typeface="Calibri" pitchFamily="34" charset="0"/>
                <a:ea typeface="Calibri" pitchFamily="34" charset="-122"/>
                <a:cs typeface="Calibri" pitchFamily="34" charset="-120"/>
              </a:rPr>
              <a:t>STUDIO GROWTH ANALYSIS  ·  SEPTEMBER 2026</a:t>
            </a:r>
            <a:endParaRPr lang="en-US" sz="1200" dirty="0"/>
          </a:p>
        </p:txBody>
      </p:sp>
      <p:sp>
        <p:nvSpPr>
          <p:cNvPr id="6" name="Text 3"/>
          <p:cNvSpPr txBox="1"/>
          <p:nvPr/>
        </p:nvSpPr>
        <p:spPr>
          <a:xfrm>
            <a:off x="640080" y="1828800"/>
            <a:ext cx="6583680" cy="1920240"/>
          </a:xfrm>
          <a:prstGeom prst="rect">
            <a:avLst/>
          </a:prstGeom>
          <a:noFill/>
          <a:ln/>
        </p:spPr>
        <p:txBody>
          <a:bodyPr wrap="square" lIns="0" tIns="0" rIns="0" bIns="0" rtlCol="0" anchor="t"/>
          <a:lstStyle/>
          <a:p>
            <a:pPr marL="0" indent="0">
              <a:buNone/>
            </a:pPr>
            <a:r>
              <a:rPr lang="en-US" sz="5200" b="1" dirty="0">
                <a:solidFill>
                  <a:srgbClr val="F6E2D6"/>
                </a:solidFill>
                <a:latin typeface="Cambria" pitchFamily="34" charset="0"/>
                <a:ea typeface="Cambria" pitchFamily="34" charset="-122"/>
                <a:cs typeface="Cambria" pitchFamily="34" charset="-120"/>
              </a:rPr>
              <a:t>Where Ballotté</a:t>
            </a:r>
            <a:endParaRPr lang="en-US" sz="5200" dirty="0"/>
          </a:p>
          <a:p>
            <a:pPr marL="0" indent="0">
              <a:buNone/>
            </a:pPr>
            <a:r>
              <a:rPr lang="en-US" sz="5200" b="1" dirty="0">
                <a:solidFill>
                  <a:srgbClr val="F6E2D6"/>
                </a:solidFill>
                <a:latin typeface="Cambria" pitchFamily="34" charset="0"/>
                <a:ea typeface="Cambria" pitchFamily="34" charset="-122"/>
                <a:cs typeface="Cambria" pitchFamily="34" charset="-120"/>
              </a:rPr>
              <a:t>Can Grow Next</a:t>
            </a:r>
            <a:endParaRPr lang="en-US" sz="5200" dirty="0"/>
          </a:p>
        </p:txBody>
      </p:sp>
      <p:sp>
        <p:nvSpPr>
          <p:cNvPr id="7" name="Text 4"/>
          <p:cNvSpPr txBox="1"/>
          <p:nvPr/>
        </p:nvSpPr>
        <p:spPr>
          <a:xfrm>
            <a:off x="640080" y="3886200"/>
            <a:ext cx="6583680" cy="822960"/>
          </a:xfrm>
          <a:prstGeom prst="rect">
            <a:avLst/>
          </a:prstGeom>
          <a:noFill/>
          <a:ln/>
        </p:spPr>
        <p:txBody>
          <a:bodyPr wrap="square" lIns="0" tIns="0" rIns="0" bIns="0" rtlCol="0" anchor="ctr"/>
          <a:lstStyle/>
          <a:p>
            <a:pPr marL="0" indent="0">
              <a:buNone/>
            </a:pPr>
            <a:r>
              <a:rPr lang="en-US" sz="1700" dirty="0">
                <a:solidFill>
                  <a:srgbClr val="F1DDD5"/>
                </a:solidFill>
                <a:latin typeface="Calibri" pitchFamily="34" charset="0"/>
                <a:ea typeface="Calibri" pitchFamily="34" charset="-122"/>
                <a:cs typeface="Calibri" pitchFamily="34" charset="-120"/>
              </a:rPr>
              <a:t>Students, nearby markets and ballet competitors around</a:t>
            </a:r>
            <a:endParaRPr lang="en-US" sz="1700" dirty="0"/>
          </a:p>
          <a:p>
            <a:pPr marL="0" indent="0">
              <a:buNone/>
            </a:pPr>
            <a:r>
              <a:rPr lang="en-US" sz="1700" dirty="0">
                <a:solidFill>
                  <a:srgbClr val="F1DDD5"/>
                </a:solidFill>
                <a:latin typeface="Calibri" pitchFamily="34" charset="0"/>
                <a:ea typeface="Calibri" pitchFamily="34" charset="-122"/>
                <a:cs typeface="Calibri" pitchFamily="34" charset="-120"/>
              </a:rPr>
              <a:t>Ballotté Dance Academy #Puchong</a:t>
            </a:r>
            <a:endParaRPr lang="en-US" sz="1700" dirty="0"/>
          </a:p>
        </p:txBody>
      </p:sp>
      <p:sp>
        <p:nvSpPr>
          <p:cNvPr id="8" name="Text 5"/>
          <p:cNvSpPr txBox="1"/>
          <p:nvPr/>
        </p:nvSpPr>
        <p:spPr>
          <a:xfrm>
            <a:off x="640080" y="5394960"/>
            <a:ext cx="5486400" cy="274320"/>
          </a:xfrm>
          <a:prstGeom prst="rect">
            <a:avLst/>
          </a:prstGeom>
          <a:noFill/>
          <a:ln/>
        </p:spPr>
        <p:txBody>
          <a:bodyPr wrap="square" lIns="0" tIns="0" rIns="0" bIns="0" rtlCol="0" anchor="ctr"/>
          <a:lstStyle/>
          <a:p>
            <a:pPr marL="0" indent="0">
              <a:buNone/>
            </a:pPr>
            <a:r>
              <a:rPr lang="en-US" sz="1200" dirty="0">
                <a:solidFill>
                  <a:srgbClr val="C99474"/>
                </a:solidFill>
                <a:latin typeface="Calibri" pitchFamily="34" charset="0"/>
                <a:ea typeface="Calibri" pitchFamily="34" charset="-122"/>
                <a:cs typeface="Calibri" pitchFamily="34" charset="-120"/>
              </a:rPr>
              <a:t>Prepared by Jayden Kwong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100" b="1" kern="0" spc="400" dirty="0">
                <a:solidFill>
                  <a:srgbClr val="9C6445"/>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48640" y="621792"/>
            <a:ext cx="10241280" cy="658368"/>
          </a:xfrm>
          <a:prstGeom prst="rect">
            <a:avLst/>
          </a:prstGeom>
          <a:noFill/>
          <a:ln/>
        </p:spPr>
        <p:txBody>
          <a:bodyPr wrap="square" lIns="0" tIns="0" rIns="0" bIns="0" rtlCol="0" anchor="ctr"/>
          <a:lstStyle/>
          <a:p>
            <a:pPr marL="0" indent="0">
              <a:buNone/>
            </a:pPr>
            <a:r>
              <a:rPr lang="en-US" sz="3000" b="1" dirty="0">
                <a:solidFill>
                  <a:srgbClr val="2E1F27"/>
                </a:solidFill>
                <a:latin typeface="Cambria" pitchFamily="34" charset="0"/>
                <a:ea typeface="Cambria" pitchFamily="34" charset="-122"/>
                <a:cs typeface="Cambria" pitchFamily="34" charset="-120"/>
              </a:rPr>
              <a:t>What this analysis answers</a:t>
            </a:r>
            <a:endParaRPr lang="en-US" sz="3000" dirty="0"/>
          </a:p>
        </p:txBody>
      </p:sp>
      <p:pic>
        <p:nvPicPr>
          <p:cNvPr id="4" name="Image 0" descr="/home/claude/deck/img/dancer_rose.png"/>
          <p:cNvPicPr>
            <a:picLocks noChangeAspect="1"/>
          </p:cNvPicPr>
          <p:nvPr/>
        </p:nvPicPr>
        <p:blipFill>
          <a:blip r:embed="rId3"/>
          <a:stretch>
            <a:fillRect/>
          </a:stretch>
        </p:blipFill>
        <p:spPr>
          <a:xfrm>
            <a:off x="11076127" y="292384"/>
            <a:ext cx="566928" cy="677105"/>
          </a:xfrm>
          <a:prstGeom prst="rect">
            <a:avLst/>
          </a:prstGeom>
        </p:spPr>
      </p:pic>
      <p:sp>
        <p:nvSpPr>
          <p:cNvPr id="5" name="Text 2"/>
          <p:cNvSpPr txBox="1"/>
          <p:nvPr/>
        </p:nvSpPr>
        <p:spPr>
          <a:xfrm>
            <a:off x="548640" y="6473952"/>
            <a:ext cx="4572000" cy="228600"/>
          </a:xfrm>
          <a:prstGeom prst="rect">
            <a:avLst/>
          </a:prstGeom>
          <a:noFill/>
          <a:ln/>
        </p:spPr>
        <p:txBody>
          <a:bodyPr wrap="square" lIns="0" tIns="0" rIns="0" bIns="0" rtlCol="0" anchor="ctr"/>
          <a:lstStyle/>
          <a:p>
            <a:pPr marL="0" indent="0">
              <a:buNone/>
            </a:pPr>
            <a:r>
              <a:rPr lang="en-US" sz="900" dirty="0">
                <a:solidFill>
                  <a:srgbClr val="6E6064"/>
                </a:solidFill>
                <a:latin typeface="Calibri" pitchFamily="34" charset="0"/>
                <a:ea typeface="Calibri" pitchFamily="34" charset="-122"/>
                <a:cs typeface="Calibri" pitchFamily="34" charset="-120"/>
              </a:rPr>
              <a:t>Ballotté Dance Academy #Puchong</a:t>
            </a:r>
            <a:endParaRPr lang="en-US" sz="900" dirty="0"/>
          </a:p>
        </p:txBody>
      </p:sp>
      <p:sp>
        <p:nvSpPr>
          <p:cNvPr id="6" name="Text 3"/>
          <p:cNvSpPr txBox="1"/>
          <p:nvPr/>
        </p:nvSpPr>
        <p:spPr>
          <a:xfrm>
            <a:off x="11185855" y="6473952"/>
            <a:ext cx="457200" cy="228600"/>
          </a:xfrm>
          <a:prstGeom prst="rect">
            <a:avLst/>
          </a:prstGeom>
          <a:noFill/>
          <a:ln/>
        </p:spPr>
        <p:txBody>
          <a:bodyPr wrap="square" lIns="0" tIns="0" rIns="0" bIns="0" rtlCol="0" anchor="ctr"/>
          <a:lstStyle/>
          <a:p>
            <a:pPr marL="0" indent="0" algn="r">
              <a:buNone/>
            </a:pPr>
            <a:r>
              <a:rPr lang="en-US" sz="900" dirty="0">
                <a:solidFill>
                  <a:srgbClr val="6E6064"/>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548640" y="1600200"/>
            <a:ext cx="5349240" cy="4526280"/>
          </a:xfrm>
          <a:prstGeom prst="roundRect">
            <a:avLst>
              <a:gd name="adj" fmla="val 2020"/>
            </a:avLst>
          </a:prstGeom>
          <a:solidFill>
            <a:srgbClr val="F8EEEA"/>
          </a:solidFill>
          <a:ln w="9525">
            <a:solidFill>
              <a:srgbClr val="E6D3CB"/>
            </a:solidFill>
            <a:prstDash val="solid"/>
          </a:ln>
        </p:spPr>
        <p:txBody>
          <a:bodyPr/>
          <a:lstStyle/>
          <a:p>
            <a:endParaRPr lang="en-US"/>
          </a:p>
        </p:txBody>
      </p:sp>
      <p:sp>
        <p:nvSpPr>
          <p:cNvPr id="8" name="Shape 5"/>
          <p:cNvSpPr/>
          <p:nvPr/>
        </p:nvSpPr>
        <p:spPr>
          <a:xfrm>
            <a:off x="6263640" y="1600200"/>
            <a:ext cx="5349240" cy="4526280"/>
          </a:xfrm>
          <a:prstGeom prst="roundRect">
            <a:avLst>
              <a:gd name="adj" fmla="val 2020"/>
            </a:avLst>
          </a:prstGeom>
          <a:solidFill>
            <a:srgbClr val="F8EEEA"/>
          </a:solidFill>
          <a:ln w="9525">
            <a:solidFill>
              <a:srgbClr val="E6D3CB"/>
            </a:solidFill>
            <a:prstDash val="solid"/>
          </a:ln>
        </p:spPr>
        <p:txBody>
          <a:bodyPr/>
          <a:lstStyle/>
          <a:p>
            <a:endParaRPr lang="en-US"/>
          </a:p>
        </p:txBody>
      </p:sp>
      <p:sp>
        <p:nvSpPr>
          <p:cNvPr id="9" name="Text 6"/>
          <p:cNvSpPr txBox="1"/>
          <p:nvPr/>
        </p:nvSpPr>
        <p:spPr>
          <a:xfrm>
            <a:off x="868680" y="1828800"/>
            <a:ext cx="4572000" cy="274320"/>
          </a:xfrm>
          <a:prstGeom prst="rect">
            <a:avLst/>
          </a:prstGeom>
          <a:noFill/>
          <a:ln/>
        </p:spPr>
        <p:txBody>
          <a:bodyPr wrap="square" lIns="0" tIns="0" rIns="0" bIns="0" rtlCol="0" anchor="ctr"/>
          <a:lstStyle/>
          <a:p>
            <a:pPr marL="0" indent="0">
              <a:buNone/>
            </a:pPr>
            <a:r>
              <a:rPr lang="en-US" sz="1200" b="1" kern="0" spc="400" dirty="0">
                <a:solidFill>
                  <a:srgbClr val="9C6445"/>
                </a:solidFill>
                <a:latin typeface="Calibri" pitchFamily="34" charset="0"/>
                <a:ea typeface="Calibri" pitchFamily="34" charset="-122"/>
                <a:cs typeface="Calibri" pitchFamily="34" charset="-120"/>
              </a:rPr>
              <a:t>OUR STUDENTS</a:t>
            </a:r>
            <a:endParaRPr lang="en-US" sz="1200" dirty="0"/>
          </a:p>
        </p:txBody>
      </p:sp>
      <p:sp>
        <p:nvSpPr>
          <p:cNvPr id="10" name="Text 7"/>
          <p:cNvSpPr txBox="1"/>
          <p:nvPr/>
        </p:nvSpPr>
        <p:spPr>
          <a:xfrm>
            <a:off x="6583680" y="1828800"/>
            <a:ext cx="4572000" cy="274320"/>
          </a:xfrm>
          <a:prstGeom prst="rect">
            <a:avLst/>
          </a:prstGeom>
          <a:noFill/>
          <a:ln/>
        </p:spPr>
        <p:txBody>
          <a:bodyPr wrap="square" lIns="0" tIns="0" rIns="0" bIns="0" rtlCol="0" anchor="ctr"/>
          <a:lstStyle/>
          <a:p>
            <a:pPr marL="0" indent="0">
              <a:buNone/>
            </a:pPr>
            <a:r>
              <a:rPr lang="en-US" sz="1200" b="1" kern="0" spc="400" dirty="0">
                <a:solidFill>
                  <a:srgbClr val="9C6445"/>
                </a:solidFill>
                <a:latin typeface="Calibri" pitchFamily="34" charset="0"/>
                <a:ea typeface="Calibri" pitchFamily="34" charset="-122"/>
                <a:cs typeface="Calibri" pitchFamily="34" charset="-120"/>
              </a:rPr>
              <a:t>OUR MARKET &amp; COMPETITORS</a:t>
            </a:r>
            <a:endParaRPr lang="en-US" sz="1200" dirty="0"/>
          </a:p>
        </p:txBody>
      </p:sp>
      <p:sp>
        <p:nvSpPr>
          <p:cNvPr id="11" name="Shape 8"/>
          <p:cNvSpPr/>
          <p:nvPr/>
        </p:nvSpPr>
        <p:spPr>
          <a:xfrm>
            <a:off x="868680" y="2286000"/>
            <a:ext cx="402336" cy="402336"/>
          </a:xfrm>
          <a:prstGeom prst="ellipse">
            <a:avLst/>
          </a:prstGeom>
          <a:solidFill>
            <a:srgbClr val="C99474"/>
          </a:solidFill>
          <a:ln w="12700">
            <a:solidFill>
              <a:srgbClr val="C99474"/>
            </a:solidFill>
            <a:prstDash val="solid"/>
          </a:ln>
        </p:spPr>
        <p:txBody>
          <a:bodyPr/>
          <a:lstStyle/>
          <a:p>
            <a:endParaRPr lang="en-US"/>
          </a:p>
        </p:txBody>
      </p:sp>
      <p:sp>
        <p:nvSpPr>
          <p:cNvPr id="12" name="Text 9"/>
          <p:cNvSpPr txBox="1"/>
          <p:nvPr/>
        </p:nvSpPr>
        <p:spPr>
          <a:xfrm>
            <a:off x="868680" y="228600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3" name="Text 10"/>
          <p:cNvSpPr txBox="1"/>
          <p:nvPr/>
        </p:nvSpPr>
        <p:spPr>
          <a:xfrm>
            <a:off x="1417320" y="2240280"/>
            <a:ext cx="4297680" cy="502920"/>
          </a:xfrm>
          <a:prstGeom prst="rect">
            <a:avLst/>
          </a:prstGeom>
          <a:noFill/>
          <a:ln/>
        </p:spPr>
        <p:txBody>
          <a:bodyPr wrap="square" lIns="0" tIns="0" rIns="0" bIns="0" rtlCol="0" anchor="ctr"/>
          <a:lstStyle/>
          <a:p>
            <a:pPr marL="0" indent="0">
              <a:buNone/>
            </a:pPr>
            <a:r>
              <a:rPr lang="en-US" sz="1400" dirty="0">
                <a:solidFill>
                  <a:srgbClr val="2B2124"/>
                </a:solidFill>
                <a:latin typeface="Calibri" pitchFamily="34" charset="0"/>
                <a:ea typeface="Calibri" pitchFamily="34" charset="-122"/>
                <a:cs typeface="Calibri" pitchFamily="34" charset="-120"/>
              </a:rPr>
              <a:t>What are the main age groups among current students?</a:t>
            </a:r>
            <a:endParaRPr lang="en-US" sz="1400" dirty="0"/>
          </a:p>
        </p:txBody>
      </p:sp>
      <p:sp>
        <p:nvSpPr>
          <p:cNvPr id="14" name="Shape 11"/>
          <p:cNvSpPr/>
          <p:nvPr/>
        </p:nvSpPr>
        <p:spPr>
          <a:xfrm>
            <a:off x="868680" y="3035808"/>
            <a:ext cx="402336" cy="402336"/>
          </a:xfrm>
          <a:prstGeom prst="ellipse">
            <a:avLst/>
          </a:prstGeom>
          <a:solidFill>
            <a:srgbClr val="C99474"/>
          </a:solidFill>
          <a:ln w="12700">
            <a:solidFill>
              <a:srgbClr val="C99474"/>
            </a:solidFill>
            <a:prstDash val="solid"/>
          </a:ln>
        </p:spPr>
        <p:txBody>
          <a:bodyPr/>
          <a:lstStyle/>
          <a:p>
            <a:endParaRPr lang="en-US"/>
          </a:p>
        </p:txBody>
      </p:sp>
      <p:sp>
        <p:nvSpPr>
          <p:cNvPr id="15" name="Text 12"/>
          <p:cNvSpPr txBox="1"/>
          <p:nvPr/>
        </p:nvSpPr>
        <p:spPr>
          <a:xfrm>
            <a:off x="868680" y="303580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6" name="Text 13"/>
          <p:cNvSpPr txBox="1"/>
          <p:nvPr/>
        </p:nvSpPr>
        <p:spPr>
          <a:xfrm>
            <a:off x="1417320" y="2990088"/>
            <a:ext cx="4297680" cy="502920"/>
          </a:xfrm>
          <a:prstGeom prst="rect">
            <a:avLst/>
          </a:prstGeom>
          <a:noFill/>
          <a:ln/>
        </p:spPr>
        <p:txBody>
          <a:bodyPr wrap="square" lIns="0" tIns="0" rIns="0" bIns="0" rtlCol="0" anchor="ctr"/>
          <a:lstStyle/>
          <a:p>
            <a:pPr marL="0" indent="0">
              <a:buNone/>
            </a:pPr>
            <a:r>
              <a:rPr lang="en-US" sz="1400" dirty="0">
                <a:solidFill>
                  <a:srgbClr val="2B2124"/>
                </a:solidFill>
                <a:latin typeface="Calibri" pitchFamily="34" charset="0"/>
                <a:ea typeface="Calibri" pitchFamily="34" charset="-122"/>
                <a:cs typeface="Calibri" pitchFamily="34" charset="-120"/>
              </a:rPr>
              <a:t>Which areas or townships have the most students?</a:t>
            </a:r>
            <a:endParaRPr lang="en-US" sz="1400" dirty="0"/>
          </a:p>
        </p:txBody>
      </p:sp>
      <p:sp>
        <p:nvSpPr>
          <p:cNvPr id="17" name="Shape 14"/>
          <p:cNvSpPr/>
          <p:nvPr/>
        </p:nvSpPr>
        <p:spPr>
          <a:xfrm>
            <a:off x="868680" y="3785616"/>
            <a:ext cx="402336" cy="402336"/>
          </a:xfrm>
          <a:prstGeom prst="ellipse">
            <a:avLst/>
          </a:prstGeom>
          <a:solidFill>
            <a:srgbClr val="C99474"/>
          </a:solidFill>
          <a:ln w="12700">
            <a:solidFill>
              <a:srgbClr val="C99474"/>
            </a:solidFill>
            <a:prstDash val="solid"/>
          </a:ln>
        </p:spPr>
        <p:txBody>
          <a:bodyPr/>
          <a:lstStyle/>
          <a:p>
            <a:endParaRPr lang="en-US"/>
          </a:p>
        </p:txBody>
      </p:sp>
      <p:sp>
        <p:nvSpPr>
          <p:cNvPr id="18" name="Text 15"/>
          <p:cNvSpPr txBox="1"/>
          <p:nvPr/>
        </p:nvSpPr>
        <p:spPr>
          <a:xfrm>
            <a:off x="868680" y="378561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9" name="Text 16"/>
          <p:cNvSpPr txBox="1"/>
          <p:nvPr/>
        </p:nvSpPr>
        <p:spPr>
          <a:xfrm>
            <a:off x="1417320" y="3739896"/>
            <a:ext cx="4297680" cy="502920"/>
          </a:xfrm>
          <a:prstGeom prst="rect">
            <a:avLst/>
          </a:prstGeom>
          <a:noFill/>
          <a:ln/>
        </p:spPr>
        <p:txBody>
          <a:bodyPr wrap="square" lIns="0" tIns="0" rIns="0" bIns="0" rtlCol="0" anchor="ctr"/>
          <a:lstStyle/>
          <a:p>
            <a:pPr marL="0" indent="0">
              <a:buNone/>
            </a:pPr>
            <a:r>
              <a:rPr lang="en-US" sz="1400" dirty="0">
                <a:solidFill>
                  <a:srgbClr val="2B2124"/>
                </a:solidFill>
                <a:latin typeface="Calibri" pitchFamily="34" charset="0"/>
                <a:ea typeface="Calibri" pitchFamily="34" charset="-122"/>
                <a:cs typeface="Calibri" pitchFamily="34" charset="-120"/>
              </a:rPr>
              <a:t>How are students spread across the surrounding cities?</a:t>
            </a:r>
            <a:endParaRPr lang="en-US" sz="1400" dirty="0"/>
          </a:p>
        </p:txBody>
      </p:sp>
      <p:sp>
        <p:nvSpPr>
          <p:cNvPr id="20" name="Shape 17"/>
          <p:cNvSpPr/>
          <p:nvPr/>
        </p:nvSpPr>
        <p:spPr>
          <a:xfrm>
            <a:off x="868680" y="4535424"/>
            <a:ext cx="402336" cy="402336"/>
          </a:xfrm>
          <a:prstGeom prst="ellipse">
            <a:avLst/>
          </a:prstGeom>
          <a:solidFill>
            <a:srgbClr val="C99474"/>
          </a:solidFill>
          <a:ln w="12700">
            <a:solidFill>
              <a:srgbClr val="C99474"/>
            </a:solidFill>
            <a:prstDash val="solid"/>
          </a:ln>
        </p:spPr>
        <p:txBody>
          <a:bodyPr/>
          <a:lstStyle/>
          <a:p>
            <a:endParaRPr lang="en-US"/>
          </a:p>
        </p:txBody>
      </p:sp>
      <p:sp>
        <p:nvSpPr>
          <p:cNvPr id="21" name="Text 18"/>
          <p:cNvSpPr txBox="1"/>
          <p:nvPr/>
        </p:nvSpPr>
        <p:spPr>
          <a:xfrm>
            <a:off x="868680" y="453542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2" name="Text 19"/>
          <p:cNvSpPr txBox="1"/>
          <p:nvPr/>
        </p:nvSpPr>
        <p:spPr>
          <a:xfrm>
            <a:off x="1417320" y="4489704"/>
            <a:ext cx="4297680" cy="502920"/>
          </a:xfrm>
          <a:prstGeom prst="rect">
            <a:avLst/>
          </a:prstGeom>
          <a:noFill/>
          <a:ln/>
        </p:spPr>
        <p:txBody>
          <a:bodyPr wrap="square" lIns="0" tIns="0" rIns="0" bIns="0" rtlCol="0" anchor="ctr"/>
          <a:lstStyle/>
          <a:p>
            <a:pPr marL="0" indent="0">
              <a:buNone/>
            </a:pPr>
            <a:r>
              <a:rPr lang="en-US" sz="1400" dirty="0">
                <a:solidFill>
                  <a:srgbClr val="2B2124"/>
                </a:solidFill>
                <a:latin typeface="Calibri" pitchFamily="34" charset="0"/>
                <a:ea typeface="Calibri" pitchFamily="34" charset="-122"/>
                <a:cs typeface="Calibri" pitchFamily="34" charset="-120"/>
              </a:rPr>
              <a:t>What is the citizenship mix of the student base?</a:t>
            </a:r>
            <a:endParaRPr lang="en-US" sz="1400" dirty="0"/>
          </a:p>
        </p:txBody>
      </p:sp>
      <p:sp>
        <p:nvSpPr>
          <p:cNvPr id="23" name="Shape 20"/>
          <p:cNvSpPr/>
          <p:nvPr/>
        </p:nvSpPr>
        <p:spPr>
          <a:xfrm>
            <a:off x="868680" y="5285232"/>
            <a:ext cx="402336" cy="402336"/>
          </a:xfrm>
          <a:prstGeom prst="ellipse">
            <a:avLst/>
          </a:prstGeom>
          <a:solidFill>
            <a:srgbClr val="C99474"/>
          </a:solidFill>
          <a:ln w="12700">
            <a:solidFill>
              <a:srgbClr val="C99474"/>
            </a:solidFill>
            <a:prstDash val="solid"/>
          </a:ln>
        </p:spPr>
        <p:txBody>
          <a:bodyPr/>
          <a:lstStyle/>
          <a:p>
            <a:endParaRPr lang="en-US"/>
          </a:p>
        </p:txBody>
      </p:sp>
      <p:sp>
        <p:nvSpPr>
          <p:cNvPr id="24" name="Text 21"/>
          <p:cNvSpPr txBox="1"/>
          <p:nvPr/>
        </p:nvSpPr>
        <p:spPr>
          <a:xfrm>
            <a:off x="868680" y="528523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5" name="Text 22"/>
          <p:cNvSpPr txBox="1"/>
          <p:nvPr/>
        </p:nvSpPr>
        <p:spPr>
          <a:xfrm>
            <a:off x="1417320" y="5239512"/>
            <a:ext cx="4297680" cy="502920"/>
          </a:xfrm>
          <a:prstGeom prst="rect">
            <a:avLst/>
          </a:prstGeom>
          <a:noFill/>
          <a:ln/>
        </p:spPr>
        <p:txBody>
          <a:bodyPr wrap="square" lIns="0" tIns="0" rIns="0" bIns="0" rtlCol="0" anchor="ctr"/>
          <a:lstStyle/>
          <a:p>
            <a:pPr marL="0" indent="0">
              <a:buNone/>
            </a:pPr>
            <a:r>
              <a:rPr lang="en-US" sz="1400" dirty="0">
                <a:solidFill>
                  <a:srgbClr val="2B2124"/>
                </a:solidFill>
                <a:latin typeface="Calibri" pitchFamily="34" charset="0"/>
                <a:ea typeface="Calibri" pitchFamily="34" charset="-122"/>
                <a:cs typeface="Calibri" pitchFamily="34" charset="-120"/>
              </a:rPr>
              <a:t>Which segments make up the school's main student base?</a:t>
            </a:r>
            <a:endParaRPr lang="en-US" sz="1400" dirty="0"/>
          </a:p>
        </p:txBody>
      </p:sp>
      <p:sp>
        <p:nvSpPr>
          <p:cNvPr id="26" name="Shape 23"/>
          <p:cNvSpPr/>
          <p:nvPr/>
        </p:nvSpPr>
        <p:spPr>
          <a:xfrm>
            <a:off x="6583680" y="2286000"/>
            <a:ext cx="402336" cy="402336"/>
          </a:xfrm>
          <a:prstGeom prst="ellipse">
            <a:avLst/>
          </a:prstGeom>
          <a:solidFill>
            <a:srgbClr val="9E4A67"/>
          </a:solidFill>
          <a:ln w="12700">
            <a:solidFill>
              <a:srgbClr val="9E4A67"/>
            </a:solidFill>
            <a:prstDash val="solid"/>
          </a:ln>
        </p:spPr>
        <p:txBody>
          <a:bodyPr/>
          <a:lstStyle/>
          <a:p>
            <a:endParaRPr lang="en-US"/>
          </a:p>
        </p:txBody>
      </p:sp>
      <p:sp>
        <p:nvSpPr>
          <p:cNvPr id="27" name="Text 24"/>
          <p:cNvSpPr txBox="1"/>
          <p:nvPr/>
        </p:nvSpPr>
        <p:spPr>
          <a:xfrm>
            <a:off x="6583680" y="228600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8" name="Text 25"/>
          <p:cNvSpPr txBox="1"/>
          <p:nvPr/>
        </p:nvSpPr>
        <p:spPr>
          <a:xfrm>
            <a:off x="7132320" y="2240280"/>
            <a:ext cx="4297680" cy="502920"/>
          </a:xfrm>
          <a:prstGeom prst="rect">
            <a:avLst/>
          </a:prstGeom>
          <a:noFill/>
          <a:ln/>
        </p:spPr>
        <p:txBody>
          <a:bodyPr wrap="square" lIns="0" tIns="0" rIns="0" bIns="0" rtlCol="0" anchor="ctr"/>
          <a:lstStyle/>
          <a:p>
            <a:pPr marL="0" indent="0">
              <a:buNone/>
            </a:pPr>
            <a:r>
              <a:rPr lang="en-US" sz="1400" dirty="0">
                <a:solidFill>
                  <a:srgbClr val="2B2124"/>
                </a:solidFill>
                <a:latin typeface="Calibri" pitchFamily="34" charset="0"/>
                <a:ea typeface="Calibri" pitchFamily="34" charset="-122"/>
                <a:cs typeface="Calibri" pitchFamily="34" charset="-120"/>
              </a:rPr>
              <a:t>Where could the next students come from?</a:t>
            </a:r>
            <a:endParaRPr lang="en-US" sz="1400" dirty="0"/>
          </a:p>
        </p:txBody>
      </p:sp>
      <p:sp>
        <p:nvSpPr>
          <p:cNvPr id="29" name="Shape 26"/>
          <p:cNvSpPr/>
          <p:nvPr/>
        </p:nvSpPr>
        <p:spPr>
          <a:xfrm>
            <a:off x="6583680" y="3035808"/>
            <a:ext cx="402336" cy="402336"/>
          </a:xfrm>
          <a:prstGeom prst="ellipse">
            <a:avLst/>
          </a:prstGeom>
          <a:solidFill>
            <a:srgbClr val="9E4A67"/>
          </a:solidFill>
          <a:ln w="12700">
            <a:solidFill>
              <a:srgbClr val="9E4A67"/>
            </a:solidFill>
            <a:prstDash val="solid"/>
          </a:ln>
        </p:spPr>
        <p:txBody>
          <a:bodyPr/>
          <a:lstStyle/>
          <a:p>
            <a:endParaRPr lang="en-US"/>
          </a:p>
        </p:txBody>
      </p:sp>
      <p:sp>
        <p:nvSpPr>
          <p:cNvPr id="30" name="Text 27"/>
          <p:cNvSpPr txBox="1"/>
          <p:nvPr/>
        </p:nvSpPr>
        <p:spPr>
          <a:xfrm>
            <a:off x="6583680" y="303580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31" name="Text 28"/>
          <p:cNvSpPr txBox="1"/>
          <p:nvPr/>
        </p:nvSpPr>
        <p:spPr>
          <a:xfrm>
            <a:off x="7132320" y="2990088"/>
            <a:ext cx="4297680" cy="502920"/>
          </a:xfrm>
          <a:prstGeom prst="rect">
            <a:avLst/>
          </a:prstGeom>
          <a:noFill/>
          <a:ln/>
        </p:spPr>
        <p:txBody>
          <a:bodyPr wrap="square" lIns="0" tIns="0" rIns="0" bIns="0" rtlCol="0" anchor="ctr"/>
          <a:lstStyle/>
          <a:p>
            <a:pPr marL="0" indent="0">
              <a:buNone/>
            </a:pPr>
            <a:r>
              <a:rPr lang="en-US" sz="1400" dirty="0">
                <a:solidFill>
                  <a:srgbClr val="2B2124"/>
                </a:solidFill>
                <a:latin typeface="Calibri" pitchFamily="34" charset="0"/>
                <a:ea typeface="Calibri" pitchFamily="34" charset="-122"/>
                <a:cs typeface="Calibri" pitchFamily="34" charset="-120"/>
              </a:rPr>
              <a:t>Which ballet schools nearby compete most directly?</a:t>
            </a:r>
            <a:endParaRPr lang="en-US" sz="1400" dirty="0"/>
          </a:p>
        </p:txBody>
      </p:sp>
      <p:sp>
        <p:nvSpPr>
          <p:cNvPr id="32" name="Shape 29"/>
          <p:cNvSpPr/>
          <p:nvPr/>
        </p:nvSpPr>
        <p:spPr>
          <a:xfrm>
            <a:off x="6583680" y="3785616"/>
            <a:ext cx="402336" cy="402336"/>
          </a:xfrm>
          <a:prstGeom prst="ellipse">
            <a:avLst/>
          </a:prstGeom>
          <a:solidFill>
            <a:srgbClr val="9E4A67"/>
          </a:solidFill>
          <a:ln w="12700">
            <a:solidFill>
              <a:srgbClr val="9E4A67"/>
            </a:solidFill>
            <a:prstDash val="solid"/>
          </a:ln>
        </p:spPr>
        <p:txBody>
          <a:bodyPr/>
          <a:lstStyle/>
          <a:p>
            <a:endParaRPr lang="en-US"/>
          </a:p>
        </p:txBody>
      </p:sp>
      <p:sp>
        <p:nvSpPr>
          <p:cNvPr id="33" name="Text 30"/>
          <p:cNvSpPr txBox="1"/>
          <p:nvPr/>
        </p:nvSpPr>
        <p:spPr>
          <a:xfrm>
            <a:off x="6583680" y="378561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8</a:t>
            </a:r>
            <a:endParaRPr lang="en-US" sz="1300" dirty="0"/>
          </a:p>
        </p:txBody>
      </p:sp>
      <p:sp>
        <p:nvSpPr>
          <p:cNvPr id="34" name="Text 31"/>
          <p:cNvSpPr txBox="1"/>
          <p:nvPr/>
        </p:nvSpPr>
        <p:spPr>
          <a:xfrm>
            <a:off x="7132320" y="3739896"/>
            <a:ext cx="4297680" cy="502920"/>
          </a:xfrm>
          <a:prstGeom prst="rect">
            <a:avLst/>
          </a:prstGeom>
          <a:noFill/>
          <a:ln/>
        </p:spPr>
        <p:txBody>
          <a:bodyPr wrap="square" lIns="0" tIns="0" rIns="0" bIns="0" rtlCol="0" anchor="ctr"/>
          <a:lstStyle/>
          <a:p>
            <a:pPr marL="0" indent="0">
              <a:buNone/>
            </a:pPr>
            <a:r>
              <a:rPr lang="en-US" sz="1400" dirty="0">
                <a:solidFill>
                  <a:srgbClr val="2B2124"/>
                </a:solidFill>
                <a:latin typeface="Calibri" pitchFamily="34" charset="0"/>
                <a:ea typeface="Calibri" pitchFamily="34" charset="-122"/>
                <a:cs typeface="Calibri" pitchFamily="34" charset="-120"/>
              </a:rPr>
              <a:t>How do those competitors market themselves online?</a:t>
            </a:r>
            <a:endParaRPr lang="en-US" sz="1400" dirty="0"/>
          </a:p>
        </p:txBody>
      </p:sp>
      <p:sp>
        <p:nvSpPr>
          <p:cNvPr id="35" name="Shape 32"/>
          <p:cNvSpPr/>
          <p:nvPr/>
        </p:nvSpPr>
        <p:spPr>
          <a:xfrm>
            <a:off x="6583680" y="4535424"/>
            <a:ext cx="402336" cy="402336"/>
          </a:xfrm>
          <a:prstGeom prst="ellipse">
            <a:avLst/>
          </a:prstGeom>
          <a:solidFill>
            <a:srgbClr val="9E4A67"/>
          </a:solidFill>
          <a:ln w="12700">
            <a:solidFill>
              <a:srgbClr val="9E4A67"/>
            </a:solidFill>
            <a:prstDash val="solid"/>
          </a:ln>
        </p:spPr>
        <p:txBody>
          <a:bodyPr/>
          <a:lstStyle/>
          <a:p>
            <a:endParaRPr lang="en-US"/>
          </a:p>
        </p:txBody>
      </p:sp>
      <p:sp>
        <p:nvSpPr>
          <p:cNvPr id="36" name="Text 33"/>
          <p:cNvSpPr txBox="1"/>
          <p:nvPr/>
        </p:nvSpPr>
        <p:spPr>
          <a:xfrm>
            <a:off x="6583680" y="453542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9</a:t>
            </a:r>
            <a:endParaRPr lang="en-US" sz="1300" dirty="0"/>
          </a:p>
        </p:txBody>
      </p:sp>
      <p:sp>
        <p:nvSpPr>
          <p:cNvPr id="37" name="Text 34"/>
          <p:cNvSpPr txBox="1"/>
          <p:nvPr/>
        </p:nvSpPr>
        <p:spPr>
          <a:xfrm>
            <a:off x="7132320" y="4489704"/>
            <a:ext cx="4297680" cy="502920"/>
          </a:xfrm>
          <a:prstGeom prst="rect">
            <a:avLst/>
          </a:prstGeom>
          <a:noFill/>
          <a:ln/>
        </p:spPr>
        <p:txBody>
          <a:bodyPr wrap="square" lIns="0" tIns="0" rIns="0" bIns="0" rtlCol="0" anchor="ctr"/>
          <a:lstStyle/>
          <a:p>
            <a:pPr marL="0" indent="0">
              <a:buNone/>
            </a:pPr>
            <a:r>
              <a:rPr lang="en-US" sz="1400" dirty="0">
                <a:solidFill>
                  <a:srgbClr val="2B2124"/>
                </a:solidFill>
                <a:latin typeface="Calibri" pitchFamily="34" charset="0"/>
                <a:ea typeface="Calibri" pitchFamily="34" charset="-122"/>
                <a:cs typeface="Calibri" pitchFamily="34" charset="-120"/>
              </a:rPr>
              <a:t>Where are competitors listed, and where could Ballotté be seen?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100" b="1" kern="0" spc="400" dirty="0">
                <a:solidFill>
                  <a:srgbClr val="9C6445"/>
                </a:solidFill>
                <a:latin typeface="Calibri" pitchFamily="34" charset="0"/>
                <a:ea typeface="Calibri" pitchFamily="34" charset="-122"/>
                <a:cs typeface="Calibri" pitchFamily="34" charset="-120"/>
              </a:rPr>
              <a:t>01  OUR STUDENTS</a:t>
            </a:r>
            <a:endParaRPr lang="en-US" sz="1100" dirty="0"/>
          </a:p>
        </p:txBody>
      </p:sp>
      <p:sp>
        <p:nvSpPr>
          <p:cNvPr id="3" name="Text 1"/>
          <p:cNvSpPr txBox="1"/>
          <p:nvPr/>
        </p:nvSpPr>
        <p:spPr>
          <a:xfrm>
            <a:off x="548640" y="621792"/>
            <a:ext cx="10241280" cy="658368"/>
          </a:xfrm>
          <a:prstGeom prst="rect">
            <a:avLst/>
          </a:prstGeom>
          <a:noFill/>
          <a:ln/>
        </p:spPr>
        <p:txBody>
          <a:bodyPr wrap="square" lIns="0" tIns="0" rIns="0" bIns="0" rtlCol="0" anchor="ctr"/>
          <a:lstStyle/>
          <a:p>
            <a:pPr marL="0" indent="0">
              <a:buNone/>
            </a:pPr>
            <a:r>
              <a:rPr lang="en-US" sz="3000" b="1" dirty="0">
                <a:solidFill>
                  <a:srgbClr val="2E1F27"/>
                </a:solidFill>
                <a:latin typeface="Cambria" pitchFamily="34" charset="0"/>
                <a:ea typeface="Cambria" pitchFamily="34" charset="-122"/>
                <a:cs typeface="Cambria" pitchFamily="34" charset="-120"/>
              </a:rPr>
              <a:t>The student dashboard</a:t>
            </a:r>
            <a:endParaRPr lang="en-US" sz="3000" dirty="0"/>
          </a:p>
        </p:txBody>
      </p:sp>
      <p:pic>
        <p:nvPicPr>
          <p:cNvPr id="4" name="Image 0" descr="/home/claude/deck/img/dancer_rose.png"/>
          <p:cNvPicPr>
            <a:picLocks noChangeAspect="1"/>
          </p:cNvPicPr>
          <p:nvPr/>
        </p:nvPicPr>
        <p:blipFill>
          <a:blip r:embed="rId3"/>
          <a:stretch>
            <a:fillRect/>
          </a:stretch>
        </p:blipFill>
        <p:spPr>
          <a:xfrm>
            <a:off x="11076127" y="292384"/>
            <a:ext cx="566928" cy="677105"/>
          </a:xfrm>
          <a:prstGeom prst="rect">
            <a:avLst/>
          </a:prstGeom>
        </p:spPr>
      </p:pic>
      <p:sp>
        <p:nvSpPr>
          <p:cNvPr id="5" name="Text 2"/>
          <p:cNvSpPr txBox="1"/>
          <p:nvPr/>
        </p:nvSpPr>
        <p:spPr>
          <a:xfrm>
            <a:off x="548640" y="6473952"/>
            <a:ext cx="4572000" cy="228600"/>
          </a:xfrm>
          <a:prstGeom prst="rect">
            <a:avLst/>
          </a:prstGeom>
          <a:noFill/>
          <a:ln/>
        </p:spPr>
        <p:txBody>
          <a:bodyPr wrap="square" lIns="0" tIns="0" rIns="0" bIns="0" rtlCol="0" anchor="ctr"/>
          <a:lstStyle/>
          <a:p>
            <a:pPr marL="0" indent="0">
              <a:buNone/>
            </a:pPr>
            <a:r>
              <a:rPr lang="en-US" sz="900" dirty="0">
                <a:solidFill>
                  <a:srgbClr val="6E6064"/>
                </a:solidFill>
                <a:latin typeface="Calibri" pitchFamily="34" charset="0"/>
                <a:ea typeface="Calibri" pitchFamily="34" charset="-122"/>
                <a:cs typeface="Calibri" pitchFamily="34" charset="-120"/>
              </a:rPr>
              <a:t>Ballotté Dance Academy #Puchong</a:t>
            </a:r>
            <a:endParaRPr lang="en-US" sz="900" dirty="0"/>
          </a:p>
        </p:txBody>
      </p:sp>
      <p:sp>
        <p:nvSpPr>
          <p:cNvPr id="6" name="Text 3"/>
          <p:cNvSpPr txBox="1"/>
          <p:nvPr/>
        </p:nvSpPr>
        <p:spPr>
          <a:xfrm>
            <a:off x="11185855" y="6473952"/>
            <a:ext cx="457200" cy="228600"/>
          </a:xfrm>
          <a:prstGeom prst="rect">
            <a:avLst/>
          </a:prstGeom>
          <a:noFill/>
          <a:ln/>
        </p:spPr>
        <p:txBody>
          <a:bodyPr wrap="square" lIns="0" tIns="0" rIns="0" bIns="0" rtlCol="0" anchor="ctr"/>
          <a:lstStyle/>
          <a:p>
            <a:pPr marL="0" indent="0" algn="r">
              <a:buNone/>
            </a:pPr>
            <a:r>
              <a:rPr lang="en-US" sz="900" dirty="0">
                <a:solidFill>
                  <a:srgbClr val="6E6064"/>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2626654" y="1463040"/>
            <a:ext cx="6938387" cy="4443984"/>
          </a:xfrm>
          <a:prstGeom prst="roundRect">
            <a:avLst>
              <a:gd name="adj" fmla="val 2058"/>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pic>
        <p:nvPicPr>
          <p:cNvPr id="8" name="Image 1" descr="/home/claude/deck/img/dashboard.png"/>
          <p:cNvPicPr>
            <a:picLocks noChangeAspect="1"/>
          </p:cNvPicPr>
          <p:nvPr/>
        </p:nvPicPr>
        <p:blipFill>
          <a:blip r:embed="rId4"/>
          <a:stretch>
            <a:fillRect/>
          </a:stretch>
        </p:blipFill>
        <p:spPr>
          <a:xfrm>
            <a:off x="2736382" y="1572768"/>
            <a:ext cx="6718931" cy="4224528"/>
          </a:xfrm>
          <a:prstGeom prst="rect">
            <a:avLst/>
          </a:prstGeom>
        </p:spPr>
      </p:pic>
      <p:sp>
        <p:nvSpPr>
          <p:cNvPr id="9" name="Text 5"/>
          <p:cNvSpPr txBox="1"/>
          <p:nvPr/>
        </p:nvSpPr>
        <p:spPr>
          <a:xfrm>
            <a:off x="548640" y="6053328"/>
            <a:ext cx="11094415" cy="274320"/>
          </a:xfrm>
          <a:prstGeom prst="rect">
            <a:avLst/>
          </a:prstGeom>
          <a:noFill/>
          <a:ln/>
        </p:spPr>
        <p:txBody>
          <a:bodyPr wrap="square" lIns="0" tIns="0" rIns="0" bIns="0" rtlCol="0" anchor="ctr"/>
          <a:lstStyle/>
          <a:p>
            <a:pPr marL="0" indent="0" algn="ctr">
              <a:buNone/>
            </a:pPr>
            <a:r>
              <a:rPr lang="en-US" sz="1050" i="1" dirty="0">
                <a:solidFill>
                  <a:srgbClr val="6E6064"/>
                </a:solidFill>
                <a:latin typeface="Calibri" pitchFamily="34" charset="0"/>
                <a:ea typeface="Calibri" pitchFamily="34" charset="-122"/>
                <a:cs typeface="Calibri" pitchFamily="34" charset="-120"/>
              </a:rPr>
              <a:t>Source: Ballotté student records, 99 students, updated 4 September 2026</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100" b="1" kern="0" spc="400" dirty="0">
                <a:solidFill>
                  <a:srgbClr val="9C6445"/>
                </a:solidFill>
                <a:latin typeface="Calibri" pitchFamily="34" charset="0"/>
                <a:ea typeface="Calibri" pitchFamily="34" charset="-122"/>
                <a:cs typeface="Calibri" pitchFamily="34" charset="-120"/>
              </a:rPr>
              <a:t>01  OUR STUDENTS</a:t>
            </a:r>
            <a:endParaRPr lang="en-US" sz="1100" dirty="0"/>
          </a:p>
        </p:txBody>
      </p:sp>
      <p:sp>
        <p:nvSpPr>
          <p:cNvPr id="3" name="Text 1"/>
          <p:cNvSpPr txBox="1"/>
          <p:nvPr/>
        </p:nvSpPr>
        <p:spPr>
          <a:xfrm>
            <a:off x="548640" y="621792"/>
            <a:ext cx="10241280" cy="658368"/>
          </a:xfrm>
          <a:prstGeom prst="rect">
            <a:avLst/>
          </a:prstGeom>
          <a:noFill/>
          <a:ln/>
        </p:spPr>
        <p:txBody>
          <a:bodyPr wrap="square" lIns="0" tIns="0" rIns="0" bIns="0" rtlCol="0" anchor="ctr"/>
          <a:lstStyle/>
          <a:p>
            <a:pPr marL="0" indent="0">
              <a:buNone/>
            </a:pPr>
            <a:r>
              <a:rPr lang="en-US" sz="3000" b="1" dirty="0">
                <a:solidFill>
                  <a:srgbClr val="2E1F27"/>
                </a:solidFill>
                <a:latin typeface="Cambria" pitchFamily="34" charset="0"/>
                <a:ea typeface="Cambria" pitchFamily="34" charset="-122"/>
                <a:cs typeface="Cambria" pitchFamily="34" charset="-120"/>
              </a:rPr>
              <a:t>What the dashboard tells us</a:t>
            </a:r>
            <a:endParaRPr lang="en-US" sz="3000" dirty="0"/>
          </a:p>
        </p:txBody>
      </p:sp>
      <p:pic>
        <p:nvPicPr>
          <p:cNvPr id="4" name="Image 0" descr="/home/claude/deck/img/dancer_rose.png"/>
          <p:cNvPicPr>
            <a:picLocks noChangeAspect="1"/>
          </p:cNvPicPr>
          <p:nvPr/>
        </p:nvPicPr>
        <p:blipFill>
          <a:blip r:embed="rId3"/>
          <a:stretch>
            <a:fillRect/>
          </a:stretch>
        </p:blipFill>
        <p:spPr>
          <a:xfrm>
            <a:off x="11076127" y="292384"/>
            <a:ext cx="566928" cy="677105"/>
          </a:xfrm>
          <a:prstGeom prst="rect">
            <a:avLst/>
          </a:prstGeom>
        </p:spPr>
      </p:pic>
      <p:sp>
        <p:nvSpPr>
          <p:cNvPr id="5" name="Text 2"/>
          <p:cNvSpPr txBox="1"/>
          <p:nvPr/>
        </p:nvSpPr>
        <p:spPr>
          <a:xfrm>
            <a:off x="548640" y="6473952"/>
            <a:ext cx="4572000" cy="228600"/>
          </a:xfrm>
          <a:prstGeom prst="rect">
            <a:avLst/>
          </a:prstGeom>
          <a:noFill/>
          <a:ln/>
        </p:spPr>
        <p:txBody>
          <a:bodyPr wrap="square" lIns="0" tIns="0" rIns="0" bIns="0" rtlCol="0" anchor="ctr"/>
          <a:lstStyle/>
          <a:p>
            <a:pPr marL="0" indent="0">
              <a:buNone/>
            </a:pPr>
            <a:r>
              <a:rPr lang="en-US" sz="900" dirty="0">
                <a:solidFill>
                  <a:srgbClr val="6E6064"/>
                </a:solidFill>
                <a:latin typeface="Calibri" pitchFamily="34" charset="0"/>
                <a:ea typeface="Calibri" pitchFamily="34" charset="-122"/>
                <a:cs typeface="Calibri" pitchFamily="34" charset="-120"/>
              </a:rPr>
              <a:t>Ballotté Dance Academy #Puchong</a:t>
            </a:r>
            <a:endParaRPr lang="en-US" sz="900" dirty="0"/>
          </a:p>
        </p:txBody>
      </p:sp>
      <p:sp>
        <p:nvSpPr>
          <p:cNvPr id="6" name="Text 3"/>
          <p:cNvSpPr txBox="1"/>
          <p:nvPr/>
        </p:nvSpPr>
        <p:spPr>
          <a:xfrm>
            <a:off x="11185855" y="6473952"/>
            <a:ext cx="457200" cy="228600"/>
          </a:xfrm>
          <a:prstGeom prst="rect">
            <a:avLst/>
          </a:prstGeom>
          <a:noFill/>
          <a:ln/>
        </p:spPr>
        <p:txBody>
          <a:bodyPr wrap="square" lIns="0" tIns="0" rIns="0" bIns="0" rtlCol="0" anchor="ctr"/>
          <a:lstStyle/>
          <a:p>
            <a:pPr marL="0" indent="0" algn="r">
              <a:buNone/>
            </a:pPr>
            <a:r>
              <a:rPr lang="en-US" sz="900" dirty="0">
                <a:solidFill>
                  <a:srgbClr val="6E6064"/>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548640" y="1508760"/>
            <a:ext cx="2567864" cy="1417320"/>
          </a:xfrm>
          <a:prstGeom prst="roundRect">
            <a:avLst>
              <a:gd name="adj" fmla="val 6452"/>
            </a:avLst>
          </a:prstGeom>
          <a:solidFill>
            <a:srgbClr val="F8EEEA"/>
          </a:solidFill>
          <a:ln w="9525">
            <a:solidFill>
              <a:srgbClr val="E6D3CB"/>
            </a:solidFill>
            <a:prstDash val="solid"/>
          </a:ln>
        </p:spPr>
        <p:txBody>
          <a:bodyPr/>
          <a:lstStyle/>
          <a:p>
            <a:endParaRPr lang="en-US"/>
          </a:p>
        </p:txBody>
      </p:sp>
      <p:sp>
        <p:nvSpPr>
          <p:cNvPr id="8" name="Text 5"/>
          <p:cNvSpPr txBox="1"/>
          <p:nvPr/>
        </p:nvSpPr>
        <p:spPr>
          <a:xfrm>
            <a:off x="822960" y="1600200"/>
            <a:ext cx="2019224" cy="777240"/>
          </a:xfrm>
          <a:prstGeom prst="rect">
            <a:avLst/>
          </a:prstGeom>
          <a:noFill/>
          <a:ln/>
        </p:spPr>
        <p:txBody>
          <a:bodyPr wrap="square" lIns="0" tIns="0" rIns="0" bIns="0" rtlCol="0" anchor="b"/>
          <a:lstStyle/>
          <a:p>
            <a:pPr marL="0" indent="0">
              <a:buNone/>
            </a:pPr>
            <a:r>
              <a:rPr lang="en-US" sz="4200" b="1" dirty="0">
                <a:solidFill>
                  <a:srgbClr val="2E1F27"/>
                </a:solidFill>
                <a:latin typeface="Cambria" pitchFamily="34" charset="0"/>
                <a:ea typeface="Cambria" pitchFamily="34" charset="-122"/>
                <a:cs typeface="Cambria" pitchFamily="34" charset="-120"/>
              </a:rPr>
              <a:t>99</a:t>
            </a:r>
            <a:endParaRPr lang="en-US" sz="4200" dirty="0"/>
          </a:p>
        </p:txBody>
      </p:sp>
      <p:sp>
        <p:nvSpPr>
          <p:cNvPr id="9" name="Text 6"/>
          <p:cNvSpPr txBox="1"/>
          <p:nvPr/>
        </p:nvSpPr>
        <p:spPr>
          <a:xfrm>
            <a:off x="822960" y="2395728"/>
            <a:ext cx="2019224" cy="365760"/>
          </a:xfrm>
          <a:prstGeom prst="rect">
            <a:avLst/>
          </a:prstGeom>
          <a:noFill/>
          <a:ln/>
        </p:spPr>
        <p:txBody>
          <a:bodyPr wrap="square" lIns="0" tIns="0" rIns="0" bIns="0" rtlCol="0" anchor="ctr"/>
          <a:lstStyle/>
          <a:p>
            <a:pPr marL="0" indent="0">
              <a:buNone/>
            </a:pPr>
            <a:r>
              <a:rPr lang="en-US" sz="1300" dirty="0">
                <a:solidFill>
                  <a:srgbClr val="6E6064"/>
                </a:solidFill>
                <a:latin typeface="Calibri" pitchFamily="34" charset="0"/>
                <a:ea typeface="Calibri" pitchFamily="34" charset="-122"/>
                <a:cs typeface="Calibri" pitchFamily="34" charset="-120"/>
              </a:rPr>
              <a:t>students</a:t>
            </a:r>
            <a:endParaRPr lang="en-US" sz="1300" dirty="0"/>
          </a:p>
        </p:txBody>
      </p:sp>
      <p:sp>
        <p:nvSpPr>
          <p:cNvPr id="10" name="Shape 7"/>
          <p:cNvSpPr/>
          <p:nvPr/>
        </p:nvSpPr>
        <p:spPr>
          <a:xfrm>
            <a:off x="3390824" y="1508760"/>
            <a:ext cx="2567864" cy="1417320"/>
          </a:xfrm>
          <a:prstGeom prst="roundRect">
            <a:avLst>
              <a:gd name="adj" fmla="val 6452"/>
            </a:avLst>
          </a:prstGeom>
          <a:solidFill>
            <a:srgbClr val="F8EEEA"/>
          </a:solidFill>
          <a:ln w="9525">
            <a:solidFill>
              <a:srgbClr val="E6D3CB"/>
            </a:solidFill>
            <a:prstDash val="solid"/>
          </a:ln>
        </p:spPr>
        <p:txBody>
          <a:bodyPr/>
          <a:lstStyle/>
          <a:p>
            <a:endParaRPr lang="en-US"/>
          </a:p>
        </p:txBody>
      </p:sp>
      <p:sp>
        <p:nvSpPr>
          <p:cNvPr id="11" name="Text 8"/>
          <p:cNvSpPr txBox="1"/>
          <p:nvPr/>
        </p:nvSpPr>
        <p:spPr>
          <a:xfrm>
            <a:off x="3665144" y="1600200"/>
            <a:ext cx="2019224" cy="777240"/>
          </a:xfrm>
          <a:prstGeom prst="rect">
            <a:avLst/>
          </a:prstGeom>
          <a:noFill/>
          <a:ln/>
        </p:spPr>
        <p:txBody>
          <a:bodyPr wrap="square" lIns="0" tIns="0" rIns="0" bIns="0" rtlCol="0" anchor="b"/>
          <a:lstStyle/>
          <a:p>
            <a:pPr marL="0" indent="0">
              <a:buNone/>
            </a:pPr>
            <a:r>
              <a:rPr lang="en-US" sz="4200" b="1" dirty="0">
                <a:solidFill>
                  <a:srgbClr val="2E1F27"/>
                </a:solidFill>
                <a:latin typeface="Cambria" pitchFamily="34" charset="0"/>
                <a:ea typeface="Cambria" pitchFamily="34" charset="-122"/>
                <a:cs typeface="Cambria" pitchFamily="34" charset="-120"/>
              </a:rPr>
              <a:t>7.6</a:t>
            </a:r>
            <a:endParaRPr lang="en-US" sz="4200" dirty="0"/>
          </a:p>
        </p:txBody>
      </p:sp>
      <p:sp>
        <p:nvSpPr>
          <p:cNvPr id="12" name="Text 9"/>
          <p:cNvSpPr txBox="1"/>
          <p:nvPr/>
        </p:nvSpPr>
        <p:spPr>
          <a:xfrm>
            <a:off x="3665144" y="2395728"/>
            <a:ext cx="2019224" cy="365760"/>
          </a:xfrm>
          <a:prstGeom prst="rect">
            <a:avLst/>
          </a:prstGeom>
          <a:noFill/>
          <a:ln/>
        </p:spPr>
        <p:txBody>
          <a:bodyPr wrap="square" lIns="0" tIns="0" rIns="0" bIns="0" rtlCol="0" anchor="ctr"/>
          <a:lstStyle/>
          <a:p>
            <a:pPr marL="0" indent="0">
              <a:buNone/>
            </a:pPr>
            <a:r>
              <a:rPr lang="en-US" sz="1300" dirty="0">
                <a:solidFill>
                  <a:srgbClr val="6E6064"/>
                </a:solidFill>
                <a:latin typeface="Calibri" pitchFamily="34" charset="0"/>
                <a:ea typeface="Calibri" pitchFamily="34" charset="-122"/>
                <a:cs typeface="Calibri" pitchFamily="34" charset="-120"/>
              </a:rPr>
              <a:t>average age</a:t>
            </a:r>
            <a:endParaRPr lang="en-US" sz="1300" dirty="0"/>
          </a:p>
        </p:txBody>
      </p:sp>
      <p:sp>
        <p:nvSpPr>
          <p:cNvPr id="13" name="Shape 10"/>
          <p:cNvSpPr/>
          <p:nvPr/>
        </p:nvSpPr>
        <p:spPr>
          <a:xfrm>
            <a:off x="6233008" y="1508760"/>
            <a:ext cx="2567864" cy="1417320"/>
          </a:xfrm>
          <a:prstGeom prst="roundRect">
            <a:avLst>
              <a:gd name="adj" fmla="val 6452"/>
            </a:avLst>
          </a:prstGeom>
          <a:solidFill>
            <a:srgbClr val="F8EEEA"/>
          </a:solidFill>
          <a:ln w="9525">
            <a:solidFill>
              <a:srgbClr val="E6D3CB"/>
            </a:solidFill>
            <a:prstDash val="solid"/>
          </a:ln>
        </p:spPr>
        <p:txBody>
          <a:bodyPr/>
          <a:lstStyle/>
          <a:p>
            <a:endParaRPr lang="en-US"/>
          </a:p>
        </p:txBody>
      </p:sp>
      <p:sp>
        <p:nvSpPr>
          <p:cNvPr id="14" name="Text 11"/>
          <p:cNvSpPr txBox="1"/>
          <p:nvPr/>
        </p:nvSpPr>
        <p:spPr>
          <a:xfrm>
            <a:off x="6507328" y="1600200"/>
            <a:ext cx="2019224" cy="777240"/>
          </a:xfrm>
          <a:prstGeom prst="rect">
            <a:avLst/>
          </a:prstGeom>
          <a:noFill/>
          <a:ln/>
        </p:spPr>
        <p:txBody>
          <a:bodyPr wrap="square" lIns="0" tIns="0" rIns="0" bIns="0" rtlCol="0" anchor="b"/>
          <a:lstStyle/>
          <a:p>
            <a:pPr marL="0" indent="0">
              <a:buNone/>
            </a:pPr>
            <a:r>
              <a:rPr lang="en-US" sz="4200" b="1" dirty="0">
                <a:solidFill>
                  <a:srgbClr val="2E1F27"/>
                </a:solidFill>
                <a:latin typeface="Cambria" pitchFamily="34" charset="0"/>
                <a:ea typeface="Cambria" pitchFamily="34" charset="-122"/>
                <a:cs typeface="Cambria" pitchFamily="34" charset="-120"/>
              </a:rPr>
              <a:t>28</a:t>
            </a:r>
            <a:endParaRPr lang="en-US" sz="4200" dirty="0"/>
          </a:p>
        </p:txBody>
      </p:sp>
      <p:sp>
        <p:nvSpPr>
          <p:cNvPr id="15" name="Text 12"/>
          <p:cNvSpPr txBox="1"/>
          <p:nvPr/>
        </p:nvSpPr>
        <p:spPr>
          <a:xfrm>
            <a:off x="6507328" y="2395728"/>
            <a:ext cx="2019224" cy="365760"/>
          </a:xfrm>
          <a:prstGeom prst="rect">
            <a:avLst/>
          </a:prstGeom>
          <a:noFill/>
          <a:ln/>
        </p:spPr>
        <p:txBody>
          <a:bodyPr wrap="square" lIns="0" tIns="0" rIns="0" bIns="0" rtlCol="0" anchor="ctr"/>
          <a:lstStyle/>
          <a:p>
            <a:pPr marL="0" indent="0">
              <a:buNone/>
            </a:pPr>
            <a:r>
              <a:rPr lang="en-US" sz="1300" dirty="0">
                <a:solidFill>
                  <a:srgbClr val="6E6064"/>
                </a:solidFill>
                <a:latin typeface="Calibri" pitchFamily="34" charset="0"/>
                <a:ea typeface="Calibri" pitchFamily="34" charset="-122"/>
                <a:cs typeface="Calibri" pitchFamily="34" charset="-120"/>
              </a:rPr>
              <a:t>areas / townships</a:t>
            </a:r>
            <a:endParaRPr lang="en-US" sz="1300" dirty="0"/>
          </a:p>
        </p:txBody>
      </p:sp>
      <p:sp>
        <p:nvSpPr>
          <p:cNvPr id="16" name="Shape 13"/>
          <p:cNvSpPr/>
          <p:nvPr/>
        </p:nvSpPr>
        <p:spPr>
          <a:xfrm>
            <a:off x="9075191" y="1508760"/>
            <a:ext cx="2567864" cy="1417320"/>
          </a:xfrm>
          <a:prstGeom prst="roundRect">
            <a:avLst>
              <a:gd name="adj" fmla="val 6452"/>
            </a:avLst>
          </a:prstGeom>
          <a:solidFill>
            <a:srgbClr val="F8EEEA"/>
          </a:solidFill>
          <a:ln w="9525">
            <a:solidFill>
              <a:srgbClr val="E6D3CB"/>
            </a:solidFill>
            <a:prstDash val="solid"/>
          </a:ln>
        </p:spPr>
        <p:txBody>
          <a:bodyPr/>
          <a:lstStyle/>
          <a:p>
            <a:endParaRPr lang="en-US"/>
          </a:p>
        </p:txBody>
      </p:sp>
      <p:sp>
        <p:nvSpPr>
          <p:cNvPr id="17" name="Text 14"/>
          <p:cNvSpPr txBox="1"/>
          <p:nvPr/>
        </p:nvSpPr>
        <p:spPr>
          <a:xfrm>
            <a:off x="9349511" y="1600200"/>
            <a:ext cx="2019224" cy="777240"/>
          </a:xfrm>
          <a:prstGeom prst="rect">
            <a:avLst/>
          </a:prstGeom>
          <a:noFill/>
          <a:ln/>
        </p:spPr>
        <p:txBody>
          <a:bodyPr wrap="square" lIns="0" tIns="0" rIns="0" bIns="0" rtlCol="0" anchor="b"/>
          <a:lstStyle/>
          <a:p>
            <a:pPr marL="0" indent="0">
              <a:buNone/>
            </a:pPr>
            <a:r>
              <a:rPr lang="en-US" sz="4200" b="1" dirty="0">
                <a:solidFill>
                  <a:srgbClr val="9E4A67"/>
                </a:solidFill>
                <a:latin typeface="Cambria" pitchFamily="34" charset="0"/>
                <a:ea typeface="Cambria" pitchFamily="34" charset="-122"/>
                <a:cs typeface="Cambria" pitchFamily="34" charset="-120"/>
              </a:rPr>
              <a:t>76%</a:t>
            </a:r>
            <a:endParaRPr lang="en-US" sz="4200" dirty="0"/>
          </a:p>
        </p:txBody>
      </p:sp>
      <p:sp>
        <p:nvSpPr>
          <p:cNvPr id="18" name="Text 15"/>
          <p:cNvSpPr txBox="1"/>
          <p:nvPr/>
        </p:nvSpPr>
        <p:spPr>
          <a:xfrm>
            <a:off x="9349511" y="2395728"/>
            <a:ext cx="2019224" cy="365760"/>
          </a:xfrm>
          <a:prstGeom prst="rect">
            <a:avLst/>
          </a:prstGeom>
          <a:noFill/>
          <a:ln/>
        </p:spPr>
        <p:txBody>
          <a:bodyPr wrap="square" lIns="0" tIns="0" rIns="0" bIns="0" rtlCol="0" anchor="ctr"/>
          <a:lstStyle/>
          <a:p>
            <a:pPr marL="0" indent="0">
              <a:buNone/>
            </a:pPr>
            <a:r>
              <a:rPr lang="en-US" sz="1300" dirty="0">
                <a:solidFill>
                  <a:srgbClr val="6E6064"/>
                </a:solidFill>
                <a:latin typeface="Calibri" pitchFamily="34" charset="0"/>
                <a:ea typeface="Calibri" pitchFamily="34" charset="-122"/>
                <a:cs typeface="Calibri" pitchFamily="34" charset="-120"/>
              </a:rPr>
              <a:t>aged 4 to 9</a:t>
            </a:r>
            <a:endParaRPr lang="en-US" sz="1300" dirty="0"/>
          </a:p>
        </p:txBody>
      </p:sp>
      <p:sp>
        <p:nvSpPr>
          <p:cNvPr id="19" name="Shape 16"/>
          <p:cNvSpPr/>
          <p:nvPr/>
        </p:nvSpPr>
        <p:spPr>
          <a:xfrm>
            <a:off x="548640" y="3410712"/>
            <a:ext cx="347472" cy="347472"/>
          </a:xfrm>
          <a:prstGeom prst="ellipse">
            <a:avLst/>
          </a:prstGeom>
          <a:solidFill>
            <a:srgbClr val="C99474"/>
          </a:solidFill>
          <a:ln w="12700">
            <a:solidFill>
              <a:srgbClr val="C99474"/>
            </a:solidFill>
            <a:prstDash val="solid"/>
          </a:ln>
        </p:spPr>
        <p:txBody>
          <a:bodyPr/>
          <a:lstStyle/>
          <a:p>
            <a:endParaRPr lang="en-US"/>
          </a:p>
        </p:txBody>
      </p:sp>
      <p:sp>
        <p:nvSpPr>
          <p:cNvPr id="20" name="Text 17"/>
          <p:cNvSpPr txBox="1"/>
          <p:nvPr/>
        </p:nvSpPr>
        <p:spPr>
          <a:xfrm>
            <a:off x="548640" y="341071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21" name="Text 18"/>
          <p:cNvSpPr txBox="1"/>
          <p:nvPr/>
        </p:nvSpPr>
        <p:spPr>
          <a:xfrm>
            <a:off x="1051560" y="3383280"/>
            <a:ext cx="4892040" cy="1005840"/>
          </a:xfrm>
          <a:prstGeom prst="rect">
            <a:avLst/>
          </a:prstGeom>
          <a:noFill/>
          <a:ln/>
        </p:spPr>
        <p:txBody>
          <a:bodyPr wrap="square" lIns="0" tIns="0" rIns="0" bIns="0" rtlCol="0" anchor="t"/>
          <a:lstStyle/>
          <a:p>
            <a:pPr marL="0" indent="0">
              <a:spcAft>
                <a:spcPts val="200"/>
              </a:spcAft>
              <a:buNone/>
            </a:pPr>
            <a:r>
              <a:rPr lang="en-US" sz="1400" b="1" dirty="0">
                <a:solidFill>
                  <a:srgbClr val="2E1F27"/>
                </a:solidFill>
                <a:latin typeface="Calibri" pitchFamily="34" charset="0"/>
                <a:ea typeface="Calibri" pitchFamily="34" charset="-122"/>
                <a:cs typeface="Calibri" pitchFamily="34" charset="-120"/>
              </a:rPr>
              <a:t>Young learners lead.  </a:t>
            </a:r>
            <a:r>
              <a:rPr lang="en-US" sz="1400" dirty="0">
                <a:solidFill>
                  <a:srgbClr val="2B2124"/>
                </a:solidFill>
                <a:latin typeface="Calibri" pitchFamily="34" charset="0"/>
                <a:ea typeface="Calibri" pitchFamily="34" charset="-122"/>
                <a:cs typeface="Calibri" pitchFamily="34" charset="-120"/>
              </a:rPr>
              <a:t>53 students (54%) are aged 4–6 and 22 are aged 7–9. There are only 5 adults and 2 teenagers.</a:t>
            </a:r>
            <a:endParaRPr lang="en-US" sz="1400" dirty="0"/>
          </a:p>
        </p:txBody>
      </p:sp>
      <p:sp>
        <p:nvSpPr>
          <p:cNvPr id="22" name="Shape 19"/>
          <p:cNvSpPr/>
          <p:nvPr/>
        </p:nvSpPr>
        <p:spPr>
          <a:xfrm>
            <a:off x="6217920" y="3410712"/>
            <a:ext cx="347472" cy="347472"/>
          </a:xfrm>
          <a:prstGeom prst="ellipse">
            <a:avLst/>
          </a:prstGeom>
          <a:solidFill>
            <a:srgbClr val="C99474"/>
          </a:solidFill>
          <a:ln w="12700">
            <a:solidFill>
              <a:srgbClr val="C99474"/>
            </a:solidFill>
            <a:prstDash val="solid"/>
          </a:ln>
        </p:spPr>
        <p:txBody>
          <a:bodyPr/>
          <a:lstStyle/>
          <a:p>
            <a:endParaRPr lang="en-US"/>
          </a:p>
        </p:txBody>
      </p:sp>
      <p:sp>
        <p:nvSpPr>
          <p:cNvPr id="23" name="Text 20"/>
          <p:cNvSpPr txBox="1"/>
          <p:nvPr/>
        </p:nvSpPr>
        <p:spPr>
          <a:xfrm>
            <a:off x="6217920" y="341071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4" name="Text 21"/>
          <p:cNvSpPr txBox="1"/>
          <p:nvPr/>
        </p:nvSpPr>
        <p:spPr>
          <a:xfrm>
            <a:off x="6720840" y="3383280"/>
            <a:ext cx="4892040" cy="1005840"/>
          </a:xfrm>
          <a:prstGeom prst="rect">
            <a:avLst/>
          </a:prstGeom>
          <a:noFill/>
          <a:ln/>
        </p:spPr>
        <p:txBody>
          <a:bodyPr wrap="square" lIns="0" tIns="0" rIns="0" bIns="0" rtlCol="0" anchor="t"/>
          <a:lstStyle/>
          <a:p>
            <a:pPr marL="0" indent="0">
              <a:spcAft>
                <a:spcPts val="200"/>
              </a:spcAft>
              <a:buNone/>
            </a:pPr>
            <a:r>
              <a:rPr lang="en-US" sz="1400" b="1" dirty="0">
                <a:solidFill>
                  <a:srgbClr val="2E1F27"/>
                </a:solidFill>
                <a:latin typeface="Calibri" pitchFamily="34" charset="0"/>
                <a:ea typeface="Calibri" pitchFamily="34" charset="-122"/>
                <a:cs typeface="Calibri" pitchFamily="34" charset="-120"/>
              </a:rPr>
              <a:t>Two home bases.  </a:t>
            </a:r>
            <a:r>
              <a:rPr lang="en-US" sz="1400" dirty="0">
                <a:solidFill>
                  <a:srgbClr val="2B2124"/>
                </a:solidFill>
                <a:latin typeface="Calibri" pitchFamily="34" charset="0"/>
                <a:ea typeface="Calibri" pitchFamily="34" charset="-122"/>
                <a:cs typeface="Calibri" pitchFamily="34" charset="-120"/>
              </a:rPr>
              <a:t>Puchong (69) and Cyberjaya (21) make up 91% of students. Cyberjaya is the single biggest area.</a:t>
            </a:r>
            <a:endParaRPr lang="en-US" sz="1400" dirty="0"/>
          </a:p>
        </p:txBody>
      </p:sp>
      <p:sp>
        <p:nvSpPr>
          <p:cNvPr id="25" name="Shape 22"/>
          <p:cNvSpPr/>
          <p:nvPr/>
        </p:nvSpPr>
        <p:spPr>
          <a:xfrm>
            <a:off x="548640" y="4462272"/>
            <a:ext cx="347472" cy="347472"/>
          </a:xfrm>
          <a:prstGeom prst="ellipse">
            <a:avLst/>
          </a:prstGeom>
          <a:solidFill>
            <a:srgbClr val="C99474"/>
          </a:solidFill>
          <a:ln w="12700">
            <a:solidFill>
              <a:srgbClr val="C99474"/>
            </a:solidFill>
            <a:prstDash val="solid"/>
          </a:ln>
        </p:spPr>
        <p:txBody>
          <a:bodyPr/>
          <a:lstStyle/>
          <a:p>
            <a:endParaRPr lang="en-US"/>
          </a:p>
        </p:txBody>
      </p:sp>
      <p:sp>
        <p:nvSpPr>
          <p:cNvPr id="26" name="Text 23"/>
          <p:cNvSpPr txBox="1"/>
          <p:nvPr/>
        </p:nvSpPr>
        <p:spPr>
          <a:xfrm>
            <a:off x="548640" y="446227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7" name="Text 24"/>
          <p:cNvSpPr txBox="1"/>
          <p:nvPr/>
        </p:nvSpPr>
        <p:spPr>
          <a:xfrm>
            <a:off x="1051560" y="4434840"/>
            <a:ext cx="4892040" cy="1005840"/>
          </a:xfrm>
          <a:prstGeom prst="rect">
            <a:avLst/>
          </a:prstGeom>
          <a:noFill/>
          <a:ln/>
        </p:spPr>
        <p:txBody>
          <a:bodyPr wrap="square" lIns="0" tIns="0" rIns="0" bIns="0" rtlCol="0" anchor="t"/>
          <a:lstStyle/>
          <a:p>
            <a:pPr marL="0" indent="0">
              <a:spcAft>
                <a:spcPts val="200"/>
              </a:spcAft>
              <a:buNone/>
            </a:pPr>
            <a:r>
              <a:rPr lang="en-US" sz="1400" b="1" dirty="0">
                <a:solidFill>
                  <a:srgbClr val="2E1F27"/>
                </a:solidFill>
                <a:latin typeface="Calibri" pitchFamily="34" charset="0"/>
                <a:ea typeface="Calibri" pitchFamily="34" charset="-122"/>
                <a:cs typeface="Calibri" pitchFamily="34" charset="-120"/>
              </a:rPr>
              <a:t>Almost all girls.  </a:t>
            </a:r>
            <a:r>
              <a:rPr lang="en-US" sz="1400" dirty="0">
                <a:solidFill>
                  <a:srgbClr val="2B2124"/>
                </a:solidFill>
                <a:latin typeface="Calibri" pitchFamily="34" charset="0"/>
                <a:ea typeface="Calibri" pitchFamily="34" charset="-122"/>
                <a:cs typeface="Calibri" pitchFamily="34" charset="-120"/>
              </a:rPr>
              <a:t>97 of the 99 students are female.</a:t>
            </a:r>
            <a:endParaRPr lang="en-US" sz="1400" dirty="0"/>
          </a:p>
        </p:txBody>
      </p:sp>
      <p:sp>
        <p:nvSpPr>
          <p:cNvPr id="28" name="Shape 25"/>
          <p:cNvSpPr/>
          <p:nvPr/>
        </p:nvSpPr>
        <p:spPr>
          <a:xfrm>
            <a:off x="6217920" y="4462272"/>
            <a:ext cx="347472" cy="347472"/>
          </a:xfrm>
          <a:prstGeom prst="ellipse">
            <a:avLst/>
          </a:prstGeom>
          <a:solidFill>
            <a:srgbClr val="C99474"/>
          </a:solidFill>
          <a:ln w="12700">
            <a:solidFill>
              <a:srgbClr val="C99474"/>
            </a:solidFill>
            <a:prstDash val="solid"/>
          </a:ln>
        </p:spPr>
        <p:txBody>
          <a:bodyPr/>
          <a:lstStyle/>
          <a:p>
            <a:endParaRPr lang="en-US"/>
          </a:p>
        </p:txBody>
      </p:sp>
      <p:sp>
        <p:nvSpPr>
          <p:cNvPr id="29" name="Text 26"/>
          <p:cNvSpPr txBox="1"/>
          <p:nvPr/>
        </p:nvSpPr>
        <p:spPr>
          <a:xfrm>
            <a:off x="6217920" y="446227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30" name="Text 27"/>
          <p:cNvSpPr txBox="1"/>
          <p:nvPr/>
        </p:nvSpPr>
        <p:spPr>
          <a:xfrm>
            <a:off x="6720840" y="4434840"/>
            <a:ext cx="4892040" cy="1005840"/>
          </a:xfrm>
          <a:prstGeom prst="rect">
            <a:avLst/>
          </a:prstGeom>
          <a:noFill/>
          <a:ln/>
        </p:spPr>
        <p:txBody>
          <a:bodyPr wrap="square" lIns="0" tIns="0" rIns="0" bIns="0" rtlCol="0" anchor="t"/>
          <a:lstStyle/>
          <a:p>
            <a:pPr marL="0" indent="0">
              <a:spcAft>
                <a:spcPts val="200"/>
              </a:spcAft>
              <a:buNone/>
            </a:pPr>
            <a:r>
              <a:rPr lang="en-US" sz="1400" b="1" dirty="0">
                <a:solidFill>
                  <a:srgbClr val="2E1F27"/>
                </a:solidFill>
                <a:latin typeface="Calibri" pitchFamily="34" charset="0"/>
                <a:ea typeface="Calibri" pitchFamily="34" charset="-122"/>
                <a:cs typeface="Calibri" pitchFamily="34" charset="-120"/>
              </a:rPr>
              <a:t>Mostly local families.  </a:t>
            </a:r>
            <a:r>
              <a:rPr lang="en-US" sz="1400" dirty="0">
                <a:solidFill>
                  <a:srgbClr val="2B2124"/>
                </a:solidFill>
                <a:latin typeface="Calibri" pitchFamily="34" charset="0"/>
                <a:ea typeface="Calibri" pitchFamily="34" charset="-122"/>
                <a:cs typeface="Calibri" pitchFamily="34" charset="-120"/>
              </a:rPr>
              <a:t>86% are Malaysian. Chinese nationals are the largest international group, with 7 students (7%).</a:t>
            </a:r>
            <a:endParaRPr lang="en-US" sz="1400" dirty="0"/>
          </a:p>
        </p:txBody>
      </p:sp>
      <p:sp>
        <p:nvSpPr>
          <p:cNvPr id="31" name="Text 28"/>
          <p:cNvSpPr txBox="1"/>
          <p:nvPr/>
        </p:nvSpPr>
        <p:spPr>
          <a:xfrm>
            <a:off x="548640" y="5577840"/>
            <a:ext cx="11094415" cy="411480"/>
          </a:xfrm>
          <a:prstGeom prst="rect">
            <a:avLst/>
          </a:prstGeom>
          <a:noFill/>
          <a:ln/>
        </p:spPr>
        <p:txBody>
          <a:bodyPr wrap="square" lIns="0" tIns="0" rIns="0" bIns="0" rtlCol="0" anchor="ctr"/>
          <a:lstStyle/>
          <a:p>
            <a:pPr marL="0" indent="0">
              <a:buNone/>
            </a:pPr>
            <a:r>
              <a:rPr lang="en-US" sz="1500" i="1" dirty="0">
                <a:solidFill>
                  <a:srgbClr val="9C6445"/>
                </a:solidFill>
                <a:latin typeface="Cambria" pitchFamily="34" charset="0"/>
                <a:ea typeface="Cambria" pitchFamily="34" charset="-122"/>
                <a:cs typeface="Cambria" pitchFamily="34" charset="-120"/>
              </a:rPr>
              <a:t>Core student profile: young, female, Malaysian, and living around Puchong and Cyberjaya.</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100" b="1" kern="0" spc="400" dirty="0">
                <a:solidFill>
                  <a:srgbClr val="9C6445"/>
                </a:solidFill>
                <a:latin typeface="Calibri" pitchFamily="34" charset="0"/>
                <a:ea typeface="Calibri" pitchFamily="34" charset="-122"/>
                <a:cs typeface="Calibri" pitchFamily="34" charset="-120"/>
              </a:rPr>
              <a:t>01  OUR STUDENTS</a:t>
            </a:r>
            <a:endParaRPr lang="en-US" sz="1100" dirty="0"/>
          </a:p>
        </p:txBody>
      </p:sp>
      <p:sp>
        <p:nvSpPr>
          <p:cNvPr id="3" name="Text 1"/>
          <p:cNvSpPr txBox="1"/>
          <p:nvPr/>
        </p:nvSpPr>
        <p:spPr>
          <a:xfrm>
            <a:off x="548640" y="621792"/>
            <a:ext cx="10241280" cy="658368"/>
          </a:xfrm>
          <a:prstGeom prst="rect">
            <a:avLst/>
          </a:prstGeom>
          <a:noFill/>
          <a:ln/>
        </p:spPr>
        <p:txBody>
          <a:bodyPr wrap="square" lIns="0" tIns="0" rIns="0" bIns="0" rtlCol="0" anchor="ctr"/>
          <a:lstStyle/>
          <a:p>
            <a:pPr marL="0" indent="0">
              <a:buNone/>
            </a:pPr>
            <a:r>
              <a:rPr lang="en-US" sz="3000" b="1" dirty="0">
                <a:solidFill>
                  <a:srgbClr val="2E1F27"/>
                </a:solidFill>
                <a:latin typeface="Cambria" pitchFamily="34" charset="0"/>
                <a:ea typeface="Cambria" pitchFamily="34" charset="-122"/>
                <a:cs typeface="Cambria" pitchFamily="34" charset="-120"/>
              </a:rPr>
              <a:t>Where our students live</a:t>
            </a:r>
            <a:endParaRPr lang="en-US" sz="3000" dirty="0"/>
          </a:p>
        </p:txBody>
      </p:sp>
      <p:pic>
        <p:nvPicPr>
          <p:cNvPr id="4" name="Image 0" descr="/home/claude/deck/img/dancer_rose.png"/>
          <p:cNvPicPr>
            <a:picLocks noChangeAspect="1"/>
          </p:cNvPicPr>
          <p:nvPr/>
        </p:nvPicPr>
        <p:blipFill>
          <a:blip r:embed="rId3"/>
          <a:stretch>
            <a:fillRect/>
          </a:stretch>
        </p:blipFill>
        <p:spPr>
          <a:xfrm>
            <a:off x="11076127" y="292384"/>
            <a:ext cx="566928" cy="677105"/>
          </a:xfrm>
          <a:prstGeom prst="rect">
            <a:avLst/>
          </a:prstGeom>
        </p:spPr>
      </p:pic>
      <p:sp>
        <p:nvSpPr>
          <p:cNvPr id="5" name="Text 2"/>
          <p:cNvSpPr txBox="1"/>
          <p:nvPr/>
        </p:nvSpPr>
        <p:spPr>
          <a:xfrm>
            <a:off x="548640" y="6473952"/>
            <a:ext cx="4572000" cy="228600"/>
          </a:xfrm>
          <a:prstGeom prst="rect">
            <a:avLst/>
          </a:prstGeom>
          <a:noFill/>
          <a:ln/>
        </p:spPr>
        <p:txBody>
          <a:bodyPr wrap="square" lIns="0" tIns="0" rIns="0" bIns="0" rtlCol="0" anchor="ctr"/>
          <a:lstStyle/>
          <a:p>
            <a:pPr marL="0" indent="0">
              <a:buNone/>
            </a:pPr>
            <a:r>
              <a:rPr lang="en-US" sz="900" dirty="0">
                <a:solidFill>
                  <a:srgbClr val="6E6064"/>
                </a:solidFill>
                <a:latin typeface="Calibri" pitchFamily="34" charset="0"/>
                <a:ea typeface="Calibri" pitchFamily="34" charset="-122"/>
                <a:cs typeface="Calibri" pitchFamily="34" charset="-120"/>
              </a:rPr>
              <a:t>Ballotté Dance Academy #Puchong</a:t>
            </a:r>
            <a:endParaRPr lang="en-US" sz="900" dirty="0"/>
          </a:p>
        </p:txBody>
      </p:sp>
      <p:sp>
        <p:nvSpPr>
          <p:cNvPr id="6" name="Text 3"/>
          <p:cNvSpPr txBox="1"/>
          <p:nvPr/>
        </p:nvSpPr>
        <p:spPr>
          <a:xfrm>
            <a:off x="11185855" y="6473952"/>
            <a:ext cx="457200" cy="228600"/>
          </a:xfrm>
          <a:prstGeom prst="rect">
            <a:avLst/>
          </a:prstGeom>
          <a:noFill/>
          <a:ln/>
        </p:spPr>
        <p:txBody>
          <a:bodyPr wrap="square" lIns="0" tIns="0" rIns="0" bIns="0" rtlCol="0" anchor="ctr"/>
          <a:lstStyle/>
          <a:p>
            <a:pPr marL="0" indent="0" algn="r">
              <a:buNone/>
            </a:pPr>
            <a:r>
              <a:rPr lang="en-US" sz="900" dirty="0">
                <a:solidFill>
                  <a:srgbClr val="6E6064"/>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548640" y="1463040"/>
            <a:ext cx="4709160" cy="4709160"/>
          </a:xfrm>
          <a:prstGeom prst="roundRect">
            <a:avLst>
              <a:gd name="adj" fmla="val 1942"/>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pic>
        <p:nvPicPr>
          <p:cNvPr id="8" name="Image 1" descr="/home/claude/deck/img/ballotte_student_map_map.png"/>
          <p:cNvPicPr>
            <a:picLocks noChangeAspect="1"/>
          </p:cNvPicPr>
          <p:nvPr/>
        </p:nvPicPr>
        <p:blipFill>
          <a:blip r:embed="rId4"/>
          <a:stretch>
            <a:fillRect/>
          </a:stretch>
        </p:blipFill>
        <p:spPr>
          <a:xfrm>
            <a:off x="621792" y="1536192"/>
            <a:ext cx="4562856" cy="4562856"/>
          </a:xfrm>
          <a:prstGeom prst="rect">
            <a:avLst/>
          </a:prstGeom>
        </p:spPr>
      </p:pic>
      <p:sp>
        <p:nvSpPr>
          <p:cNvPr id="9" name="Text 5"/>
          <p:cNvSpPr txBox="1"/>
          <p:nvPr/>
        </p:nvSpPr>
        <p:spPr>
          <a:xfrm>
            <a:off x="5760720" y="1417320"/>
            <a:ext cx="5882335" cy="777240"/>
          </a:xfrm>
          <a:prstGeom prst="rect">
            <a:avLst/>
          </a:prstGeom>
          <a:noFill/>
          <a:ln/>
        </p:spPr>
        <p:txBody>
          <a:bodyPr wrap="square" lIns="0" tIns="0" rIns="0" bIns="0" rtlCol="0" anchor="b"/>
          <a:lstStyle/>
          <a:p>
            <a:pPr marL="0" indent="0">
              <a:buNone/>
            </a:pPr>
            <a:r>
              <a:rPr lang="en-US" sz="4400" b="1" dirty="0">
                <a:solidFill>
                  <a:srgbClr val="9E4A67"/>
                </a:solidFill>
                <a:latin typeface="Cambria" pitchFamily="34" charset="0"/>
                <a:ea typeface="Cambria" pitchFamily="34" charset="-122"/>
                <a:cs typeface="Cambria" pitchFamily="34" charset="-120"/>
              </a:rPr>
              <a:t>47 of 68</a:t>
            </a:r>
            <a:endParaRPr lang="en-US" sz="4400" dirty="0"/>
          </a:p>
        </p:txBody>
      </p:sp>
      <p:sp>
        <p:nvSpPr>
          <p:cNvPr id="10" name="Text 6"/>
          <p:cNvSpPr txBox="1"/>
          <p:nvPr/>
        </p:nvSpPr>
        <p:spPr>
          <a:xfrm>
            <a:off x="5760720" y="2221992"/>
            <a:ext cx="5882335" cy="457200"/>
          </a:xfrm>
          <a:prstGeom prst="rect">
            <a:avLst/>
          </a:prstGeom>
          <a:noFill/>
          <a:ln/>
        </p:spPr>
        <p:txBody>
          <a:bodyPr wrap="square" lIns="0" tIns="0" rIns="0" bIns="0" rtlCol="0" anchor="t"/>
          <a:lstStyle/>
          <a:p>
            <a:pPr marL="0" indent="0">
              <a:buNone/>
            </a:pPr>
            <a:r>
              <a:rPr lang="en-US" sz="1300" dirty="0">
                <a:solidFill>
                  <a:srgbClr val="6E6064"/>
                </a:solidFill>
                <a:latin typeface="Calibri" pitchFamily="34" charset="0"/>
                <a:ea typeface="Calibri" pitchFamily="34" charset="-122"/>
                <a:cs typeface="Calibri" pitchFamily="34" charset="-120"/>
              </a:rPr>
              <a:t>students from the top 10 areas live within 5 km of the studio</a:t>
            </a:r>
            <a:endParaRPr lang="en-US" sz="1300" dirty="0"/>
          </a:p>
        </p:txBody>
      </p:sp>
      <p:sp>
        <p:nvSpPr>
          <p:cNvPr id="11" name="Shape 7"/>
          <p:cNvSpPr/>
          <p:nvPr/>
        </p:nvSpPr>
        <p:spPr>
          <a:xfrm>
            <a:off x="5760720" y="2816352"/>
            <a:ext cx="347472" cy="347472"/>
          </a:xfrm>
          <a:prstGeom prst="ellipse">
            <a:avLst/>
          </a:prstGeom>
          <a:solidFill>
            <a:srgbClr val="C99474"/>
          </a:solidFill>
          <a:ln w="12700">
            <a:solidFill>
              <a:srgbClr val="C99474"/>
            </a:solidFill>
            <a:prstDash val="solid"/>
          </a:ln>
        </p:spPr>
        <p:txBody>
          <a:bodyPr/>
          <a:lstStyle/>
          <a:p>
            <a:endParaRPr lang="en-US"/>
          </a:p>
        </p:txBody>
      </p:sp>
      <p:sp>
        <p:nvSpPr>
          <p:cNvPr id="12" name="Text 8"/>
          <p:cNvSpPr txBox="1"/>
          <p:nvPr/>
        </p:nvSpPr>
        <p:spPr>
          <a:xfrm>
            <a:off x="5760720" y="281635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3" name="Text 9"/>
          <p:cNvSpPr txBox="1"/>
          <p:nvPr/>
        </p:nvSpPr>
        <p:spPr>
          <a:xfrm>
            <a:off x="6263640" y="2788920"/>
            <a:ext cx="5379415" cy="804672"/>
          </a:xfrm>
          <a:prstGeom prst="rect">
            <a:avLst/>
          </a:prstGeom>
          <a:noFill/>
          <a:ln/>
        </p:spPr>
        <p:txBody>
          <a:bodyPr wrap="square" lIns="0" tIns="0" rIns="0" bIns="0" rtlCol="0" anchor="t"/>
          <a:lstStyle/>
          <a:p>
            <a:pPr marL="0" indent="0">
              <a:spcAft>
                <a:spcPts val="200"/>
              </a:spcAft>
              <a:buNone/>
            </a:pPr>
            <a:r>
              <a:rPr lang="en-US" sz="1300" b="1" dirty="0">
                <a:solidFill>
                  <a:srgbClr val="2E1F27"/>
                </a:solidFill>
                <a:latin typeface="Calibri" pitchFamily="34" charset="0"/>
                <a:ea typeface="Calibri" pitchFamily="34" charset="-122"/>
                <a:cs typeface="Calibri" pitchFamily="34" charset="-120"/>
              </a:rPr>
              <a:t>Puchong is on the doorstep.  </a:t>
            </a:r>
            <a:r>
              <a:rPr lang="en-US" sz="1300" dirty="0">
                <a:solidFill>
                  <a:srgbClr val="2B2124"/>
                </a:solidFill>
                <a:latin typeface="Calibri" pitchFamily="34" charset="0"/>
                <a:ea typeface="Calibri" pitchFamily="34" charset="-122"/>
                <a:cs typeface="Calibri" pitchFamily="34" charset="-120"/>
              </a:rPr>
              <a:t>Every Puchong-side area is inside 5 km. The closest are Taman Putra Impiana (1.1 km), Taman Puchong Utama (1.6 km) and Bandar Bukit Puchong (1.9 km).</a:t>
            </a:r>
            <a:endParaRPr lang="en-US" sz="1300" dirty="0"/>
          </a:p>
        </p:txBody>
      </p:sp>
      <p:sp>
        <p:nvSpPr>
          <p:cNvPr id="14" name="Shape 10"/>
          <p:cNvSpPr/>
          <p:nvPr/>
        </p:nvSpPr>
        <p:spPr>
          <a:xfrm>
            <a:off x="5760720" y="3666744"/>
            <a:ext cx="347472" cy="347472"/>
          </a:xfrm>
          <a:prstGeom prst="ellipse">
            <a:avLst/>
          </a:prstGeom>
          <a:solidFill>
            <a:srgbClr val="C99474"/>
          </a:solidFill>
          <a:ln w="12700">
            <a:solidFill>
              <a:srgbClr val="C99474"/>
            </a:solidFill>
            <a:prstDash val="solid"/>
          </a:ln>
        </p:spPr>
        <p:txBody>
          <a:bodyPr/>
          <a:lstStyle/>
          <a:p>
            <a:endParaRPr lang="en-US"/>
          </a:p>
        </p:txBody>
      </p:sp>
      <p:sp>
        <p:nvSpPr>
          <p:cNvPr id="15" name="Text 11"/>
          <p:cNvSpPr txBox="1"/>
          <p:nvPr/>
        </p:nvSpPr>
        <p:spPr>
          <a:xfrm>
            <a:off x="5760720" y="366674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6" name="Text 12"/>
          <p:cNvSpPr txBox="1"/>
          <p:nvPr/>
        </p:nvSpPr>
        <p:spPr>
          <a:xfrm>
            <a:off x="6263640" y="3639312"/>
            <a:ext cx="5379415" cy="804672"/>
          </a:xfrm>
          <a:prstGeom prst="rect">
            <a:avLst/>
          </a:prstGeom>
          <a:noFill/>
          <a:ln/>
        </p:spPr>
        <p:txBody>
          <a:bodyPr wrap="square" lIns="0" tIns="0" rIns="0" bIns="0" rtlCol="0" anchor="t"/>
          <a:lstStyle/>
          <a:p>
            <a:pPr marL="0" indent="0">
              <a:spcAft>
                <a:spcPts val="200"/>
              </a:spcAft>
              <a:buNone/>
            </a:pPr>
            <a:r>
              <a:rPr lang="en-US" sz="1300" b="1" dirty="0">
                <a:solidFill>
                  <a:srgbClr val="2E1F27"/>
                </a:solidFill>
                <a:latin typeface="Calibri" pitchFamily="34" charset="0"/>
                <a:ea typeface="Calibri" pitchFamily="34" charset="-122"/>
                <a:cs typeface="Calibri" pitchFamily="34" charset="-120"/>
              </a:rPr>
              <a:t>Cyberjaya families travel.  </a:t>
            </a:r>
            <a:r>
              <a:rPr lang="en-US" sz="1300" dirty="0">
                <a:solidFill>
                  <a:srgbClr val="2B2124"/>
                </a:solidFill>
                <a:latin typeface="Calibri" pitchFamily="34" charset="0"/>
                <a:ea typeface="Calibri" pitchFamily="34" charset="-122"/>
                <a:cs typeface="Calibri" pitchFamily="34" charset="-120"/>
              </a:rPr>
              <a:t>All 21 Cyberjaya students live 5–10 km away, about 7 km on average.</a:t>
            </a:r>
            <a:endParaRPr lang="en-US" sz="1300" dirty="0"/>
          </a:p>
        </p:txBody>
      </p:sp>
      <p:sp>
        <p:nvSpPr>
          <p:cNvPr id="17" name="Shape 13"/>
          <p:cNvSpPr/>
          <p:nvPr/>
        </p:nvSpPr>
        <p:spPr>
          <a:xfrm>
            <a:off x="5760720" y="4517136"/>
            <a:ext cx="347472" cy="347472"/>
          </a:xfrm>
          <a:prstGeom prst="ellipse">
            <a:avLst/>
          </a:prstGeom>
          <a:solidFill>
            <a:srgbClr val="C99474"/>
          </a:solidFill>
          <a:ln w="12700">
            <a:solidFill>
              <a:srgbClr val="C99474"/>
            </a:solidFill>
            <a:prstDash val="solid"/>
          </a:ln>
        </p:spPr>
        <p:txBody>
          <a:bodyPr/>
          <a:lstStyle/>
          <a:p>
            <a:endParaRPr lang="en-US"/>
          </a:p>
        </p:txBody>
      </p:sp>
      <p:sp>
        <p:nvSpPr>
          <p:cNvPr id="18" name="Text 14"/>
          <p:cNvSpPr txBox="1"/>
          <p:nvPr/>
        </p:nvSpPr>
        <p:spPr>
          <a:xfrm>
            <a:off x="5760720" y="451713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9" name="Text 15"/>
          <p:cNvSpPr txBox="1"/>
          <p:nvPr/>
        </p:nvSpPr>
        <p:spPr>
          <a:xfrm>
            <a:off x="6263640" y="4489704"/>
            <a:ext cx="5379415" cy="804672"/>
          </a:xfrm>
          <a:prstGeom prst="rect">
            <a:avLst/>
          </a:prstGeom>
          <a:noFill/>
          <a:ln/>
        </p:spPr>
        <p:txBody>
          <a:bodyPr wrap="square" lIns="0" tIns="0" rIns="0" bIns="0" rtlCol="0" anchor="t"/>
          <a:lstStyle/>
          <a:p>
            <a:pPr marL="0" indent="0">
              <a:spcAft>
                <a:spcPts val="200"/>
              </a:spcAft>
              <a:buNone/>
            </a:pPr>
            <a:r>
              <a:rPr lang="en-US" sz="1300" b="1" dirty="0">
                <a:solidFill>
                  <a:srgbClr val="2E1F27"/>
                </a:solidFill>
                <a:latin typeface="Calibri" pitchFamily="34" charset="0"/>
                <a:ea typeface="Calibri" pitchFamily="34" charset="-122"/>
                <a:cs typeface="Calibri" pitchFamily="34" charset="-120"/>
              </a:rPr>
              <a:t>A gap in Cyberjaya.  </a:t>
            </a:r>
            <a:r>
              <a:rPr lang="en-US" sz="1300" dirty="0">
                <a:solidFill>
                  <a:srgbClr val="2B2124"/>
                </a:solidFill>
                <a:latin typeface="Calibri" pitchFamily="34" charset="0"/>
                <a:ea typeface="Calibri" pitchFamily="34" charset="-122"/>
                <a:cs typeface="Calibri" pitchFamily="34" charset="-120"/>
              </a:rPr>
              <a:t>We found no dedicated ballet school in Cyberjaya, which may be why these families make the trip.</a:t>
            </a:r>
            <a:endParaRPr lang="en-US" sz="1300" dirty="0"/>
          </a:p>
        </p:txBody>
      </p:sp>
      <p:sp>
        <p:nvSpPr>
          <p:cNvPr id="20" name="Shape 16"/>
          <p:cNvSpPr/>
          <p:nvPr/>
        </p:nvSpPr>
        <p:spPr>
          <a:xfrm>
            <a:off x="5760720" y="5367528"/>
            <a:ext cx="347472" cy="347472"/>
          </a:xfrm>
          <a:prstGeom prst="ellipse">
            <a:avLst/>
          </a:prstGeom>
          <a:solidFill>
            <a:srgbClr val="C99474"/>
          </a:solidFill>
          <a:ln w="12700">
            <a:solidFill>
              <a:srgbClr val="C99474"/>
            </a:solidFill>
            <a:prstDash val="solid"/>
          </a:ln>
        </p:spPr>
        <p:txBody>
          <a:bodyPr/>
          <a:lstStyle/>
          <a:p>
            <a:endParaRPr lang="en-US"/>
          </a:p>
        </p:txBody>
      </p:sp>
      <p:sp>
        <p:nvSpPr>
          <p:cNvPr id="21" name="Text 17"/>
          <p:cNvSpPr txBox="1"/>
          <p:nvPr/>
        </p:nvSpPr>
        <p:spPr>
          <a:xfrm>
            <a:off x="5760720" y="536752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2" name="Text 18"/>
          <p:cNvSpPr txBox="1"/>
          <p:nvPr/>
        </p:nvSpPr>
        <p:spPr>
          <a:xfrm>
            <a:off x="6263640" y="5340096"/>
            <a:ext cx="5379415" cy="804672"/>
          </a:xfrm>
          <a:prstGeom prst="rect">
            <a:avLst/>
          </a:prstGeom>
          <a:noFill/>
          <a:ln/>
        </p:spPr>
        <p:txBody>
          <a:bodyPr wrap="square" lIns="0" tIns="0" rIns="0" bIns="0" rtlCol="0" anchor="t"/>
          <a:lstStyle/>
          <a:p>
            <a:pPr marL="0" indent="0">
              <a:spcAft>
                <a:spcPts val="200"/>
              </a:spcAft>
              <a:buNone/>
            </a:pPr>
            <a:r>
              <a:rPr lang="en-US" sz="1300" b="1" dirty="0">
                <a:solidFill>
                  <a:srgbClr val="2E1F27"/>
                </a:solidFill>
                <a:latin typeface="Calibri" pitchFamily="34" charset="0"/>
                <a:ea typeface="Calibri" pitchFamily="34" charset="-122"/>
                <a:cs typeface="Calibri" pitchFamily="34" charset="-120"/>
              </a:rPr>
              <a:t>Nobody is beyond 10 km.  </a:t>
            </a:r>
            <a:r>
              <a:rPr lang="en-US" sz="1300" dirty="0">
                <a:solidFill>
                  <a:srgbClr val="2B2124"/>
                </a:solidFill>
                <a:latin typeface="Calibri" pitchFamily="34" charset="0"/>
                <a:ea typeface="Calibri" pitchFamily="34" charset="-122"/>
                <a:cs typeface="Calibri" pitchFamily="34" charset="-120"/>
              </a:rPr>
              <a:t>No student from the top 10 areas lives more than 10 km from the studio.</a:t>
            </a:r>
            <a:endParaRPr lang="en-US" sz="1300" dirty="0"/>
          </a:p>
        </p:txBody>
      </p:sp>
      <p:sp>
        <p:nvSpPr>
          <p:cNvPr id="23" name="Text 19"/>
          <p:cNvSpPr txBox="1"/>
          <p:nvPr/>
        </p:nvSpPr>
        <p:spPr>
          <a:xfrm>
            <a:off x="5760720" y="5989320"/>
            <a:ext cx="5882335" cy="320040"/>
          </a:xfrm>
          <a:prstGeom prst="rect">
            <a:avLst/>
          </a:prstGeom>
          <a:noFill/>
          <a:ln/>
        </p:spPr>
        <p:txBody>
          <a:bodyPr wrap="square" lIns="0" tIns="0" rIns="0" bIns="0" rtlCol="0" anchor="ctr"/>
          <a:lstStyle/>
          <a:p>
            <a:pPr marL="0" indent="0">
              <a:buNone/>
            </a:pPr>
            <a:r>
              <a:rPr lang="en-US" sz="1000" i="1" dirty="0">
                <a:solidFill>
                  <a:srgbClr val="6E6064"/>
                </a:solidFill>
                <a:latin typeface="Calibri" pitchFamily="34" charset="0"/>
                <a:ea typeface="Calibri" pitchFamily="34" charset="-122"/>
                <a:cs typeface="Calibri" pitchFamily="34" charset="-120"/>
              </a:rPr>
              <a:t>Dots sit at each student's condo, taman or street, not the exact house.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100" b="1" kern="0" spc="400" dirty="0">
                <a:solidFill>
                  <a:srgbClr val="9C6445"/>
                </a:solidFill>
                <a:latin typeface="Calibri" pitchFamily="34" charset="0"/>
                <a:ea typeface="Calibri" pitchFamily="34" charset="-122"/>
                <a:cs typeface="Calibri" pitchFamily="34" charset="-120"/>
              </a:rPr>
              <a:t>02  OUR MARKET</a:t>
            </a:r>
            <a:endParaRPr lang="en-US" sz="1100" dirty="0"/>
          </a:p>
        </p:txBody>
      </p:sp>
      <p:sp>
        <p:nvSpPr>
          <p:cNvPr id="3" name="Text 1"/>
          <p:cNvSpPr txBox="1"/>
          <p:nvPr/>
        </p:nvSpPr>
        <p:spPr>
          <a:xfrm>
            <a:off x="548640" y="621792"/>
            <a:ext cx="10241280" cy="658368"/>
          </a:xfrm>
          <a:prstGeom prst="rect">
            <a:avLst/>
          </a:prstGeom>
          <a:noFill/>
          <a:ln/>
        </p:spPr>
        <p:txBody>
          <a:bodyPr wrap="square" lIns="0" tIns="0" rIns="0" bIns="0" rtlCol="0" anchor="ctr"/>
          <a:lstStyle/>
          <a:p>
            <a:pPr marL="0" indent="0">
              <a:buNone/>
            </a:pPr>
            <a:r>
              <a:rPr lang="en-US" sz="3000" b="1" dirty="0">
                <a:solidFill>
                  <a:srgbClr val="2E1F27"/>
                </a:solidFill>
                <a:latin typeface="Cambria" pitchFamily="34" charset="0"/>
                <a:ea typeface="Cambria" pitchFamily="34" charset="-122"/>
                <a:cs typeface="Cambria" pitchFamily="34" charset="-120"/>
              </a:rPr>
              <a:t>Where the next students could live</a:t>
            </a:r>
            <a:endParaRPr lang="en-US" sz="3000" dirty="0"/>
          </a:p>
        </p:txBody>
      </p:sp>
      <p:pic>
        <p:nvPicPr>
          <p:cNvPr id="4" name="Image 0" descr="/home/claude/deck/img/dancer_rose.png"/>
          <p:cNvPicPr>
            <a:picLocks noChangeAspect="1"/>
          </p:cNvPicPr>
          <p:nvPr/>
        </p:nvPicPr>
        <p:blipFill>
          <a:blip r:embed="rId3"/>
          <a:stretch>
            <a:fillRect/>
          </a:stretch>
        </p:blipFill>
        <p:spPr>
          <a:xfrm>
            <a:off x="11076127" y="292384"/>
            <a:ext cx="566928" cy="677105"/>
          </a:xfrm>
          <a:prstGeom prst="rect">
            <a:avLst/>
          </a:prstGeom>
        </p:spPr>
      </p:pic>
      <p:sp>
        <p:nvSpPr>
          <p:cNvPr id="5" name="Text 2"/>
          <p:cNvSpPr txBox="1"/>
          <p:nvPr/>
        </p:nvSpPr>
        <p:spPr>
          <a:xfrm>
            <a:off x="548640" y="6473952"/>
            <a:ext cx="4572000" cy="228600"/>
          </a:xfrm>
          <a:prstGeom prst="rect">
            <a:avLst/>
          </a:prstGeom>
          <a:noFill/>
          <a:ln/>
        </p:spPr>
        <p:txBody>
          <a:bodyPr wrap="square" lIns="0" tIns="0" rIns="0" bIns="0" rtlCol="0" anchor="ctr"/>
          <a:lstStyle/>
          <a:p>
            <a:pPr marL="0" indent="0">
              <a:buNone/>
            </a:pPr>
            <a:r>
              <a:rPr lang="en-US" sz="900" dirty="0">
                <a:solidFill>
                  <a:srgbClr val="6E6064"/>
                </a:solidFill>
                <a:latin typeface="Calibri" pitchFamily="34" charset="0"/>
                <a:ea typeface="Calibri" pitchFamily="34" charset="-122"/>
                <a:cs typeface="Calibri" pitchFamily="34" charset="-120"/>
              </a:rPr>
              <a:t>Ballotté Dance Academy #Puchong</a:t>
            </a:r>
            <a:endParaRPr lang="en-US" sz="900" dirty="0"/>
          </a:p>
        </p:txBody>
      </p:sp>
      <p:sp>
        <p:nvSpPr>
          <p:cNvPr id="6" name="Text 3"/>
          <p:cNvSpPr txBox="1"/>
          <p:nvPr/>
        </p:nvSpPr>
        <p:spPr>
          <a:xfrm>
            <a:off x="11185855" y="6473952"/>
            <a:ext cx="457200" cy="228600"/>
          </a:xfrm>
          <a:prstGeom prst="rect">
            <a:avLst/>
          </a:prstGeom>
          <a:noFill/>
          <a:ln/>
        </p:spPr>
        <p:txBody>
          <a:bodyPr wrap="square" lIns="0" tIns="0" rIns="0" bIns="0" rtlCol="0" anchor="ctr"/>
          <a:lstStyle/>
          <a:p>
            <a:pPr marL="0" indent="0" algn="r">
              <a:buNone/>
            </a:pPr>
            <a:r>
              <a:rPr lang="en-US" sz="900" dirty="0">
                <a:solidFill>
                  <a:srgbClr val="6E6064"/>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548640" y="1463040"/>
            <a:ext cx="4709160" cy="4709160"/>
          </a:xfrm>
          <a:prstGeom prst="roundRect">
            <a:avLst>
              <a:gd name="adj" fmla="val 1942"/>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pic>
        <p:nvPicPr>
          <p:cNvPr id="8" name="Image 1" descr="/home/claude/deck/img/ballotte_potential_markets_map_map.png"/>
          <p:cNvPicPr>
            <a:picLocks noChangeAspect="1"/>
          </p:cNvPicPr>
          <p:nvPr/>
        </p:nvPicPr>
        <p:blipFill>
          <a:blip r:embed="rId4"/>
          <a:stretch>
            <a:fillRect/>
          </a:stretch>
        </p:blipFill>
        <p:spPr>
          <a:xfrm>
            <a:off x="621792" y="1536192"/>
            <a:ext cx="4562856" cy="4562856"/>
          </a:xfrm>
          <a:prstGeom prst="rect">
            <a:avLst/>
          </a:prstGeom>
        </p:spPr>
      </p:pic>
      <p:sp>
        <p:nvSpPr>
          <p:cNvPr id="9" name="Text 5"/>
          <p:cNvSpPr txBox="1"/>
          <p:nvPr/>
        </p:nvSpPr>
        <p:spPr>
          <a:xfrm>
            <a:off x="5760720" y="1417320"/>
            <a:ext cx="5882335" cy="777240"/>
          </a:xfrm>
          <a:prstGeom prst="rect">
            <a:avLst/>
          </a:prstGeom>
          <a:noFill/>
          <a:ln/>
        </p:spPr>
        <p:txBody>
          <a:bodyPr wrap="square" lIns="0" tIns="0" rIns="0" bIns="0" rtlCol="0" anchor="b"/>
          <a:lstStyle/>
          <a:p>
            <a:pPr marL="0" indent="0">
              <a:buNone/>
            </a:pPr>
            <a:r>
              <a:rPr lang="en-US" sz="4400" b="1" dirty="0">
                <a:solidFill>
                  <a:srgbClr val="9E4A67"/>
                </a:solidFill>
                <a:latin typeface="Cambria" pitchFamily="34" charset="0"/>
                <a:ea typeface="Cambria" pitchFamily="34" charset="-122"/>
                <a:cs typeface="Cambria" pitchFamily="34" charset="-120"/>
              </a:rPr>
              <a:t>13</a:t>
            </a:r>
            <a:endParaRPr lang="en-US" sz="4400" dirty="0"/>
          </a:p>
        </p:txBody>
      </p:sp>
      <p:sp>
        <p:nvSpPr>
          <p:cNvPr id="10" name="Text 6"/>
          <p:cNvSpPr txBox="1"/>
          <p:nvPr/>
        </p:nvSpPr>
        <p:spPr>
          <a:xfrm>
            <a:off x="5760720" y="2221992"/>
            <a:ext cx="5882335" cy="457200"/>
          </a:xfrm>
          <a:prstGeom prst="rect">
            <a:avLst/>
          </a:prstGeom>
          <a:noFill/>
          <a:ln/>
        </p:spPr>
        <p:txBody>
          <a:bodyPr wrap="square" lIns="0" tIns="0" rIns="0" bIns="0" rtlCol="0" anchor="t"/>
          <a:lstStyle/>
          <a:p>
            <a:pPr marL="0" indent="0">
              <a:buNone/>
            </a:pPr>
            <a:r>
              <a:rPr lang="en-US" sz="1300" dirty="0">
                <a:solidFill>
                  <a:srgbClr val="6E6064"/>
                </a:solidFill>
                <a:latin typeface="Calibri" pitchFamily="34" charset="0"/>
                <a:ea typeface="Calibri" pitchFamily="34" charset="-122"/>
                <a:cs typeface="Calibri" pitchFamily="34" charset="-120"/>
              </a:rPr>
              <a:t>family developments in 4 groups, all inside the 10 km circle</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60720" y="2697480"/>
          <a:ext cx="5882335" cy="1463040"/>
        </p:xfrm>
        <a:graphic>
          <a:graphicData uri="http://schemas.openxmlformats.org/drawingml/2006/table">
            <a:tbl>
              <a:tblPr/>
              <a:tblGrid>
                <a:gridCol w="1371600">
                  <a:extLst>
                    <a:ext uri="{9D8B030D-6E8A-4147-A177-3AD203B41FA5}">
                      <a16:colId xmlns:a16="http://schemas.microsoft.com/office/drawing/2014/main" val="20000"/>
                    </a:ext>
                  </a:extLst>
                </a:gridCol>
                <a:gridCol w="3870655">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Group</a:t>
                      </a:r>
                      <a:endParaRPr lang="en-US" sz="1100" dirty="0">
                        <a:latin typeface="Calibri" charset="0"/>
                        <a:ea typeface="Calibri" charset="0"/>
                        <a:cs typeface="Calibri" charset="0"/>
                      </a:endParaRPr>
                    </a:p>
                  </a:txBody>
                  <a:tcPr marL="64008" marR="64008" marT="18288" marB="18288"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Developments</a:t>
                      </a:r>
                      <a:endParaRPr lang="en-US" sz="1100" dirty="0">
                        <a:latin typeface="Calibri" charset="0"/>
                        <a:ea typeface="Calibri" charset="0"/>
                        <a:cs typeface="Calibri" charset="0"/>
                      </a:endParaRPr>
                    </a:p>
                  </a:txBody>
                  <a:tcPr marL="64008" marR="64008" marT="18288" marB="18288"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km</a:t>
                      </a:r>
                      <a:endParaRPr lang="en-US" sz="1100" dirty="0">
                        <a:latin typeface="Calibri" charset="0"/>
                        <a:ea typeface="Calibri" charset="0"/>
                        <a:cs typeface="Calibri" charset="0"/>
                      </a:endParaRPr>
                    </a:p>
                  </a:txBody>
                  <a:tcPr marL="64008" marR="64008" marT="18288" marB="18288"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extLst>
                  <a:ext uri="{0D108BD9-81ED-4DB2-BD59-A6C34878D82A}">
                    <a16:rowId xmlns:a16="http://schemas.microsoft.com/office/drawing/2014/main" val="10000"/>
                  </a:ext>
                </a:extLst>
              </a:tr>
              <a:tr h="292608">
                <a:tc>
                  <a:txBody>
                    <a:bodyPr/>
                    <a:lstStyle/>
                    <a:p>
                      <a:pPr marL="0" indent="0">
                        <a:buNone/>
                      </a:pPr>
                      <a:r>
                        <a:rPr lang="en-US" sz="1100" b="1" dirty="0">
                          <a:solidFill>
                            <a:srgbClr val="0B8043"/>
                          </a:solidFill>
                          <a:latin typeface="Calibri" pitchFamily="34" charset="0"/>
                          <a:ea typeface="Calibri" pitchFamily="34" charset="-122"/>
                          <a:cs typeface="Calibri" pitchFamily="34" charset="-120"/>
                        </a:rPr>
                        <a:t>A  North Puchong</a:t>
                      </a:r>
                      <a:endParaRPr lang="en-US" sz="1100" dirty="0">
                        <a:latin typeface="Calibri" charset="0"/>
                        <a:ea typeface="Calibri" charset="0"/>
                        <a:cs typeface="Calibri" charset="0"/>
                      </a:endParaRPr>
                    </a:p>
                  </a:txBody>
                  <a:tcPr marL="64008" marR="64008" marT="18288" marB="18288"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Desa Impiana, The Wharf, Elevia, Zen Residence</a:t>
                      </a:r>
                      <a:endParaRPr lang="en-US" sz="1100" dirty="0">
                        <a:latin typeface="Calibri" charset="0"/>
                        <a:ea typeface="Calibri" charset="0"/>
                        <a:cs typeface="Calibri" charset="0"/>
                      </a:endParaRPr>
                    </a:p>
                  </a:txBody>
                  <a:tcPr marL="64008" marR="64008" marT="18288" marB="18288"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B2124"/>
                          </a:solidFill>
                          <a:latin typeface="Calibri" pitchFamily="34" charset="0"/>
                          <a:ea typeface="Calibri" pitchFamily="34" charset="-122"/>
                          <a:cs typeface="Calibri" pitchFamily="34" charset="-120"/>
                        </a:rPr>
                        <a:t>1.4–3.2</a:t>
                      </a:r>
                      <a:endParaRPr lang="en-US" sz="1100" dirty="0">
                        <a:latin typeface="Calibri" charset="0"/>
                        <a:ea typeface="Calibri" charset="0"/>
                        <a:cs typeface="Calibri" charset="0"/>
                      </a:endParaRPr>
                    </a:p>
                  </a:txBody>
                  <a:tcPr marL="64008" marR="64008" marT="18288" marB="18288"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00" b="1" dirty="0">
                          <a:solidFill>
                            <a:srgbClr val="C25E00"/>
                          </a:solidFill>
                          <a:latin typeface="Calibri" pitchFamily="34" charset="0"/>
                          <a:ea typeface="Calibri" pitchFamily="34" charset="-122"/>
                          <a:cs typeface="Calibri" pitchFamily="34" charset="-120"/>
                        </a:rPr>
                        <a:t>B  South-west</a:t>
                      </a:r>
                      <a:endParaRPr lang="en-US" sz="1100" dirty="0">
                        <a:latin typeface="Calibri" charset="0"/>
                        <a:ea typeface="Calibri" charset="0"/>
                        <a:cs typeface="Calibri" charset="0"/>
                      </a:endParaRPr>
                    </a:p>
                  </a:txBody>
                  <a:tcPr marL="64008" marR="64008" marT="18288" marB="18288"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X2, D'Aman, The Lake Residence, E'Island Lake Haven</a:t>
                      </a:r>
                      <a:endParaRPr lang="en-US" sz="1100" dirty="0">
                        <a:latin typeface="Calibri" charset="0"/>
                        <a:ea typeface="Calibri" charset="0"/>
                        <a:cs typeface="Calibri" charset="0"/>
                      </a:endParaRPr>
                    </a:p>
                  </a:txBody>
                  <a:tcPr marL="64008" marR="64008" marT="18288" marB="18288"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r">
                        <a:buNone/>
                      </a:pPr>
                      <a:r>
                        <a:rPr lang="en-US" sz="1100" dirty="0">
                          <a:solidFill>
                            <a:srgbClr val="2B2124"/>
                          </a:solidFill>
                          <a:latin typeface="Calibri" pitchFamily="34" charset="0"/>
                          <a:ea typeface="Calibri" pitchFamily="34" charset="-122"/>
                          <a:cs typeface="Calibri" pitchFamily="34" charset="-120"/>
                        </a:rPr>
                        <a:t>2.3–3.6</a:t>
                      </a:r>
                      <a:endParaRPr lang="en-US" sz="1100" dirty="0">
                        <a:latin typeface="Calibri" charset="0"/>
                        <a:ea typeface="Calibri" charset="0"/>
                        <a:cs typeface="Calibri" charset="0"/>
                      </a:endParaRPr>
                    </a:p>
                  </a:txBody>
                  <a:tcPr marL="64008" marR="64008" marT="18288" marB="18288"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extLst>
                  <a:ext uri="{0D108BD9-81ED-4DB2-BD59-A6C34878D82A}">
                    <a16:rowId xmlns:a16="http://schemas.microsoft.com/office/drawing/2014/main" val="10002"/>
                  </a:ext>
                </a:extLst>
              </a:tr>
              <a:tr h="292608">
                <a:tc>
                  <a:txBody>
                    <a:bodyPr/>
                    <a:lstStyle/>
                    <a:p>
                      <a:pPr marL="0" indent="0">
                        <a:buNone/>
                      </a:pPr>
                      <a:r>
                        <a:rPr lang="en-US" sz="1100" b="1" dirty="0">
                          <a:solidFill>
                            <a:srgbClr val="C2185B"/>
                          </a:solidFill>
                          <a:latin typeface="Calibri" pitchFamily="34" charset="0"/>
                          <a:ea typeface="Calibri" pitchFamily="34" charset="-122"/>
                          <a:cs typeface="Calibri" pitchFamily="34" charset="-120"/>
                        </a:rPr>
                        <a:t>C  East</a:t>
                      </a:r>
                      <a:endParaRPr lang="en-US" sz="1100" dirty="0">
                        <a:latin typeface="Calibri" charset="0"/>
                        <a:ea typeface="Calibri" charset="0"/>
                        <a:cs typeface="Calibri" charset="0"/>
                      </a:endParaRPr>
                    </a:p>
                  </a:txBody>
                  <a:tcPr marL="64008" marR="64008" marT="18288" marB="18288"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Laman &amp; Bayu, Desaria Villa, La Thea, Sierra 6</a:t>
                      </a:r>
                      <a:endParaRPr lang="en-US" sz="1100" dirty="0">
                        <a:latin typeface="Calibri" charset="0"/>
                        <a:ea typeface="Calibri" charset="0"/>
                        <a:cs typeface="Calibri" charset="0"/>
                      </a:endParaRPr>
                    </a:p>
                  </a:txBody>
                  <a:tcPr marL="64008" marR="64008" marT="18288" marB="18288"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B2124"/>
                          </a:solidFill>
                          <a:latin typeface="Calibri" pitchFamily="34" charset="0"/>
                          <a:ea typeface="Calibri" pitchFamily="34" charset="-122"/>
                          <a:cs typeface="Calibri" pitchFamily="34" charset="-120"/>
                        </a:rPr>
                        <a:t>2.6–4.7</a:t>
                      </a:r>
                      <a:endParaRPr lang="en-US" sz="1100" dirty="0">
                        <a:latin typeface="Calibri" charset="0"/>
                        <a:ea typeface="Calibri" charset="0"/>
                        <a:cs typeface="Calibri" charset="0"/>
                      </a:endParaRPr>
                    </a:p>
                  </a:txBody>
                  <a:tcPr marL="64008" marR="64008" marT="18288" marB="18288"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00" b="1" dirty="0">
                          <a:solidFill>
                            <a:srgbClr val="5E35B1"/>
                          </a:solidFill>
                          <a:latin typeface="Calibri" pitchFamily="34" charset="0"/>
                          <a:ea typeface="Calibri" pitchFamily="34" charset="-122"/>
                          <a:cs typeface="Calibri" pitchFamily="34" charset="-120"/>
                        </a:rPr>
                        <a:t>D  Cyberjaya</a:t>
                      </a:r>
                      <a:endParaRPr lang="en-US" sz="1100" dirty="0">
                        <a:latin typeface="Calibri" charset="0"/>
                        <a:ea typeface="Calibri" charset="0"/>
                        <a:cs typeface="Calibri" charset="0"/>
                      </a:endParaRPr>
                    </a:p>
                  </a:txBody>
                  <a:tcPr marL="64008" marR="64008" marT="18288" marB="18288"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Setia Safiro</a:t>
                      </a:r>
                      <a:endParaRPr lang="en-US" sz="1100" dirty="0">
                        <a:latin typeface="Calibri" charset="0"/>
                        <a:ea typeface="Calibri" charset="0"/>
                        <a:cs typeface="Calibri" charset="0"/>
                      </a:endParaRPr>
                    </a:p>
                  </a:txBody>
                  <a:tcPr marL="64008" marR="64008" marT="18288" marB="18288"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r">
                        <a:buNone/>
                      </a:pPr>
                      <a:r>
                        <a:rPr lang="en-US" sz="1100" dirty="0">
                          <a:solidFill>
                            <a:srgbClr val="2B2124"/>
                          </a:solidFill>
                          <a:latin typeface="Calibri" pitchFamily="34" charset="0"/>
                          <a:ea typeface="Calibri" pitchFamily="34" charset="-122"/>
                          <a:cs typeface="Calibri" pitchFamily="34" charset="-120"/>
                        </a:rPr>
                        <a:t>9.1</a:t>
                      </a:r>
                      <a:endParaRPr lang="en-US" sz="1100" dirty="0">
                        <a:latin typeface="Calibri" charset="0"/>
                        <a:ea typeface="Calibri" charset="0"/>
                        <a:cs typeface="Calibri" charset="0"/>
                      </a:endParaRPr>
                    </a:p>
                  </a:txBody>
                  <a:tcPr marL="64008" marR="64008" marT="18288" marB="18288"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extLst>
                  <a:ext uri="{0D108BD9-81ED-4DB2-BD59-A6C34878D82A}">
                    <a16:rowId xmlns:a16="http://schemas.microsoft.com/office/drawing/2014/main" val="10004"/>
                  </a:ext>
                </a:extLst>
              </a:tr>
            </a:tbl>
          </a:graphicData>
        </a:graphic>
      </p:graphicFrame>
      <p:sp>
        <p:nvSpPr>
          <p:cNvPr id="12" name="Shape 7"/>
          <p:cNvSpPr/>
          <p:nvPr/>
        </p:nvSpPr>
        <p:spPr>
          <a:xfrm>
            <a:off x="5760720" y="4462272"/>
            <a:ext cx="347472" cy="347472"/>
          </a:xfrm>
          <a:prstGeom prst="ellipse">
            <a:avLst/>
          </a:prstGeom>
          <a:solidFill>
            <a:srgbClr val="C99474"/>
          </a:solidFill>
          <a:ln w="12700">
            <a:solidFill>
              <a:srgbClr val="C99474"/>
            </a:solidFill>
            <a:prstDash val="solid"/>
          </a:ln>
        </p:spPr>
        <p:txBody>
          <a:bodyPr/>
          <a:lstStyle/>
          <a:p>
            <a:endParaRPr lang="en-US"/>
          </a:p>
        </p:txBody>
      </p:sp>
      <p:sp>
        <p:nvSpPr>
          <p:cNvPr id="13" name="Text 8"/>
          <p:cNvSpPr txBox="1"/>
          <p:nvPr/>
        </p:nvSpPr>
        <p:spPr>
          <a:xfrm>
            <a:off x="5760720" y="446227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4" name="Text 9"/>
          <p:cNvSpPr txBox="1"/>
          <p:nvPr/>
        </p:nvSpPr>
        <p:spPr>
          <a:xfrm>
            <a:off x="6263640" y="4434840"/>
            <a:ext cx="5379415" cy="576072"/>
          </a:xfrm>
          <a:prstGeom prst="rect">
            <a:avLst/>
          </a:prstGeom>
          <a:noFill/>
          <a:ln/>
        </p:spPr>
        <p:txBody>
          <a:bodyPr wrap="square" lIns="0" tIns="0" rIns="0" bIns="0" rtlCol="0" anchor="t"/>
          <a:lstStyle/>
          <a:p>
            <a:pPr marL="0" indent="0">
              <a:spcAft>
                <a:spcPts val="200"/>
              </a:spcAft>
              <a:buNone/>
            </a:pPr>
            <a:r>
              <a:rPr lang="en-US" sz="1250" b="1" dirty="0">
                <a:solidFill>
                  <a:srgbClr val="2E1F27"/>
                </a:solidFill>
                <a:latin typeface="Calibri" pitchFamily="34" charset="0"/>
                <a:ea typeface="Calibri" pitchFamily="34" charset="-122"/>
                <a:cs typeface="Calibri" pitchFamily="34" charset="-120"/>
              </a:rPr>
              <a:t>Referral targets.  </a:t>
            </a:r>
            <a:r>
              <a:rPr lang="en-US" sz="1250" dirty="0">
                <a:solidFill>
                  <a:srgbClr val="2B2124"/>
                </a:solidFill>
                <a:latin typeface="Calibri" pitchFamily="34" charset="0"/>
                <a:ea typeface="Calibri" pitchFamily="34" charset="-122"/>
                <a:cs typeface="Calibri" pitchFamily="34" charset="-120"/>
              </a:rPr>
              <a:t>X2 Residency (4 students), Desa Impiana (1) and Elevia (1) already have Ballotté families. RM 50 referral to these condo. </a:t>
            </a:r>
            <a:endParaRPr lang="en-US" sz="1250" dirty="0"/>
          </a:p>
        </p:txBody>
      </p:sp>
      <p:sp>
        <p:nvSpPr>
          <p:cNvPr id="15" name="Shape 10"/>
          <p:cNvSpPr/>
          <p:nvPr/>
        </p:nvSpPr>
        <p:spPr>
          <a:xfrm>
            <a:off x="5760720" y="5084064"/>
            <a:ext cx="347472" cy="347472"/>
          </a:xfrm>
          <a:prstGeom prst="ellipse">
            <a:avLst/>
          </a:prstGeom>
          <a:solidFill>
            <a:srgbClr val="C99474"/>
          </a:solidFill>
          <a:ln w="12700">
            <a:solidFill>
              <a:srgbClr val="C99474"/>
            </a:solidFill>
            <a:prstDash val="solid"/>
          </a:ln>
        </p:spPr>
        <p:txBody>
          <a:bodyPr/>
          <a:lstStyle/>
          <a:p>
            <a:endParaRPr lang="en-US"/>
          </a:p>
        </p:txBody>
      </p:sp>
      <p:sp>
        <p:nvSpPr>
          <p:cNvPr id="16" name="Text 11"/>
          <p:cNvSpPr txBox="1"/>
          <p:nvPr/>
        </p:nvSpPr>
        <p:spPr>
          <a:xfrm>
            <a:off x="5760720" y="508406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7" name="Text 12"/>
          <p:cNvSpPr txBox="1"/>
          <p:nvPr/>
        </p:nvSpPr>
        <p:spPr>
          <a:xfrm>
            <a:off x="6263640" y="5056632"/>
            <a:ext cx="5379415" cy="576072"/>
          </a:xfrm>
          <a:prstGeom prst="rect">
            <a:avLst/>
          </a:prstGeom>
          <a:noFill/>
          <a:ln/>
        </p:spPr>
        <p:txBody>
          <a:bodyPr wrap="square" lIns="0" tIns="0" rIns="0" bIns="0" rtlCol="0" anchor="t"/>
          <a:lstStyle/>
          <a:p>
            <a:pPr marL="0" indent="0">
              <a:spcAft>
                <a:spcPts val="200"/>
              </a:spcAft>
              <a:buNone/>
            </a:pPr>
            <a:r>
              <a:rPr lang="en-US" sz="1250" b="1" dirty="0">
                <a:solidFill>
                  <a:srgbClr val="2E1F27"/>
                </a:solidFill>
                <a:latin typeface="Calibri" pitchFamily="34" charset="0"/>
                <a:ea typeface="Calibri" pitchFamily="34" charset="-122"/>
                <a:cs typeface="Calibri" pitchFamily="34" charset="-120"/>
              </a:rPr>
              <a:t>Cyberjaya needed a target.  </a:t>
            </a:r>
            <a:r>
              <a:rPr lang="en-US" sz="1250" dirty="0">
                <a:solidFill>
                  <a:srgbClr val="2B2124"/>
                </a:solidFill>
                <a:latin typeface="Calibri" pitchFamily="34" charset="0"/>
                <a:ea typeface="Calibri" pitchFamily="34" charset="-122"/>
                <a:cs typeface="Calibri" pitchFamily="34" charset="-120"/>
              </a:rPr>
              <a:t>Setia Safiro was added because Cyberjaya is the biggest student area (21) and had no target of its own.</a:t>
            </a:r>
            <a:endParaRPr lang="en-US" sz="1250" dirty="0"/>
          </a:p>
        </p:txBody>
      </p:sp>
      <p:sp>
        <p:nvSpPr>
          <p:cNvPr id="18" name="Shape 13"/>
          <p:cNvSpPr/>
          <p:nvPr/>
        </p:nvSpPr>
        <p:spPr>
          <a:xfrm>
            <a:off x="5760720" y="5705856"/>
            <a:ext cx="347472" cy="347472"/>
          </a:xfrm>
          <a:prstGeom prst="ellipse">
            <a:avLst/>
          </a:prstGeom>
          <a:solidFill>
            <a:srgbClr val="C99474"/>
          </a:solidFill>
          <a:ln w="12700">
            <a:solidFill>
              <a:srgbClr val="C99474"/>
            </a:solidFill>
            <a:prstDash val="solid"/>
          </a:ln>
        </p:spPr>
        <p:txBody>
          <a:bodyPr/>
          <a:lstStyle/>
          <a:p>
            <a:endParaRPr lang="en-US"/>
          </a:p>
        </p:txBody>
      </p:sp>
      <p:sp>
        <p:nvSpPr>
          <p:cNvPr id="19" name="Text 14"/>
          <p:cNvSpPr txBox="1"/>
          <p:nvPr/>
        </p:nvSpPr>
        <p:spPr>
          <a:xfrm>
            <a:off x="5760720" y="570585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0" name="Text 15"/>
          <p:cNvSpPr txBox="1"/>
          <p:nvPr/>
        </p:nvSpPr>
        <p:spPr>
          <a:xfrm>
            <a:off x="6263640" y="5678424"/>
            <a:ext cx="5379415" cy="576072"/>
          </a:xfrm>
          <a:prstGeom prst="rect">
            <a:avLst/>
          </a:prstGeom>
          <a:noFill/>
          <a:ln/>
        </p:spPr>
        <p:txBody>
          <a:bodyPr wrap="square" lIns="0" tIns="0" rIns="0" bIns="0" rtlCol="0" anchor="t"/>
          <a:lstStyle/>
          <a:p>
            <a:pPr marL="0" indent="0">
              <a:spcAft>
                <a:spcPts val="200"/>
              </a:spcAft>
              <a:buNone/>
            </a:pPr>
            <a:r>
              <a:rPr lang="en-US" sz="1250" b="1" dirty="0">
                <a:solidFill>
                  <a:srgbClr val="2E1F27"/>
                </a:solidFill>
                <a:latin typeface="Calibri" pitchFamily="34" charset="0"/>
                <a:ea typeface="Calibri" pitchFamily="34" charset="-122"/>
                <a:cs typeface="Calibri" pitchFamily="34" charset="-120"/>
              </a:rPr>
              <a:t>One weaker fit.  </a:t>
            </a:r>
            <a:r>
              <a:rPr lang="en-US" sz="1250" dirty="0">
                <a:solidFill>
                  <a:srgbClr val="2B2124"/>
                </a:solidFill>
                <a:latin typeface="Calibri" pitchFamily="34" charset="0"/>
                <a:ea typeface="Calibri" pitchFamily="34" charset="-122"/>
                <a:cs typeface="Calibri" pitchFamily="34" charset="-120"/>
              </a:rPr>
              <a:t>Desaria Villa houses many university students.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100" b="1" kern="0" spc="400" dirty="0">
                <a:solidFill>
                  <a:srgbClr val="9C6445"/>
                </a:solidFill>
                <a:latin typeface="Calibri" pitchFamily="34" charset="0"/>
                <a:ea typeface="Calibri" pitchFamily="34" charset="-122"/>
                <a:cs typeface="Calibri" pitchFamily="34" charset="-120"/>
              </a:rPr>
              <a:t>03  OUR COMPETITORS</a:t>
            </a:r>
            <a:endParaRPr lang="en-US" sz="1100" dirty="0"/>
          </a:p>
        </p:txBody>
      </p:sp>
      <p:sp>
        <p:nvSpPr>
          <p:cNvPr id="3" name="Text 1"/>
          <p:cNvSpPr txBox="1"/>
          <p:nvPr/>
        </p:nvSpPr>
        <p:spPr>
          <a:xfrm>
            <a:off x="548640" y="621792"/>
            <a:ext cx="10241280" cy="658368"/>
          </a:xfrm>
          <a:prstGeom prst="rect">
            <a:avLst/>
          </a:prstGeom>
          <a:noFill/>
          <a:ln/>
        </p:spPr>
        <p:txBody>
          <a:bodyPr wrap="square" lIns="0" tIns="0" rIns="0" bIns="0" rtlCol="0" anchor="ctr"/>
          <a:lstStyle/>
          <a:p>
            <a:pPr marL="0" indent="0">
              <a:buNone/>
            </a:pPr>
            <a:r>
              <a:rPr lang="en-US" sz="3000" b="1" dirty="0">
                <a:solidFill>
                  <a:srgbClr val="2E1F27"/>
                </a:solidFill>
                <a:latin typeface="Cambria" pitchFamily="34" charset="0"/>
                <a:ea typeface="Cambria" pitchFamily="34" charset="-122"/>
                <a:cs typeface="Cambria" pitchFamily="34" charset="-120"/>
              </a:rPr>
              <a:t>Ballet competitors near the studio</a:t>
            </a:r>
            <a:endParaRPr lang="en-US" sz="3000" dirty="0"/>
          </a:p>
        </p:txBody>
      </p:sp>
      <p:pic>
        <p:nvPicPr>
          <p:cNvPr id="4" name="Image 0" descr="/home/claude/deck/img/dancer_rose.png"/>
          <p:cNvPicPr>
            <a:picLocks noChangeAspect="1"/>
          </p:cNvPicPr>
          <p:nvPr/>
        </p:nvPicPr>
        <p:blipFill>
          <a:blip r:embed="rId3"/>
          <a:stretch>
            <a:fillRect/>
          </a:stretch>
        </p:blipFill>
        <p:spPr>
          <a:xfrm>
            <a:off x="11076127" y="292384"/>
            <a:ext cx="566928" cy="677105"/>
          </a:xfrm>
          <a:prstGeom prst="rect">
            <a:avLst/>
          </a:prstGeom>
        </p:spPr>
      </p:pic>
      <p:sp>
        <p:nvSpPr>
          <p:cNvPr id="5" name="Text 2"/>
          <p:cNvSpPr txBox="1"/>
          <p:nvPr/>
        </p:nvSpPr>
        <p:spPr>
          <a:xfrm>
            <a:off x="548640" y="6473952"/>
            <a:ext cx="4572000" cy="228600"/>
          </a:xfrm>
          <a:prstGeom prst="rect">
            <a:avLst/>
          </a:prstGeom>
          <a:noFill/>
          <a:ln/>
        </p:spPr>
        <p:txBody>
          <a:bodyPr wrap="square" lIns="0" tIns="0" rIns="0" bIns="0" rtlCol="0" anchor="ctr"/>
          <a:lstStyle/>
          <a:p>
            <a:pPr marL="0" indent="0">
              <a:buNone/>
            </a:pPr>
            <a:r>
              <a:rPr lang="en-US" sz="900" dirty="0">
                <a:solidFill>
                  <a:srgbClr val="6E6064"/>
                </a:solidFill>
                <a:latin typeface="Calibri" pitchFamily="34" charset="0"/>
                <a:ea typeface="Calibri" pitchFamily="34" charset="-122"/>
                <a:cs typeface="Calibri" pitchFamily="34" charset="-120"/>
              </a:rPr>
              <a:t>Ballotté Dance Academy #Puchong</a:t>
            </a:r>
            <a:endParaRPr lang="en-US" sz="900" dirty="0"/>
          </a:p>
        </p:txBody>
      </p:sp>
      <p:sp>
        <p:nvSpPr>
          <p:cNvPr id="6" name="Text 3"/>
          <p:cNvSpPr txBox="1"/>
          <p:nvPr/>
        </p:nvSpPr>
        <p:spPr>
          <a:xfrm>
            <a:off x="11185855" y="6473952"/>
            <a:ext cx="457200" cy="228600"/>
          </a:xfrm>
          <a:prstGeom prst="rect">
            <a:avLst/>
          </a:prstGeom>
          <a:noFill/>
          <a:ln/>
        </p:spPr>
        <p:txBody>
          <a:bodyPr wrap="square" lIns="0" tIns="0" rIns="0" bIns="0" rtlCol="0" anchor="ctr"/>
          <a:lstStyle/>
          <a:p>
            <a:pPr marL="0" indent="0" algn="r">
              <a:buNone/>
            </a:pPr>
            <a:r>
              <a:rPr lang="en-US" sz="900" dirty="0">
                <a:solidFill>
                  <a:srgbClr val="6E6064"/>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548640" y="1463040"/>
            <a:ext cx="4709160" cy="4709160"/>
          </a:xfrm>
          <a:prstGeom prst="roundRect">
            <a:avLst>
              <a:gd name="adj" fmla="val 1942"/>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pic>
        <p:nvPicPr>
          <p:cNvPr id="8" name="Image 1" descr="/home/claude/deck/img/ballotte_competitor_map_map.png"/>
          <p:cNvPicPr>
            <a:picLocks noChangeAspect="1"/>
          </p:cNvPicPr>
          <p:nvPr/>
        </p:nvPicPr>
        <p:blipFill>
          <a:blip r:embed="rId4"/>
          <a:stretch>
            <a:fillRect/>
          </a:stretch>
        </p:blipFill>
        <p:spPr>
          <a:xfrm>
            <a:off x="621792" y="1536192"/>
            <a:ext cx="4562856" cy="4562856"/>
          </a:xfrm>
          <a:prstGeom prst="rect">
            <a:avLst/>
          </a:prstGeom>
        </p:spPr>
      </p:pic>
      <p:sp>
        <p:nvSpPr>
          <p:cNvPr id="9" name="Text 5"/>
          <p:cNvSpPr txBox="1"/>
          <p:nvPr/>
        </p:nvSpPr>
        <p:spPr>
          <a:xfrm>
            <a:off x="5760720" y="1417320"/>
            <a:ext cx="5882335" cy="777240"/>
          </a:xfrm>
          <a:prstGeom prst="rect">
            <a:avLst/>
          </a:prstGeom>
          <a:noFill/>
          <a:ln/>
        </p:spPr>
        <p:txBody>
          <a:bodyPr wrap="square" lIns="0" tIns="0" rIns="0" bIns="0" rtlCol="0" anchor="b"/>
          <a:lstStyle/>
          <a:p>
            <a:pPr marL="0" indent="0">
              <a:buNone/>
            </a:pPr>
            <a:r>
              <a:rPr lang="en-US" sz="4400" b="1" dirty="0">
                <a:solidFill>
                  <a:srgbClr val="9E4A67"/>
                </a:solidFill>
                <a:latin typeface="Cambria" pitchFamily="34" charset="0"/>
                <a:ea typeface="Cambria" pitchFamily="34" charset="-122"/>
                <a:cs typeface="Cambria" pitchFamily="34" charset="-120"/>
              </a:rPr>
              <a:t>5</a:t>
            </a:r>
            <a:endParaRPr lang="en-US" sz="4400" dirty="0"/>
          </a:p>
        </p:txBody>
      </p:sp>
      <p:sp>
        <p:nvSpPr>
          <p:cNvPr id="10" name="Text 6"/>
          <p:cNvSpPr txBox="1"/>
          <p:nvPr/>
        </p:nvSpPr>
        <p:spPr>
          <a:xfrm>
            <a:off x="5760720" y="2221992"/>
            <a:ext cx="5882335" cy="457200"/>
          </a:xfrm>
          <a:prstGeom prst="rect">
            <a:avLst/>
          </a:prstGeom>
          <a:noFill/>
          <a:ln/>
        </p:spPr>
        <p:txBody>
          <a:bodyPr wrap="square" lIns="0" tIns="0" rIns="0" bIns="0" rtlCol="0" anchor="t"/>
          <a:lstStyle/>
          <a:p>
            <a:pPr marL="0" indent="0">
              <a:buNone/>
            </a:pPr>
            <a:r>
              <a:rPr lang="en-US" sz="1300" dirty="0">
                <a:solidFill>
                  <a:srgbClr val="6E6064"/>
                </a:solidFill>
                <a:latin typeface="Calibri" pitchFamily="34" charset="0"/>
                <a:ea typeface="Calibri" pitchFamily="34" charset="-122"/>
                <a:cs typeface="Calibri" pitchFamily="34" charset="-120"/>
              </a:rPr>
              <a:t>confirmed ballet schools inside 10 km</a:t>
            </a:r>
            <a:endParaRPr lang="en-US" sz="1300" dirty="0"/>
          </a:p>
        </p:txBody>
      </p:sp>
      <p:sp>
        <p:nvSpPr>
          <p:cNvPr id="11" name="Shape 7"/>
          <p:cNvSpPr/>
          <p:nvPr/>
        </p:nvSpPr>
        <p:spPr>
          <a:xfrm>
            <a:off x="5760720" y="2816352"/>
            <a:ext cx="347472" cy="347472"/>
          </a:xfrm>
          <a:prstGeom prst="ellipse">
            <a:avLst/>
          </a:prstGeom>
          <a:solidFill>
            <a:srgbClr val="C99474"/>
          </a:solidFill>
          <a:ln w="12700">
            <a:solidFill>
              <a:srgbClr val="C99474"/>
            </a:solidFill>
            <a:prstDash val="solid"/>
          </a:ln>
        </p:spPr>
        <p:txBody>
          <a:bodyPr/>
          <a:lstStyle/>
          <a:p>
            <a:endParaRPr lang="en-US"/>
          </a:p>
        </p:txBody>
      </p:sp>
      <p:sp>
        <p:nvSpPr>
          <p:cNvPr id="12" name="Text 8"/>
          <p:cNvSpPr txBox="1"/>
          <p:nvPr/>
        </p:nvSpPr>
        <p:spPr>
          <a:xfrm>
            <a:off x="5760720" y="281635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3" name="Text 9"/>
          <p:cNvSpPr txBox="1"/>
          <p:nvPr/>
        </p:nvSpPr>
        <p:spPr>
          <a:xfrm>
            <a:off x="6263640" y="2788920"/>
            <a:ext cx="5379415" cy="804672"/>
          </a:xfrm>
          <a:prstGeom prst="rect">
            <a:avLst/>
          </a:prstGeom>
          <a:noFill/>
          <a:ln/>
        </p:spPr>
        <p:txBody>
          <a:bodyPr wrap="square" lIns="0" tIns="0" rIns="0" bIns="0" rtlCol="0" anchor="t"/>
          <a:lstStyle/>
          <a:p>
            <a:pPr marL="0" indent="0">
              <a:spcAft>
                <a:spcPts val="200"/>
              </a:spcAft>
              <a:buNone/>
            </a:pPr>
            <a:r>
              <a:rPr lang="en-US" sz="1300" b="1" dirty="0">
                <a:solidFill>
                  <a:srgbClr val="2E1F27"/>
                </a:solidFill>
                <a:latin typeface="Calibri" pitchFamily="34" charset="0"/>
                <a:ea typeface="Calibri" pitchFamily="34" charset="-122"/>
                <a:cs typeface="Calibri" pitchFamily="34" charset="-120"/>
              </a:rPr>
              <a:t>One is on our doorstep.  </a:t>
            </a:r>
            <a:r>
              <a:rPr lang="en-US" sz="1300" dirty="0">
                <a:solidFill>
                  <a:srgbClr val="2B2124"/>
                </a:solidFill>
                <a:latin typeface="Calibri" pitchFamily="34" charset="0"/>
                <a:ea typeface="Calibri" pitchFamily="34" charset="-122"/>
                <a:cs typeface="Calibri" pitchFamily="34" charset="-120"/>
              </a:rPr>
              <a:t>Angie Lee Academy is the only one inside 5 km (1.7 km), and 12 of our 68 mapped students live within 2 km of it.</a:t>
            </a:r>
            <a:endParaRPr lang="en-US" sz="1300" dirty="0"/>
          </a:p>
        </p:txBody>
      </p:sp>
      <p:sp>
        <p:nvSpPr>
          <p:cNvPr id="14" name="Shape 10"/>
          <p:cNvSpPr/>
          <p:nvPr/>
        </p:nvSpPr>
        <p:spPr>
          <a:xfrm>
            <a:off x="5760720" y="3666744"/>
            <a:ext cx="347472" cy="347472"/>
          </a:xfrm>
          <a:prstGeom prst="ellipse">
            <a:avLst/>
          </a:prstGeom>
          <a:solidFill>
            <a:srgbClr val="C99474"/>
          </a:solidFill>
          <a:ln w="12700">
            <a:solidFill>
              <a:srgbClr val="C99474"/>
            </a:solidFill>
            <a:prstDash val="solid"/>
          </a:ln>
        </p:spPr>
        <p:txBody>
          <a:bodyPr/>
          <a:lstStyle/>
          <a:p>
            <a:endParaRPr lang="en-US"/>
          </a:p>
        </p:txBody>
      </p:sp>
      <p:sp>
        <p:nvSpPr>
          <p:cNvPr id="15" name="Text 11"/>
          <p:cNvSpPr txBox="1"/>
          <p:nvPr/>
        </p:nvSpPr>
        <p:spPr>
          <a:xfrm>
            <a:off x="5760720" y="366674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6" name="Text 12"/>
          <p:cNvSpPr txBox="1"/>
          <p:nvPr/>
        </p:nvSpPr>
        <p:spPr>
          <a:xfrm>
            <a:off x="6263640" y="3639312"/>
            <a:ext cx="5379415" cy="804672"/>
          </a:xfrm>
          <a:prstGeom prst="rect">
            <a:avLst/>
          </a:prstGeom>
          <a:noFill/>
          <a:ln/>
        </p:spPr>
        <p:txBody>
          <a:bodyPr wrap="square" lIns="0" tIns="0" rIns="0" bIns="0" rtlCol="0" anchor="t"/>
          <a:lstStyle/>
          <a:p>
            <a:pPr marL="0" indent="0">
              <a:spcAft>
                <a:spcPts val="200"/>
              </a:spcAft>
              <a:buNone/>
            </a:pPr>
            <a:r>
              <a:rPr lang="en-US" sz="1300" b="1" dirty="0">
                <a:solidFill>
                  <a:srgbClr val="2E1F27"/>
                </a:solidFill>
                <a:latin typeface="Calibri" pitchFamily="34" charset="0"/>
                <a:ea typeface="Calibri" pitchFamily="34" charset="-122"/>
                <a:cs typeface="Calibri" pitchFamily="34" charset="-120"/>
              </a:rPr>
              <a:t>The rest are north and east.  </a:t>
            </a:r>
            <a:r>
              <a:rPr lang="en-US" sz="1300" dirty="0">
                <a:solidFill>
                  <a:srgbClr val="2B2124"/>
                </a:solidFill>
                <a:latin typeface="Calibri" pitchFamily="34" charset="0"/>
                <a:ea typeface="Calibri" pitchFamily="34" charset="-122"/>
                <a:cs typeface="Calibri" pitchFamily="34" charset="-120"/>
              </a:rPr>
              <a:t>The other four sit around Puchong town, Kinrara and Seri Kembangan. None of our mapped students live within 3 km of them.</a:t>
            </a:r>
            <a:endParaRPr lang="en-US" sz="1300" dirty="0"/>
          </a:p>
        </p:txBody>
      </p:sp>
      <p:sp>
        <p:nvSpPr>
          <p:cNvPr id="17" name="Shape 13"/>
          <p:cNvSpPr/>
          <p:nvPr/>
        </p:nvSpPr>
        <p:spPr>
          <a:xfrm>
            <a:off x="5760720" y="4517136"/>
            <a:ext cx="347472" cy="347472"/>
          </a:xfrm>
          <a:prstGeom prst="ellipse">
            <a:avLst/>
          </a:prstGeom>
          <a:solidFill>
            <a:srgbClr val="C99474"/>
          </a:solidFill>
          <a:ln w="12700">
            <a:solidFill>
              <a:srgbClr val="C99474"/>
            </a:solidFill>
            <a:prstDash val="solid"/>
          </a:ln>
        </p:spPr>
        <p:txBody>
          <a:bodyPr/>
          <a:lstStyle/>
          <a:p>
            <a:endParaRPr lang="en-US"/>
          </a:p>
        </p:txBody>
      </p:sp>
      <p:sp>
        <p:nvSpPr>
          <p:cNvPr id="18" name="Text 14"/>
          <p:cNvSpPr txBox="1"/>
          <p:nvPr/>
        </p:nvSpPr>
        <p:spPr>
          <a:xfrm>
            <a:off x="5760720" y="451713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9" name="Text 15"/>
          <p:cNvSpPr txBox="1"/>
          <p:nvPr/>
        </p:nvSpPr>
        <p:spPr>
          <a:xfrm>
            <a:off x="6263640" y="4489704"/>
            <a:ext cx="5379415" cy="804672"/>
          </a:xfrm>
          <a:prstGeom prst="rect">
            <a:avLst/>
          </a:prstGeom>
          <a:noFill/>
          <a:ln/>
        </p:spPr>
        <p:txBody>
          <a:bodyPr wrap="square" lIns="0" tIns="0" rIns="0" bIns="0" rtlCol="0" anchor="t"/>
          <a:lstStyle/>
          <a:p>
            <a:pPr marL="0" indent="0">
              <a:spcAft>
                <a:spcPts val="200"/>
              </a:spcAft>
              <a:buNone/>
            </a:pPr>
            <a:r>
              <a:rPr lang="en-US" sz="1300" b="1" dirty="0">
                <a:solidFill>
                  <a:srgbClr val="2E1F27"/>
                </a:solidFill>
                <a:latin typeface="Calibri" pitchFamily="34" charset="0"/>
                <a:ea typeface="Calibri" pitchFamily="34" charset="-122"/>
                <a:cs typeface="Calibri" pitchFamily="34" charset="-120"/>
              </a:rPr>
              <a:t>Closest match.  </a:t>
            </a:r>
            <a:r>
              <a:rPr lang="en-US" sz="1300" dirty="0">
                <a:solidFill>
                  <a:srgbClr val="2B2124"/>
                </a:solidFill>
                <a:latin typeface="Calibri" pitchFamily="34" charset="0"/>
                <a:ea typeface="Calibri" pitchFamily="34" charset="-122"/>
                <a:cs typeface="Calibri" pitchFamily="34" charset="-120"/>
              </a:rPr>
              <a:t>Pointe &amp; Music teaches RAD, CSTD and Vaganova, the same three ballet syllabi as Ballotté.</a:t>
            </a:r>
            <a:endParaRPr lang="en-US" sz="1300" dirty="0"/>
          </a:p>
        </p:txBody>
      </p:sp>
      <p:sp>
        <p:nvSpPr>
          <p:cNvPr id="20" name="Shape 16"/>
          <p:cNvSpPr/>
          <p:nvPr/>
        </p:nvSpPr>
        <p:spPr>
          <a:xfrm>
            <a:off x="5760720" y="5367528"/>
            <a:ext cx="347472" cy="347472"/>
          </a:xfrm>
          <a:prstGeom prst="ellipse">
            <a:avLst/>
          </a:prstGeom>
          <a:solidFill>
            <a:srgbClr val="C99474"/>
          </a:solidFill>
          <a:ln w="12700">
            <a:solidFill>
              <a:srgbClr val="C99474"/>
            </a:solidFill>
            <a:prstDash val="solid"/>
          </a:ln>
        </p:spPr>
        <p:txBody>
          <a:bodyPr/>
          <a:lstStyle/>
          <a:p>
            <a:endParaRPr lang="en-US"/>
          </a:p>
        </p:txBody>
      </p:sp>
      <p:sp>
        <p:nvSpPr>
          <p:cNvPr id="21" name="Text 17"/>
          <p:cNvSpPr txBox="1"/>
          <p:nvPr/>
        </p:nvSpPr>
        <p:spPr>
          <a:xfrm>
            <a:off x="5760720" y="536752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2" name="Text 18"/>
          <p:cNvSpPr txBox="1"/>
          <p:nvPr/>
        </p:nvSpPr>
        <p:spPr>
          <a:xfrm>
            <a:off x="6263640" y="5340096"/>
            <a:ext cx="5379415" cy="804672"/>
          </a:xfrm>
          <a:prstGeom prst="rect">
            <a:avLst/>
          </a:prstGeom>
          <a:noFill/>
          <a:ln/>
        </p:spPr>
        <p:txBody>
          <a:bodyPr wrap="square" lIns="0" tIns="0" rIns="0" bIns="0" rtlCol="0" anchor="t"/>
          <a:lstStyle/>
          <a:p>
            <a:pPr marL="0" indent="0">
              <a:spcAft>
                <a:spcPts val="200"/>
              </a:spcAft>
              <a:buNone/>
            </a:pPr>
            <a:r>
              <a:rPr lang="en-US" sz="1300" b="1" dirty="0">
                <a:solidFill>
                  <a:srgbClr val="2E1F27"/>
                </a:solidFill>
                <a:latin typeface="Calibri" pitchFamily="34" charset="0"/>
                <a:ea typeface="Calibri" pitchFamily="34" charset="-122"/>
                <a:cs typeface="Calibri" pitchFamily="34" charset="-120"/>
              </a:rPr>
              <a:t>Cyberjaya is open.  </a:t>
            </a:r>
            <a:r>
              <a:rPr lang="en-US" sz="1300" dirty="0">
                <a:solidFill>
                  <a:srgbClr val="2B2124"/>
                </a:solidFill>
                <a:latin typeface="Calibri" pitchFamily="34" charset="0"/>
                <a:ea typeface="Calibri" pitchFamily="34" charset="-122"/>
                <a:cs typeface="Calibri" pitchFamily="34" charset="-120"/>
              </a:rPr>
              <a:t>No dedicated ballet school was found in Cyberjaya, where our largest group of students lives.</a:t>
            </a:r>
            <a:endParaRPr lang="en-US" sz="1300" dirty="0"/>
          </a:p>
        </p:txBody>
      </p:sp>
      <p:sp>
        <p:nvSpPr>
          <p:cNvPr id="23" name="Text 19"/>
          <p:cNvSpPr txBox="1"/>
          <p:nvPr/>
        </p:nvSpPr>
        <p:spPr>
          <a:xfrm>
            <a:off x="5760720" y="5989320"/>
            <a:ext cx="5882335" cy="320040"/>
          </a:xfrm>
          <a:prstGeom prst="rect">
            <a:avLst/>
          </a:prstGeom>
          <a:noFill/>
          <a:ln/>
        </p:spPr>
        <p:txBody>
          <a:bodyPr wrap="square" lIns="0" tIns="0" rIns="0" bIns="0" rtlCol="0" anchor="ctr"/>
          <a:lstStyle/>
          <a:p>
            <a:pPr marL="0" indent="0">
              <a:buNone/>
            </a:pPr>
            <a:r>
              <a:rPr lang="en-US" sz="1000" i="1" dirty="0">
                <a:solidFill>
                  <a:srgbClr val="6E6064"/>
                </a:solidFill>
                <a:latin typeface="Calibri" pitchFamily="34" charset="0"/>
                <a:ea typeface="Calibri" pitchFamily="34" charset="-122"/>
                <a:cs typeface="Calibri" pitchFamily="34" charset="-120"/>
              </a:rPr>
              <a:t>Pins are placed by shop block; distances are straight-line, not driving.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100" b="1" kern="0" spc="400" dirty="0">
                <a:solidFill>
                  <a:srgbClr val="9C6445"/>
                </a:solidFill>
                <a:latin typeface="Calibri" pitchFamily="34" charset="0"/>
                <a:ea typeface="Calibri" pitchFamily="34" charset="-122"/>
                <a:cs typeface="Calibri" pitchFamily="34" charset="-120"/>
              </a:rPr>
              <a:t>03  OUR COMPETITORS</a:t>
            </a:r>
            <a:endParaRPr lang="en-US" sz="1100" dirty="0"/>
          </a:p>
        </p:txBody>
      </p:sp>
      <p:sp>
        <p:nvSpPr>
          <p:cNvPr id="3" name="Text 1"/>
          <p:cNvSpPr txBox="1"/>
          <p:nvPr/>
        </p:nvSpPr>
        <p:spPr>
          <a:xfrm>
            <a:off x="548640" y="621792"/>
            <a:ext cx="10241280" cy="658368"/>
          </a:xfrm>
          <a:prstGeom prst="rect">
            <a:avLst/>
          </a:prstGeom>
          <a:noFill/>
          <a:ln/>
        </p:spPr>
        <p:txBody>
          <a:bodyPr wrap="square" lIns="0" tIns="0" rIns="0" bIns="0" rtlCol="0" anchor="ctr"/>
          <a:lstStyle/>
          <a:p>
            <a:pPr marL="0" indent="0">
              <a:buNone/>
            </a:pPr>
            <a:r>
              <a:rPr lang="en-US" sz="3000" b="1" dirty="0">
                <a:solidFill>
                  <a:srgbClr val="2E1F27"/>
                </a:solidFill>
                <a:latin typeface="Cambria" pitchFamily="34" charset="0"/>
                <a:ea typeface="Cambria" pitchFamily="34" charset="-122"/>
                <a:cs typeface="Cambria" pitchFamily="34" charset="-120"/>
              </a:rPr>
              <a:t>Who they are</a:t>
            </a:r>
            <a:endParaRPr lang="en-US" sz="3000" dirty="0"/>
          </a:p>
        </p:txBody>
      </p:sp>
      <p:pic>
        <p:nvPicPr>
          <p:cNvPr id="4" name="Image 0" descr="/home/claude/deck/img/dancer_rose.png"/>
          <p:cNvPicPr>
            <a:picLocks noChangeAspect="1"/>
          </p:cNvPicPr>
          <p:nvPr/>
        </p:nvPicPr>
        <p:blipFill>
          <a:blip r:embed="rId3"/>
          <a:stretch>
            <a:fillRect/>
          </a:stretch>
        </p:blipFill>
        <p:spPr>
          <a:xfrm>
            <a:off x="11076127" y="292384"/>
            <a:ext cx="566928" cy="677105"/>
          </a:xfrm>
          <a:prstGeom prst="rect">
            <a:avLst/>
          </a:prstGeom>
        </p:spPr>
      </p:pic>
      <p:sp>
        <p:nvSpPr>
          <p:cNvPr id="5" name="Text 2"/>
          <p:cNvSpPr txBox="1"/>
          <p:nvPr/>
        </p:nvSpPr>
        <p:spPr>
          <a:xfrm>
            <a:off x="548640" y="6473952"/>
            <a:ext cx="4572000" cy="228600"/>
          </a:xfrm>
          <a:prstGeom prst="rect">
            <a:avLst/>
          </a:prstGeom>
          <a:noFill/>
          <a:ln/>
        </p:spPr>
        <p:txBody>
          <a:bodyPr wrap="square" lIns="0" tIns="0" rIns="0" bIns="0" rtlCol="0" anchor="ctr"/>
          <a:lstStyle/>
          <a:p>
            <a:pPr marL="0" indent="0">
              <a:buNone/>
            </a:pPr>
            <a:r>
              <a:rPr lang="en-US" sz="900" dirty="0">
                <a:solidFill>
                  <a:srgbClr val="6E6064"/>
                </a:solidFill>
                <a:latin typeface="Calibri" pitchFamily="34" charset="0"/>
                <a:ea typeface="Calibri" pitchFamily="34" charset="-122"/>
                <a:cs typeface="Calibri" pitchFamily="34" charset="-120"/>
              </a:rPr>
              <a:t>Ballotté Dance Academy #Puchong</a:t>
            </a:r>
            <a:endParaRPr lang="en-US" sz="900" dirty="0"/>
          </a:p>
        </p:txBody>
      </p:sp>
      <p:sp>
        <p:nvSpPr>
          <p:cNvPr id="6" name="Text 3"/>
          <p:cNvSpPr txBox="1"/>
          <p:nvPr/>
        </p:nvSpPr>
        <p:spPr>
          <a:xfrm>
            <a:off x="11185855" y="6473952"/>
            <a:ext cx="457200" cy="228600"/>
          </a:xfrm>
          <a:prstGeom prst="rect">
            <a:avLst/>
          </a:prstGeom>
          <a:noFill/>
          <a:ln/>
        </p:spPr>
        <p:txBody>
          <a:bodyPr wrap="square" lIns="0" tIns="0" rIns="0" bIns="0" rtlCol="0" anchor="ctr"/>
          <a:lstStyle/>
          <a:p>
            <a:pPr marL="0" indent="0" algn="r">
              <a:buNone/>
            </a:pPr>
            <a:r>
              <a:rPr lang="en-US" sz="900" dirty="0">
                <a:solidFill>
                  <a:srgbClr val="6E6064"/>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3246120"/>
        </p:xfrm>
        <a:graphic>
          <a:graphicData uri="http://schemas.openxmlformats.org/drawingml/2006/table">
            <a:tbl>
              <a:tblPr/>
              <a:tblGrid>
                <a:gridCol w="4114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3611880">
                  <a:extLst>
                    <a:ext uri="{9D8B030D-6E8A-4147-A177-3AD203B41FA5}">
                      <a16:colId xmlns:a16="http://schemas.microsoft.com/office/drawing/2014/main" val="20004"/>
                    </a:ext>
                  </a:extLst>
                </a:gridCol>
                <a:gridCol w="1261872">
                  <a:extLst>
                    <a:ext uri="{9D8B030D-6E8A-4147-A177-3AD203B41FA5}">
                      <a16:colId xmlns:a16="http://schemas.microsoft.com/office/drawing/2014/main" val="20005"/>
                    </a:ext>
                  </a:extLst>
                </a:gridCol>
              </a:tblGrid>
              <a:tr h="41148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Studio</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Area</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Distance</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they teach</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Similarity</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extLst>
                  <a:ext uri="{0D108BD9-81ED-4DB2-BD59-A6C34878D82A}">
                    <a16:rowId xmlns:a16="http://schemas.microsoft.com/office/drawing/2014/main" val="10000"/>
                  </a:ext>
                </a:extLst>
              </a:tr>
              <a:tr h="566928">
                <a:tc>
                  <a:txBody>
                    <a:bodyPr/>
                    <a:lstStyle/>
                    <a:p>
                      <a:pPr marL="0" indent="0" algn="ctr">
                        <a:buNone/>
                      </a:pPr>
                      <a:r>
                        <a:rPr lang="en-US" sz="1100" b="1" dirty="0">
                          <a:solidFill>
                            <a:srgbClr val="9C6445"/>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Pointe &amp; Music Dance Academy</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Taman Equine, Seri Kembangan</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B2124"/>
                          </a:solidFill>
                          <a:latin typeface="Calibri" pitchFamily="34" charset="0"/>
                          <a:ea typeface="Calibri" pitchFamily="34" charset="-122"/>
                          <a:cs typeface="Calibri" pitchFamily="34" charset="-120"/>
                        </a:rPr>
                        <a:t>6.6 km</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RAD, CSTD and Vaganova ballet, contemporary, competitions</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b="1" dirty="0">
                          <a:solidFill>
                            <a:srgbClr val="4A148C"/>
                          </a:solidFill>
                          <a:latin typeface="Calibri" pitchFamily="34" charset="0"/>
                          <a:ea typeface="Calibri" pitchFamily="34" charset="-122"/>
                          <a:cs typeface="Calibri" pitchFamily="34" charset="-120"/>
                        </a:rPr>
                        <a:t>Very high</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ctr">
                        <a:buNone/>
                      </a:pPr>
                      <a:r>
                        <a:rPr lang="en-US" sz="1100" b="1" dirty="0">
                          <a:solidFill>
                            <a:srgbClr val="9C6445"/>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Angie Lee Academy</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Prima Biz Hub, Taman Tasik Prima</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r">
                        <a:buNone/>
                      </a:pPr>
                      <a:r>
                        <a:rPr lang="en-US" sz="1100" dirty="0">
                          <a:solidFill>
                            <a:srgbClr val="2B2124"/>
                          </a:solidFill>
                          <a:latin typeface="Calibri" pitchFamily="34" charset="0"/>
                          <a:ea typeface="Calibri" pitchFamily="34" charset="-122"/>
                          <a:cs typeface="Calibri" pitchFamily="34" charset="-120"/>
                        </a:rPr>
                        <a:t>1.7 km</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RAD classical ballet, modern jazz, K-pop, adult ballet</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buNone/>
                      </a:pPr>
                      <a:r>
                        <a:rPr lang="en-US" sz="1100" b="1" dirty="0">
                          <a:solidFill>
                            <a:srgbClr val="00796B"/>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extLst>
                  <a:ext uri="{0D108BD9-81ED-4DB2-BD59-A6C34878D82A}">
                    <a16:rowId xmlns:a16="http://schemas.microsoft.com/office/drawing/2014/main" val="10002"/>
                  </a:ext>
                </a:extLst>
              </a:tr>
              <a:tr h="566928">
                <a:tc>
                  <a:txBody>
                    <a:bodyPr/>
                    <a:lstStyle/>
                    <a:p>
                      <a:pPr marL="0" indent="0" algn="ctr">
                        <a:buNone/>
                      </a:pPr>
                      <a:r>
                        <a:rPr lang="en-US" sz="1100" b="1" dirty="0">
                          <a:solidFill>
                            <a:srgbClr val="9C6445"/>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The Great Dance Academy</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Jalan Puteri 1/4, Bandar Puteri</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B2124"/>
                          </a:solidFill>
                          <a:latin typeface="Calibri" pitchFamily="34" charset="0"/>
                          <a:ea typeface="Calibri" pitchFamily="34" charset="-122"/>
                          <a:cs typeface="Calibri" pitchFamily="34" charset="-120"/>
                        </a:rPr>
                        <a:t>5.0 km</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RAD ballet from age 4, contemporary, exams, competitions</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b="1" dirty="0">
                          <a:solidFill>
                            <a:srgbClr val="00796B"/>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ctr">
                        <a:buNone/>
                      </a:pPr>
                      <a:r>
                        <a:rPr lang="en-US" sz="1100" b="1" dirty="0">
                          <a:solidFill>
                            <a:srgbClr val="9C6445"/>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Dance Rise Studio</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Jalan BK5a/2, Bandar Kinrara</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r">
                        <a:buNone/>
                      </a:pPr>
                      <a:r>
                        <a:rPr lang="en-US" sz="1100" dirty="0">
                          <a:solidFill>
                            <a:srgbClr val="2B2124"/>
                          </a:solidFill>
                          <a:latin typeface="Calibri" pitchFamily="34" charset="0"/>
                          <a:ea typeface="Calibri" pitchFamily="34" charset="-122"/>
                          <a:cs typeface="Calibri" pitchFamily="34" charset="-120"/>
                        </a:rPr>
                        <a:t>8.5 km</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Ballet-focused: kids' classical ballet plus adult barre</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buNone/>
                      </a:pPr>
                      <a:r>
                        <a:rPr lang="en-US" sz="1100" b="1" dirty="0">
                          <a:solidFill>
                            <a:srgbClr val="00796B"/>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extLst>
                  <a:ext uri="{0D108BD9-81ED-4DB2-BD59-A6C34878D82A}">
                    <a16:rowId xmlns:a16="http://schemas.microsoft.com/office/drawing/2014/main" val="10004"/>
                  </a:ext>
                </a:extLst>
              </a:tr>
              <a:tr h="566928">
                <a:tc>
                  <a:txBody>
                    <a:bodyPr/>
                    <a:lstStyle/>
                    <a:p>
                      <a:pPr marL="0" indent="0" algn="ctr">
                        <a:buNone/>
                      </a:pPr>
                      <a:r>
                        <a:rPr lang="en-US" sz="1100" b="1" dirty="0">
                          <a:solidFill>
                            <a:srgbClr val="9C6445"/>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Dua Space Dance Academy</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Jalan Kenari 11, Bandar Puchong Jaya</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B2124"/>
                          </a:solidFill>
                          <a:latin typeface="Calibri" pitchFamily="34" charset="0"/>
                          <a:ea typeface="Calibri" pitchFamily="34" charset="-122"/>
                          <a:cs typeface="Calibri" pitchFamily="34" charset="-120"/>
                        </a:rPr>
                        <a:t>7.5 km</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CSTD classical ballet; professional contemporary dance company</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b="1" dirty="0">
                          <a:solidFill>
                            <a:srgbClr val="C25E00"/>
                          </a:solidFill>
                          <a:latin typeface="Calibri" pitchFamily="34" charset="0"/>
                          <a:ea typeface="Calibri" pitchFamily="34" charset="-122"/>
                          <a:cs typeface="Calibri" pitchFamily="34" charset="-120"/>
                        </a:rPr>
                        <a:t>Medium-high</a:t>
                      </a:r>
                      <a:endParaRPr lang="en-US" sz="1100" dirty="0">
                        <a:latin typeface="Calibri" charset="0"/>
                        <a:ea typeface="Calibri" charset="0"/>
                        <a:cs typeface="Calibri" charset="0"/>
                      </a:endParaRPr>
                    </a:p>
                  </a:txBody>
                  <a:tcPr marT="36576" marB="36576"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hape 4"/>
          <p:cNvSpPr/>
          <p:nvPr/>
        </p:nvSpPr>
        <p:spPr>
          <a:xfrm>
            <a:off x="548640" y="5074920"/>
            <a:ext cx="11094415" cy="960120"/>
          </a:xfrm>
          <a:prstGeom prst="roundRect">
            <a:avLst>
              <a:gd name="adj" fmla="val 9524"/>
            </a:avLst>
          </a:prstGeom>
          <a:solidFill>
            <a:srgbClr val="F8EEEA"/>
          </a:solidFill>
          <a:ln w="9525">
            <a:solidFill>
              <a:srgbClr val="E6D3CB"/>
            </a:solidFill>
            <a:prstDash val="solid"/>
          </a:ln>
        </p:spPr>
        <p:txBody>
          <a:bodyPr/>
          <a:lstStyle/>
          <a:p>
            <a:endParaRPr lang="en-US"/>
          </a:p>
        </p:txBody>
      </p:sp>
      <p:pic>
        <p:nvPicPr>
          <p:cNvPr id="7" name="Image 1" descr="/home/claude/deck/img/dancer_rose.png"/>
          <p:cNvPicPr>
            <a:picLocks noChangeAspect="1"/>
          </p:cNvPicPr>
          <p:nvPr/>
        </p:nvPicPr>
        <p:blipFill>
          <a:blip r:embed="rId3"/>
          <a:stretch>
            <a:fillRect/>
          </a:stretch>
        </p:blipFill>
        <p:spPr>
          <a:xfrm>
            <a:off x="777240" y="5172744"/>
            <a:ext cx="640080" cy="764473"/>
          </a:xfrm>
          <a:prstGeom prst="rect">
            <a:avLst/>
          </a:prstGeom>
        </p:spPr>
      </p:pic>
      <p:sp>
        <p:nvSpPr>
          <p:cNvPr id="10" name="Text 5"/>
          <p:cNvSpPr txBox="1"/>
          <p:nvPr/>
        </p:nvSpPr>
        <p:spPr>
          <a:xfrm>
            <a:off x="1600200" y="5138928"/>
            <a:ext cx="9814255" cy="822960"/>
          </a:xfrm>
          <a:prstGeom prst="rect">
            <a:avLst/>
          </a:prstGeom>
          <a:noFill/>
          <a:ln/>
        </p:spPr>
        <p:txBody>
          <a:bodyPr wrap="square" lIns="0" tIns="0" rIns="0" bIns="0" rtlCol="0" anchor="ctr"/>
          <a:lstStyle/>
          <a:p>
            <a:pPr marL="0" indent="0">
              <a:buNone/>
            </a:pPr>
            <a:r>
              <a:rPr lang="en-US" sz="1300" b="1" dirty="0">
                <a:solidFill>
                  <a:srgbClr val="2E1F27"/>
                </a:solidFill>
                <a:latin typeface="Calibri" pitchFamily="34" charset="0"/>
                <a:ea typeface="Calibri" pitchFamily="34" charset="-122"/>
                <a:cs typeface="Calibri" pitchFamily="34" charset="-120"/>
              </a:rPr>
              <a:t>How similarity was judged:  </a:t>
            </a:r>
            <a:r>
              <a:rPr lang="en-US" sz="1300" dirty="0">
                <a:solidFill>
                  <a:srgbClr val="2B2124"/>
                </a:solidFill>
                <a:latin typeface="Calibri" pitchFamily="34" charset="0"/>
                <a:ea typeface="Calibri" pitchFamily="34" charset="-122"/>
                <a:cs typeface="Calibri" pitchFamily="34" charset="-120"/>
              </a:rPr>
              <a:t>against what Ballotté teaches, which is RAD, CSTD and Vaganova ballet plus modern contemporary, with competition training. Studios where ballet is only a side class were left out.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100" b="1" kern="0" spc="400" dirty="0">
                <a:solidFill>
                  <a:srgbClr val="9C6445"/>
                </a:solidFill>
                <a:latin typeface="Calibri" pitchFamily="34" charset="0"/>
                <a:ea typeface="Calibri" pitchFamily="34" charset="-122"/>
                <a:cs typeface="Calibri" pitchFamily="34" charset="-120"/>
              </a:rPr>
              <a:t>04  ONLINE PRESENCE</a:t>
            </a:r>
            <a:endParaRPr lang="en-US" sz="1100" dirty="0"/>
          </a:p>
        </p:txBody>
      </p:sp>
      <p:sp>
        <p:nvSpPr>
          <p:cNvPr id="3" name="Text 1"/>
          <p:cNvSpPr txBox="1"/>
          <p:nvPr/>
        </p:nvSpPr>
        <p:spPr>
          <a:xfrm>
            <a:off x="548640" y="621792"/>
            <a:ext cx="10241280" cy="658368"/>
          </a:xfrm>
          <a:prstGeom prst="rect">
            <a:avLst/>
          </a:prstGeom>
          <a:noFill/>
          <a:ln/>
        </p:spPr>
        <p:txBody>
          <a:bodyPr wrap="square" lIns="0" tIns="0" rIns="0" bIns="0" rtlCol="0" anchor="ctr"/>
          <a:lstStyle/>
          <a:p>
            <a:pPr marL="0" indent="0">
              <a:buNone/>
            </a:pPr>
            <a:r>
              <a:rPr lang="en-US" sz="3000" b="1" dirty="0">
                <a:solidFill>
                  <a:srgbClr val="2E1F27"/>
                </a:solidFill>
                <a:latin typeface="Cambria" pitchFamily="34" charset="0"/>
                <a:ea typeface="Cambria" pitchFamily="34" charset="-122"/>
                <a:cs typeface="Cambria" pitchFamily="34" charset="-120"/>
              </a:rPr>
              <a:t>How everyone shows up online</a:t>
            </a:r>
            <a:endParaRPr lang="en-US" sz="3000" dirty="0"/>
          </a:p>
        </p:txBody>
      </p:sp>
      <p:pic>
        <p:nvPicPr>
          <p:cNvPr id="4" name="Image 0" descr="/home/claude/deck/img/dancer_rose.png"/>
          <p:cNvPicPr>
            <a:picLocks noChangeAspect="1"/>
          </p:cNvPicPr>
          <p:nvPr/>
        </p:nvPicPr>
        <p:blipFill>
          <a:blip r:embed="rId3"/>
          <a:stretch>
            <a:fillRect/>
          </a:stretch>
        </p:blipFill>
        <p:spPr>
          <a:xfrm>
            <a:off x="11076127" y="292384"/>
            <a:ext cx="566928" cy="677105"/>
          </a:xfrm>
          <a:prstGeom prst="rect">
            <a:avLst/>
          </a:prstGeom>
        </p:spPr>
      </p:pic>
      <p:sp>
        <p:nvSpPr>
          <p:cNvPr id="5" name="Text 2"/>
          <p:cNvSpPr txBox="1"/>
          <p:nvPr/>
        </p:nvSpPr>
        <p:spPr>
          <a:xfrm>
            <a:off x="548640" y="6473952"/>
            <a:ext cx="4572000" cy="228600"/>
          </a:xfrm>
          <a:prstGeom prst="rect">
            <a:avLst/>
          </a:prstGeom>
          <a:noFill/>
          <a:ln/>
        </p:spPr>
        <p:txBody>
          <a:bodyPr wrap="square" lIns="0" tIns="0" rIns="0" bIns="0" rtlCol="0" anchor="ctr"/>
          <a:lstStyle/>
          <a:p>
            <a:pPr marL="0" indent="0">
              <a:buNone/>
            </a:pPr>
            <a:r>
              <a:rPr lang="en-US" sz="900" dirty="0">
                <a:solidFill>
                  <a:srgbClr val="6E6064"/>
                </a:solidFill>
                <a:latin typeface="Calibri" pitchFamily="34" charset="0"/>
                <a:ea typeface="Calibri" pitchFamily="34" charset="-122"/>
                <a:cs typeface="Calibri" pitchFamily="34" charset="-120"/>
              </a:rPr>
              <a:t>Ballotté Dance Academy #Puchong</a:t>
            </a:r>
            <a:endParaRPr lang="en-US" sz="900" dirty="0"/>
          </a:p>
        </p:txBody>
      </p:sp>
      <p:sp>
        <p:nvSpPr>
          <p:cNvPr id="6" name="Text 3"/>
          <p:cNvSpPr txBox="1"/>
          <p:nvPr/>
        </p:nvSpPr>
        <p:spPr>
          <a:xfrm>
            <a:off x="11185855" y="6473952"/>
            <a:ext cx="457200" cy="228600"/>
          </a:xfrm>
          <a:prstGeom prst="rect">
            <a:avLst/>
          </a:prstGeom>
          <a:noFill/>
          <a:ln/>
        </p:spPr>
        <p:txBody>
          <a:bodyPr wrap="square" lIns="0" tIns="0" rIns="0" bIns="0" rtlCol="0" anchor="ctr"/>
          <a:lstStyle/>
          <a:p>
            <a:pPr marL="0" indent="0" algn="r">
              <a:buNone/>
            </a:pPr>
            <a:r>
              <a:rPr lang="en-US" sz="900" dirty="0">
                <a:solidFill>
                  <a:srgbClr val="6E6064"/>
                </a:solidFill>
                <a:latin typeface="Calibri" pitchFamily="34" charset="0"/>
                <a:ea typeface="Calibri" pitchFamily="34" charset="-122"/>
                <a:cs typeface="Calibri"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077712836"/>
              </p:ext>
            </p:extLst>
          </p:nvPr>
        </p:nvGraphicFramePr>
        <p:xfrm>
          <a:off x="548640" y="1508760"/>
          <a:ext cx="11091672" cy="4297680"/>
        </p:xfrm>
        <a:graphic>
          <a:graphicData uri="http://schemas.openxmlformats.org/drawingml/2006/table">
            <a:tbl>
              <a:tblPr/>
              <a:tblGrid>
                <a:gridCol w="2770632">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645920">
                  <a:extLst>
                    <a:ext uri="{9D8B030D-6E8A-4147-A177-3AD203B41FA5}">
                      <a16:colId xmlns:a16="http://schemas.microsoft.com/office/drawing/2014/main" val="20006"/>
                    </a:ext>
                  </a:extLst>
                </a:gridCol>
              </a:tblGrid>
              <a:tr h="429768">
                <a:tc>
                  <a:txBody>
                    <a:bodyPr/>
                    <a:lstStyle/>
                    <a:p>
                      <a:pPr marL="0" indent="0" algn="l">
                        <a:buNone/>
                      </a:pP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Ballotté</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9E4A6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Pointe &amp; Music</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Angie Lee</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Great Dance</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Dance Rise</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Dua Space</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extLst>
                  <a:ext uri="{0D108BD9-81ED-4DB2-BD59-A6C34878D82A}">
                    <a16:rowId xmlns:a16="http://schemas.microsoft.com/office/drawing/2014/main" val="10000"/>
                  </a:ext>
                </a:extLst>
              </a:tr>
              <a:tr h="429768">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Website</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C62828"/>
                          </a:solidFill>
                          <a:latin typeface="Calibri" pitchFamily="34" charset="0"/>
                          <a:ea typeface="Calibri" pitchFamily="34" charset="-122"/>
                          <a:cs typeface="Calibri" pitchFamily="34" charset="-120"/>
                        </a:rPr>
                        <a:t>Gambling site</a:t>
                      </a:r>
                      <a:endParaRPr lang="en-US" sz="10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AF0F3"/>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Facebook followers</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b="1" dirty="0">
                          <a:solidFill>
                            <a:srgbClr val="2B2124"/>
                          </a:solidFill>
                          <a:latin typeface="Calibri" pitchFamily="34" charset="0"/>
                          <a:ea typeface="Calibri" pitchFamily="34" charset="-122"/>
                          <a:cs typeface="Calibri" pitchFamily="34" charset="-120"/>
                        </a:rPr>
                        <a:t>406</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3E0E6"/>
                    </a:solidFill>
                  </a:tcPr>
                </a:tc>
                <a:tc>
                  <a:txBody>
                    <a:bodyPr/>
                    <a:lstStyle/>
                    <a:p>
                      <a:pPr marL="0" indent="0" algn="ctr">
                        <a:buNone/>
                      </a:pPr>
                      <a:r>
                        <a:rPr lang="en-US" sz="1100" dirty="0">
                          <a:solidFill>
                            <a:srgbClr val="2B2124"/>
                          </a:solidFill>
                          <a:latin typeface="Calibri" pitchFamily="34" charset="0"/>
                          <a:ea typeface="Calibri" pitchFamily="34" charset="-122"/>
                          <a:cs typeface="Calibri" pitchFamily="34" charset="-120"/>
                        </a:rPr>
                        <a:t>3.6K</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2B2124"/>
                          </a:solidFill>
                          <a:latin typeface="Calibri" pitchFamily="34" charset="0"/>
                          <a:ea typeface="Calibri" pitchFamily="34" charset="-122"/>
                          <a:cs typeface="Calibri" pitchFamily="34" charset="-120"/>
                        </a:rPr>
                        <a:t>1.1K</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2B2124"/>
                          </a:solidFill>
                          <a:latin typeface="Calibri" pitchFamily="34" charset="0"/>
                          <a:ea typeface="Calibri" pitchFamily="34" charset="-122"/>
                          <a:cs typeface="Calibri" pitchFamily="34" charset="-120"/>
                        </a:rPr>
                        <a:t>1.9K</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2B2124"/>
                          </a:solidFill>
                          <a:latin typeface="Calibri" pitchFamily="34" charset="0"/>
                          <a:ea typeface="Calibri" pitchFamily="34" charset="-122"/>
                          <a:cs typeface="Calibri" pitchFamily="34" charset="-120"/>
                        </a:rPr>
                        <a:t>169</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2B2124"/>
                          </a:solidFill>
                          <a:latin typeface="Calibri" pitchFamily="34" charset="0"/>
                          <a:ea typeface="Calibri" pitchFamily="34" charset="-122"/>
                          <a:cs typeface="Calibri" pitchFamily="34" charset="-120"/>
                        </a:rPr>
                        <a:t>135</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extLst>
                  <a:ext uri="{0D108BD9-81ED-4DB2-BD59-A6C34878D82A}">
                    <a16:rowId xmlns:a16="http://schemas.microsoft.com/office/drawing/2014/main" val="10002"/>
                  </a:ext>
                </a:extLst>
              </a:tr>
              <a:tr h="429768">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Instagram followers</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B2124"/>
                          </a:solidFill>
                          <a:latin typeface="Calibri" pitchFamily="34" charset="0"/>
                          <a:ea typeface="Calibri" pitchFamily="34" charset="-122"/>
                          <a:cs typeface="Calibri" pitchFamily="34" charset="-120"/>
                        </a:rPr>
                        <a:t>2,164</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AF0F3"/>
                    </a:solidFill>
                  </a:tcPr>
                </a:tc>
                <a:tc>
                  <a:txBody>
                    <a:bodyPr/>
                    <a:lstStyle/>
                    <a:p>
                      <a:pPr marL="0" indent="0" algn="ctr">
                        <a:buNone/>
                      </a:pPr>
                      <a:r>
                        <a:rPr lang="en-US" sz="1100" dirty="0">
                          <a:solidFill>
                            <a:srgbClr val="2B2124"/>
                          </a:solidFill>
                          <a:latin typeface="Calibri" pitchFamily="34" charset="0"/>
                          <a:ea typeface="Calibri" pitchFamily="34" charset="-122"/>
                          <a:cs typeface="Calibri" pitchFamily="34" charset="-120"/>
                        </a:rPr>
                        <a:t>2.2K</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b="0" dirty="0">
                          <a:solidFill>
                            <a:schemeClr val="tx1"/>
                          </a:solidFill>
                          <a:latin typeface="Calibri" pitchFamily="34" charset="0"/>
                          <a:ea typeface="Calibri" charset="0"/>
                          <a:cs typeface="Calibri" pitchFamily="34" charset="-120"/>
                        </a:rPr>
                        <a:t>700</a:t>
                      </a:r>
                      <a:endParaRPr lang="en-US" sz="1100" b="0" dirty="0">
                        <a:solidFill>
                          <a:schemeClr val="tx1"/>
                        </a:solidFill>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b="0" dirty="0">
                          <a:solidFill>
                            <a:schemeClr val="tx1"/>
                          </a:solidFill>
                          <a:latin typeface="Calibri" pitchFamily="34" charset="0"/>
                          <a:ea typeface="Calibri" charset="0"/>
                          <a:cs typeface="Calibri" pitchFamily="34" charset="-120"/>
                        </a:rPr>
                        <a:t>777</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charset="0"/>
                          <a:ea typeface="Calibri" charset="0"/>
                          <a:cs typeface="Calibri" charset="0"/>
                        </a:rPr>
                        <a:t>184</a:t>
                      </a: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124"/>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Blog / news posts</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b="1"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3E0E6"/>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extLst>
                  <a:ext uri="{0D108BD9-81ED-4DB2-BD59-A6C34878D82A}">
                    <a16:rowId xmlns:a16="http://schemas.microsoft.com/office/drawing/2014/main" val="10004"/>
                  </a:ext>
                </a:extLst>
              </a:tr>
              <a:tr h="429768">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Awards / results page</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AF0F3"/>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Online trial booking</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solidFill>
                            <a:srgbClr val="2E7D32"/>
                          </a:solidFill>
                          <a:latin typeface="Calibri" pitchFamily="34" charset="0"/>
                          <a:ea typeface="Calibri" pitchFamily="34" charset="-122"/>
                          <a:cs typeface="Calibri" pitchFamily="34" charset="-120"/>
                        </a:rPr>
                        <a:t>✓</a:t>
                      </a:r>
                      <a:r>
                        <a:rPr lang="en-US" sz="1100" b="1" dirty="0">
                          <a:solidFill>
                            <a:srgbClr val="2E7D32"/>
                          </a:solidFill>
                          <a:latin typeface="Calibri" charset="0"/>
                          <a:ea typeface="Calibri" pitchFamily="34" charset="-122"/>
                          <a:cs typeface="Calibri" charset="0"/>
                        </a:rPr>
                        <a:t>(Facebook (Jan))</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3E0E6"/>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2B2124"/>
                          </a:solidFill>
                          <a:latin typeface="Calibri" pitchFamily="34" charset="0"/>
                          <a:ea typeface="Calibri" pitchFamily="34" charset="-122"/>
                          <a:cs typeface="Calibri" pitchFamily="34" charset="-120"/>
                        </a:rPr>
                        <a:t>WhatsApp</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extLst>
                  <a:ext uri="{0D108BD9-81ED-4DB2-BD59-A6C34878D82A}">
                    <a16:rowId xmlns:a16="http://schemas.microsoft.com/office/drawing/2014/main" val="10006"/>
                  </a:ext>
                </a:extLst>
              </a:tr>
              <a:tr h="429768">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Phone / WhatsApp on Facebook</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AF0F3"/>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E7D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E7D3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HiParents listing</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3E0E6"/>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extLst>
                  <a:ext uri="{0D108BD9-81ED-4DB2-BD59-A6C34878D82A}">
                    <a16:rowId xmlns:a16="http://schemas.microsoft.com/office/drawing/2014/main" val="10008"/>
                  </a:ext>
                </a:extLst>
              </a:tr>
              <a:tr h="429768">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Paid Facebook / Instagram ads</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B2124"/>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AF0F3"/>
                    </a:solidFill>
                  </a:tcPr>
                </a:tc>
                <a:tc>
                  <a:txBody>
                    <a:bodyPr/>
                    <a:lstStyle/>
                    <a:p>
                      <a:pPr marL="0" indent="0" algn="ctr">
                        <a:buNone/>
                      </a:pPr>
                      <a:r>
                        <a:rPr lang="en-US" sz="1100" dirty="0">
                          <a:solidFill>
                            <a:srgbClr val="2B2124"/>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124"/>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124"/>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124"/>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124"/>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8" name="Text 4"/>
          <p:cNvSpPr txBox="1"/>
          <p:nvPr/>
        </p:nvSpPr>
        <p:spPr>
          <a:xfrm>
            <a:off x="548640" y="5989320"/>
            <a:ext cx="11094415" cy="274320"/>
          </a:xfrm>
          <a:prstGeom prst="rect">
            <a:avLst/>
          </a:prstGeom>
          <a:noFill/>
          <a:ln/>
        </p:spPr>
        <p:txBody>
          <a:bodyPr wrap="square" lIns="0" tIns="0" rIns="0" bIns="0" rtlCol="0" anchor="ctr"/>
          <a:lstStyle/>
          <a:p>
            <a:pPr marL="0" indent="0">
              <a:buNone/>
            </a:pPr>
            <a:r>
              <a:rPr lang="en-US" sz="1000" i="1" dirty="0">
                <a:solidFill>
                  <a:srgbClr val="6E6064"/>
                </a:solidFill>
                <a:latin typeface="Calibri" pitchFamily="34" charset="0"/>
                <a:ea typeface="Calibri" pitchFamily="34" charset="-122"/>
                <a:cs typeface="Calibri" pitchFamily="34" charset="-120"/>
              </a:rPr>
              <a:t>✓ = found   – = not found   ? = not checked.   Ballotté's website link on Google opens a gambling site (slide 12).   Follower counts from Facebook and Instagram, September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100" b="1" kern="0" spc="400" dirty="0">
                <a:solidFill>
                  <a:srgbClr val="9C6445"/>
                </a:solidFill>
                <a:latin typeface="Calibri" pitchFamily="34" charset="0"/>
                <a:ea typeface="Calibri" pitchFamily="34" charset="-122"/>
                <a:cs typeface="Calibri" pitchFamily="34" charset="-120"/>
              </a:rPr>
              <a:t>04  ONLINE PRESENCE</a:t>
            </a:r>
            <a:endParaRPr lang="en-US" sz="1100" dirty="0"/>
          </a:p>
        </p:txBody>
      </p:sp>
      <p:sp>
        <p:nvSpPr>
          <p:cNvPr id="3" name="Text 1"/>
          <p:cNvSpPr txBox="1"/>
          <p:nvPr/>
        </p:nvSpPr>
        <p:spPr>
          <a:xfrm>
            <a:off x="548640" y="621792"/>
            <a:ext cx="10241280" cy="658368"/>
          </a:xfrm>
          <a:prstGeom prst="rect">
            <a:avLst/>
          </a:prstGeom>
          <a:noFill/>
          <a:ln/>
        </p:spPr>
        <p:txBody>
          <a:bodyPr wrap="square" lIns="0" tIns="0" rIns="0" bIns="0" rtlCol="0" anchor="ctr"/>
          <a:lstStyle/>
          <a:p>
            <a:pPr marL="0" indent="0">
              <a:buNone/>
            </a:pPr>
            <a:r>
              <a:rPr lang="en-US" sz="3000" b="1" dirty="0">
                <a:solidFill>
                  <a:srgbClr val="2E1F27"/>
                </a:solidFill>
                <a:latin typeface="Cambria" pitchFamily="34" charset="0"/>
                <a:ea typeface="Cambria" pitchFamily="34" charset="-122"/>
                <a:cs typeface="Cambria" pitchFamily="34" charset="-120"/>
              </a:rPr>
              <a:t>Facebook reach compared</a:t>
            </a:r>
            <a:endParaRPr lang="en-US" sz="3000" dirty="0"/>
          </a:p>
        </p:txBody>
      </p:sp>
      <p:pic>
        <p:nvPicPr>
          <p:cNvPr id="4" name="Image 0" descr="/home/claude/deck/img/dancer_rose.png"/>
          <p:cNvPicPr>
            <a:picLocks noChangeAspect="1"/>
          </p:cNvPicPr>
          <p:nvPr/>
        </p:nvPicPr>
        <p:blipFill>
          <a:blip r:embed="rId3"/>
          <a:stretch>
            <a:fillRect/>
          </a:stretch>
        </p:blipFill>
        <p:spPr>
          <a:xfrm>
            <a:off x="11076127" y="292384"/>
            <a:ext cx="566928" cy="677105"/>
          </a:xfrm>
          <a:prstGeom prst="rect">
            <a:avLst/>
          </a:prstGeom>
        </p:spPr>
      </p:pic>
      <p:sp>
        <p:nvSpPr>
          <p:cNvPr id="5" name="Text 2"/>
          <p:cNvSpPr txBox="1"/>
          <p:nvPr/>
        </p:nvSpPr>
        <p:spPr>
          <a:xfrm>
            <a:off x="548640" y="6473952"/>
            <a:ext cx="4572000" cy="228600"/>
          </a:xfrm>
          <a:prstGeom prst="rect">
            <a:avLst/>
          </a:prstGeom>
          <a:noFill/>
          <a:ln/>
        </p:spPr>
        <p:txBody>
          <a:bodyPr wrap="square" lIns="0" tIns="0" rIns="0" bIns="0" rtlCol="0" anchor="ctr"/>
          <a:lstStyle/>
          <a:p>
            <a:pPr marL="0" indent="0">
              <a:buNone/>
            </a:pPr>
            <a:r>
              <a:rPr lang="en-US" sz="900" dirty="0">
                <a:solidFill>
                  <a:srgbClr val="6E6064"/>
                </a:solidFill>
                <a:latin typeface="Calibri" pitchFamily="34" charset="0"/>
                <a:ea typeface="Calibri" pitchFamily="34" charset="-122"/>
                <a:cs typeface="Calibri" pitchFamily="34" charset="-120"/>
              </a:rPr>
              <a:t>Ballotté Dance Academy #Puchong</a:t>
            </a:r>
            <a:endParaRPr lang="en-US" sz="900" dirty="0"/>
          </a:p>
        </p:txBody>
      </p:sp>
      <p:sp>
        <p:nvSpPr>
          <p:cNvPr id="6" name="Text 3"/>
          <p:cNvSpPr txBox="1"/>
          <p:nvPr/>
        </p:nvSpPr>
        <p:spPr>
          <a:xfrm>
            <a:off x="11185855" y="6473952"/>
            <a:ext cx="457200" cy="228600"/>
          </a:xfrm>
          <a:prstGeom prst="rect">
            <a:avLst/>
          </a:prstGeom>
          <a:noFill/>
          <a:ln/>
        </p:spPr>
        <p:txBody>
          <a:bodyPr wrap="square" lIns="0" tIns="0" rIns="0" bIns="0" rtlCol="0" anchor="ctr"/>
          <a:lstStyle/>
          <a:p>
            <a:pPr marL="0" indent="0" algn="r">
              <a:buNone/>
            </a:pPr>
            <a:r>
              <a:rPr lang="en-US" sz="900" dirty="0">
                <a:solidFill>
                  <a:srgbClr val="6E6064"/>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548640" y="1463040"/>
            <a:ext cx="6309360" cy="4617720"/>
          </a:xfrm>
          <a:prstGeom prst="roundRect">
            <a:avLst>
              <a:gd name="adj" fmla="val 1980"/>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graphicFrame>
        <p:nvGraphicFramePr>
          <p:cNvPr id="8" name="Chart 0"/>
          <p:cNvGraphicFramePr/>
          <p:nvPr/>
        </p:nvGraphicFramePr>
        <p:xfrm>
          <a:off x="685800" y="1554480"/>
          <a:ext cx="6035040" cy="443484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txBox="1"/>
          <p:nvPr/>
        </p:nvSpPr>
        <p:spPr>
          <a:xfrm>
            <a:off x="7269480" y="1417320"/>
            <a:ext cx="4373575" cy="777240"/>
          </a:xfrm>
          <a:prstGeom prst="rect">
            <a:avLst/>
          </a:prstGeom>
          <a:noFill/>
          <a:ln/>
        </p:spPr>
        <p:txBody>
          <a:bodyPr wrap="square" lIns="0" tIns="0" rIns="0" bIns="0" rtlCol="0" anchor="b"/>
          <a:lstStyle/>
          <a:p>
            <a:pPr marL="0" indent="0">
              <a:buNone/>
            </a:pPr>
            <a:r>
              <a:rPr lang="en-US" sz="4400" b="1" dirty="0">
                <a:solidFill>
                  <a:srgbClr val="9E4A67"/>
                </a:solidFill>
                <a:latin typeface="Cambria" pitchFamily="34" charset="0"/>
                <a:ea typeface="Cambria" pitchFamily="34" charset="-122"/>
                <a:cs typeface="Cambria" pitchFamily="34" charset="-120"/>
              </a:rPr>
              <a:t>9×</a:t>
            </a:r>
            <a:endParaRPr lang="en-US" sz="4400" dirty="0"/>
          </a:p>
        </p:txBody>
      </p:sp>
      <p:sp>
        <p:nvSpPr>
          <p:cNvPr id="10" name="Text 6"/>
          <p:cNvSpPr txBox="1"/>
          <p:nvPr/>
        </p:nvSpPr>
        <p:spPr>
          <a:xfrm>
            <a:off x="7269480" y="2221992"/>
            <a:ext cx="4373575" cy="457200"/>
          </a:xfrm>
          <a:prstGeom prst="rect">
            <a:avLst/>
          </a:prstGeom>
          <a:noFill/>
          <a:ln/>
        </p:spPr>
        <p:txBody>
          <a:bodyPr wrap="square" lIns="0" tIns="0" rIns="0" bIns="0" rtlCol="0" anchor="t"/>
          <a:lstStyle/>
          <a:p>
            <a:pPr marL="0" indent="0">
              <a:buNone/>
            </a:pPr>
            <a:r>
              <a:rPr lang="en-US" sz="1300" dirty="0">
                <a:solidFill>
                  <a:srgbClr val="6E6064"/>
                </a:solidFill>
                <a:latin typeface="Calibri" pitchFamily="34" charset="0"/>
                <a:ea typeface="Calibri" pitchFamily="34" charset="-122"/>
                <a:cs typeface="Calibri" pitchFamily="34" charset="-120"/>
              </a:rPr>
              <a:t>Pointe &amp; Music's Facebook following compared with Ballotté's (3.6K vs 406)</a:t>
            </a:r>
            <a:endParaRPr lang="en-US" sz="1300" dirty="0"/>
          </a:p>
        </p:txBody>
      </p:sp>
      <p:sp>
        <p:nvSpPr>
          <p:cNvPr id="11" name="Shape 7"/>
          <p:cNvSpPr/>
          <p:nvPr/>
        </p:nvSpPr>
        <p:spPr>
          <a:xfrm>
            <a:off x="7269480" y="2953512"/>
            <a:ext cx="347472" cy="347472"/>
          </a:xfrm>
          <a:prstGeom prst="ellipse">
            <a:avLst/>
          </a:prstGeom>
          <a:solidFill>
            <a:srgbClr val="C99474"/>
          </a:solidFill>
          <a:ln w="12700">
            <a:solidFill>
              <a:srgbClr val="C99474"/>
            </a:solidFill>
            <a:prstDash val="solid"/>
          </a:ln>
        </p:spPr>
        <p:txBody>
          <a:bodyPr/>
          <a:lstStyle/>
          <a:p>
            <a:endParaRPr lang="en-US"/>
          </a:p>
        </p:txBody>
      </p:sp>
      <p:sp>
        <p:nvSpPr>
          <p:cNvPr id="12" name="Text 8"/>
          <p:cNvSpPr txBox="1"/>
          <p:nvPr/>
        </p:nvSpPr>
        <p:spPr>
          <a:xfrm>
            <a:off x="7269480" y="295351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3" name="Text 9"/>
          <p:cNvSpPr txBox="1"/>
          <p:nvPr/>
        </p:nvSpPr>
        <p:spPr>
          <a:xfrm>
            <a:off x="7772400" y="2926080"/>
            <a:ext cx="3870655" cy="914400"/>
          </a:xfrm>
          <a:prstGeom prst="rect">
            <a:avLst/>
          </a:prstGeom>
          <a:noFill/>
          <a:ln/>
        </p:spPr>
        <p:txBody>
          <a:bodyPr wrap="square" lIns="0" tIns="0" rIns="0" bIns="0" rtlCol="0" anchor="t"/>
          <a:lstStyle/>
          <a:p>
            <a:pPr marL="0" indent="0">
              <a:spcAft>
                <a:spcPts val="200"/>
              </a:spcAft>
              <a:buNone/>
            </a:pPr>
            <a:r>
              <a:rPr lang="en-US" sz="1300" b="1" dirty="0">
                <a:solidFill>
                  <a:srgbClr val="2E1F27"/>
                </a:solidFill>
                <a:latin typeface="Calibri" pitchFamily="34" charset="0"/>
                <a:ea typeface="Calibri" pitchFamily="34" charset="-122"/>
                <a:cs typeface="Calibri" pitchFamily="34" charset="-120"/>
              </a:rPr>
              <a:t>Instagram is Ballotté's strength.  </a:t>
            </a:r>
            <a:r>
              <a:rPr lang="en-US" sz="1300" dirty="0">
                <a:solidFill>
                  <a:srgbClr val="2B2124"/>
                </a:solidFill>
                <a:latin typeface="Calibri" pitchFamily="34" charset="0"/>
                <a:ea typeface="Calibri" pitchFamily="34" charset="-122"/>
                <a:cs typeface="Calibri" pitchFamily="34" charset="-120"/>
              </a:rPr>
              <a:t>At 2,164 followers, Ballotté is level with Pointe (2.2K) and far ahead of Dua Space (200).</a:t>
            </a:r>
            <a:endParaRPr lang="en-US" sz="1300" dirty="0"/>
          </a:p>
        </p:txBody>
      </p:sp>
      <p:sp>
        <p:nvSpPr>
          <p:cNvPr id="14" name="Shape 10"/>
          <p:cNvSpPr/>
          <p:nvPr/>
        </p:nvSpPr>
        <p:spPr>
          <a:xfrm>
            <a:off x="7269480" y="3941064"/>
            <a:ext cx="347472" cy="347472"/>
          </a:xfrm>
          <a:prstGeom prst="ellipse">
            <a:avLst/>
          </a:prstGeom>
          <a:solidFill>
            <a:srgbClr val="C99474"/>
          </a:solidFill>
          <a:ln w="12700">
            <a:solidFill>
              <a:srgbClr val="C99474"/>
            </a:solidFill>
            <a:prstDash val="solid"/>
          </a:ln>
        </p:spPr>
        <p:txBody>
          <a:bodyPr/>
          <a:lstStyle/>
          <a:p>
            <a:endParaRPr lang="en-US"/>
          </a:p>
        </p:txBody>
      </p:sp>
      <p:sp>
        <p:nvSpPr>
          <p:cNvPr id="15" name="Text 11"/>
          <p:cNvSpPr txBox="1"/>
          <p:nvPr/>
        </p:nvSpPr>
        <p:spPr>
          <a:xfrm>
            <a:off x="7269480" y="394106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6" name="Text 12"/>
          <p:cNvSpPr txBox="1"/>
          <p:nvPr/>
        </p:nvSpPr>
        <p:spPr>
          <a:xfrm>
            <a:off x="7772400" y="3913632"/>
            <a:ext cx="3870655" cy="914400"/>
          </a:xfrm>
          <a:prstGeom prst="rect">
            <a:avLst/>
          </a:prstGeom>
          <a:noFill/>
          <a:ln/>
        </p:spPr>
        <p:txBody>
          <a:bodyPr wrap="square" lIns="0" tIns="0" rIns="0" bIns="0" rtlCol="0" anchor="t"/>
          <a:lstStyle/>
          <a:p>
            <a:pPr marL="0" indent="0">
              <a:spcAft>
                <a:spcPts val="200"/>
              </a:spcAft>
              <a:buNone/>
            </a:pPr>
            <a:r>
              <a:rPr lang="en-US" sz="1300" b="1" dirty="0">
                <a:solidFill>
                  <a:srgbClr val="2E1F27"/>
                </a:solidFill>
                <a:latin typeface="Calibri" pitchFamily="34" charset="0"/>
                <a:ea typeface="Calibri" pitchFamily="34" charset="-122"/>
                <a:cs typeface="Calibri" pitchFamily="34" charset="-120"/>
              </a:rPr>
              <a:t>Facebook lags behind.  </a:t>
            </a:r>
            <a:r>
              <a:rPr lang="en-US" sz="1300" dirty="0">
                <a:solidFill>
                  <a:srgbClr val="2B2124"/>
                </a:solidFill>
                <a:latin typeface="Calibri" pitchFamily="34" charset="0"/>
                <a:ea typeface="Calibri" pitchFamily="34" charset="-122"/>
                <a:cs typeface="Calibri" pitchFamily="34" charset="-120"/>
              </a:rPr>
              <a:t>Ballotté's page is the third smallest of the six and far behind its own Instagram.</a:t>
            </a:r>
            <a:endParaRPr lang="en-US" sz="1300" dirty="0"/>
          </a:p>
        </p:txBody>
      </p:sp>
      <p:sp>
        <p:nvSpPr>
          <p:cNvPr id="17" name="Shape 13"/>
          <p:cNvSpPr/>
          <p:nvPr/>
        </p:nvSpPr>
        <p:spPr>
          <a:xfrm>
            <a:off x="7269480" y="4928616"/>
            <a:ext cx="347472" cy="347472"/>
          </a:xfrm>
          <a:prstGeom prst="ellipse">
            <a:avLst/>
          </a:prstGeom>
          <a:solidFill>
            <a:srgbClr val="C99474"/>
          </a:solidFill>
          <a:ln w="12700">
            <a:solidFill>
              <a:srgbClr val="C99474"/>
            </a:solidFill>
            <a:prstDash val="solid"/>
          </a:ln>
        </p:spPr>
        <p:txBody>
          <a:bodyPr/>
          <a:lstStyle/>
          <a:p>
            <a:endParaRPr lang="en-US"/>
          </a:p>
        </p:txBody>
      </p:sp>
      <p:sp>
        <p:nvSpPr>
          <p:cNvPr id="18" name="Text 14"/>
          <p:cNvSpPr txBox="1"/>
          <p:nvPr/>
        </p:nvSpPr>
        <p:spPr>
          <a:xfrm>
            <a:off x="7269480" y="492861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9" name="Text 15"/>
          <p:cNvSpPr txBox="1"/>
          <p:nvPr/>
        </p:nvSpPr>
        <p:spPr>
          <a:xfrm>
            <a:off x="7772400" y="4901184"/>
            <a:ext cx="3870655" cy="914400"/>
          </a:xfrm>
          <a:prstGeom prst="rect">
            <a:avLst/>
          </a:prstGeom>
          <a:noFill/>
          <a:ln/>
        </p:spPr>
        <p:txBody>
          <a:bodyPr wrap="square" lIns="0" tIns="0" rIns="0" bIns="0" rtlCol="0" anchor="t"/>
          <a:lstStyle/>
          <a:p>
            <a:pPr marL="0" indent="0">
              <a:spcAft>
                <a:spcPts val="200"/>
              </a:spcAft>
              <a:buNone/>
            </a:pPr>
            <a:r>
              <a:rPr lang="en-US" sz="1300" b="1" dirty="0">
                <a:solidFill>
                  <a:srgbClr val="2E1F27"/>
                </a:solidFill>
                <a:latin typeface="Calibri" pitchFamily="34" charset="0"/>
                <a:ea typeface="Calibri" pitchFamily="34" charset="-122"/>
                <a:cs typeface="Calibri" pitchFamily="34" charset="-120"/>
              </a:rPr>
              <a:t>No one pays for ads.  </a:t>
            </a:r>
            <a:r>
              <a:rPr lang="en-US" sz="1300" dirty="0">
                <a:solidFill>
                  <a:srgbClr val="2B2124"/>
                </a:solidFill>
                <a:latin typeface="Calibri" pitchFamily="34" charset="0"/>
                <a:ea typeface="Calibri" pitchFamily="34" charset="-122"/>
                <a:cs typeface="Calibri" pitchFamily="34" charset="-120"/>
              </a:rPr>
              <a:t>None of the six studios runs Facebook or Instagram ads, so free channels decide who gets noticed.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57520"/>
            <a:ext cx="7315200" cy="274320"/>
          </a:xfrm>
          <a:prstGeom prst="rect">
            <a:avLst/>
          </a:prstGeom>
          <a:noFill/>
          <a:ln/>
        </p:spPr>
        <p:txBody>
          <a:bodyPr wrap="square" lIns="0" tIns="0" rIns="0" bIns="0" rtlCol="0" anchor="ctr"/>
          <a:lstStyle/>
          <a:p>
            <a:pPr marL="0" indent="0">
              <a:buNone/>
            </a:pPr>
            <a:r>
              <a:rPr lang="en-US" sz="1100" b="1" kern="0" spc="400" dirty="0">
                <a:solidFill>
                  <a:srgbClr val="9C6445"/>
                </a:solidFill>
                <a:latin typeface="Calibri" pitchFamily="34" charset="0"/>
                <a:ea typeface="Calibri" pitchFamily="34" charset="-122"/>
                <a:cs typeface="Calibri" pitchFamily="34" charset="-120"/>
              </a:rPr>
              <a:t>04  ONLINE PRESENCE</a:t>
            </a:r>
            <a:endParaRPr lang="en-US" sz="1100" dirty="0"/>
          </a:p>
        </p:txBody>
      </p:sp>
      <p:sp>
        <p:nvSpPr>
          <p:cNvPr id="3" name="Text 1"/>
          <p:cNvSpPr txBox="1"/>
          <p:nvPr/>
        </p:nvSpPr>
        <p:spPr>
          <a:xfrm>
            <a:off x="548640" y="621792"/>
            <a:ext cx="10241280" cy="658368"/>
          </a:xfrm>
          <a:prstGeom prst="rect">
            <a:avLst/>
          </a:prstGeom>
          <a:noFill/>
          <a:ln/>
        </p:spPr>
        <p:txBody>
          <a:bodyPr wrap="square" lIns="0" tIns="0" rIns="0" bIns="0" rtlCol="0" anchor="ctr"/>
          <a:lstStyle/>
          <a:p>
            <a:pPr marL="0" indent="0">
              <a:buNone/>
            </a:pPr>
            <a:r>
              <a:rPr lang="en-US" sz="3000" b="1" dirty="0">
                <a:solidFill>
                  <a:srgbClr val="2E1F27"/>
                </a:solidFill>
                <a:latin typeface="Cambria" pitchFamily="34" charset="0"/>
                <a:ea typeface="Cambria" pitchFamily="34" charset="-122"/>
                <a:cs typeface="Cambria" pitchFamily="34" charset="-120"/>
              </a:rPr>
              <a:t>Ballotté online today</a:t>
            </a:r>
            <a:endParaRPr lang="en-US" sz="3000" dirty="0"/>
          </a:p>
        </p:txBody>
      </p:sp>
      <p:pic>
        <p:nvPicPr>
          <p:cNvPr id="4" name="Image 0" descr="/home/claude/deck/img/dancer_rose.png"/>
          <p:cNvPicPr>
            <a:picLocks noChangeAspect="1"/>
          </p:cNvPicPr>
          <p:nvPr/>
        </p:nvPicPr>
        <p:blipFill>
          <a:blip r:embed="rId3"/>
          <a:stretch>
            <a:fillRect/>
          </a:stretch>
        </p:blipFill>
        <p:spPr>
          <a:xfrm>
            <a:off x="11076127" y="292384"/>
            <a:ext cx="566928" cy="677105"/>
          </a:xfrm>
          <a:prstGeom prst="rect">
            <a:avLst/>
          </a:prstGeom>
        </p:spPr>
      </p:pic>
      <p:sp>
        <p:nvSpPr>
          <p:cNvPr id="5" name="Text 2"/>
          <p:cNvSpPr txBox="1"/>
          <p:nvPr/>
        </p:nvSpPr>
        <p:spPr>
          <a:xfrm>
            <a:off x="548640" y="6473952"/>
            <a:ext cx="4572000" cy="228600"/>
          </a:xfrm>
          <a:prstGeom prst="rect">
            <a:avLst/>
          </a:prstGeom>
          <a:noFill/>
          <a:ln/>
        </p:spPr>
        <p:txBody>
          <a:bodyPr wrap="square" lIns="0" tIns="0" rIns="0" bIns="0" rtlCol="0" anchor="ctr"/>
          <a:lstStyle/>
          <a:p>
            <a:pPr marL="0" indent="0">
              <a:buNone/>
            </a:pPr>
            <a:r>
              <a:rPr lang="en-US" sz="900" dirty="0">
                <a:solidFill>
                  <a:srgbClr val="6E6064"/>
                </a:solidFill>
                <a:latin typeface="Calibri" pitchFamily="34" charset="0"/>
                <a:ea typeface="Calibri" pitchFamily="34" charset="-122"/>
                <a:cs typeface="Calibri" pitchFamily="34" charset="-120"/>
              </a:rPr>
              <a:t>Ballotté Dance Academy #Puchong</a:t>
            </a:r>
            <a:endParaRPr lang="en-US" sz="900" dirty="0"/>
          </a:p>
        </p:txBody>
      </p:sp>
      <p:sp>
        <p:nvSpPr>
          <p:cNvPr id="6" name="Text 3"/>
          <p:cNvSpPr txBox="1"/>
          <p:nvPr/>
        </p:nvSpPr>
        <p:spPr>
          <a:xfrm>
            <a:off x="11185855" y="6473952"/>
            <a:ext cx="457200" cy="228600"/>
          </a:xfrm>
          <a:prstGeom prst="rect">
            <a:avLst/>
          </a:prstGeom>
          <a:noFill/>
          <a:ln/>
        </p:spPr>
        <p:txBody>
          <a:bodyPr wrap="square" lIns="0" tIns="0" rIns="0" bIns="0" rtlCol="0" anchor="ctr"/>
          <a:lstStyle/>
          <a:p>
            <a:pPr marL="0" indent="0" algn="r">
              <a:buNone/>
            </a:pPr>
            <a:r>
              <a:rPr lang="en-US" sz="900" dirty="0">
                <a:solidFill>
                  <a:srgbClr val="6E6064"/>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548640" y="1463040"/>
            <a:ext cx="5577840" cy="4114800"/>
          </a:xfrm>
          <a:prstGeom prst="roundRect">
            <a:avLst>
              <a:gd name="adj" fmla="val 2222"/>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pic>
        <p:nvPicPr>
          <p:cNvPr id="8" name="Image 1" descr="/home/claude/deck/img/ballotte_fb.png"/>
          <p:cNvPicPr>
            <a:picLocks noChangeAspect="1"/>
          </p:cNvPicPr>
          <p:nvPr/>
        </p:nvPicPr>
        <p:blipFill>
          <a:blip r:embed="rId4"/>
          <a:stretch>
            <a:fillRect/>
          </a:stretch>
        </p:blipFill>
        <p:spPr>
          <a:xfrm>
            <a:off x="658368" y="1614768"/>
            <a:ext cx="5358384" cy="3811344"/>
          </a:xfrm>
          <a:prstGeom prst="rect">
            <a:avLst/>
          </a:prstGeom>
        </p:spPr>
      </p:pic>
      <p:sp>
        <p:nvSpPr>
          <p:cNvPr id="9" name="Text 5"/>
          <p:cNvSpPr txBox="1"/>
          <p:nvPr/>
        </p:nvSpPr>
        <p:spPr>
          <a:xfrm>
            <a:off x="548640" y="5669280"/>
            <a:ext cx="5577840" cy="457200"/>
          </a:xfrm>
          <a:prstGeom prst="rect">
            <a:avLst/>
          </a:prstGeom>
          <a:noFill/>
          <a:ln/>
        </p:spPr>
        <p:txBody>
          <a:bodyPr wrap="square" lIns="0" tIns="0" rIns="0" bIns="0" rtlCol="0" anchor="ctr"/>
          <a:lstStyle/>
          <a:p>
            <a:pPr marL="0" indent="0">
              <a:buNone/>
            </a:pPr>
            <a:r>
              <a:rPr lang="en-US" sz="1050" i="1" dirty="0">
                <a:solidFill>
                  <a:srgbClr val="6E6064"/>
                </a:solidFill>
                <a:latin typeface="Calibri" pitchFamily="34" charset="0"/>
                <a:ea typeface="Calibri" pitchFamily="34" charset="-122"/>
                <a:cs typeface="Calibri" pitchFamily="34" charset="-120"/>
              </a:rPr>
              <a:t>Facebook: 406 followers, address and Instagram link, but no phone number or WhatsApp button</a:t>
            </a:r>
            <a:endParaRPr lang="en-US" sz="1050" dirty="0"/>
          </a:p>
        </p:txBody>
      </p:sp>
      <p:sp>
        <p:nvSpPr>
          <p:cNvPr id="10" name="Shape 6"/>
          <p:cNvSpPr/>
          <p:nvPr/>
        </p:nvSpPr>
        <p:spPr>
          <a:xfrm>
            <a:off x="6492240" y="1463040"/>
            <a:ext cx="5150815" cy="2331720"/>
          </a:xfrm>
          <a:prstGeom prst="roundRect">
            <a:avLst>
              <a:gd name="adj" fmla="val 3922"/>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pic>
        <p:nvPicPr>
          <p:cNvPr id="11" name="Image 2" descr="/home/claude/deck/img/ballotte_ig_c.png"/>
          <p:cNvPicPr>
            <a:picLocks noChangeAspect="1"/>
          </p:cNvPicPr>
          <p:nvPr/>
        </p:nvPicPr>
        <p:blipFill>
          <a:blip r:embed="rId5"/>
          <a:stretch>
            <a:fillRect/>
          </a:stretch>
        </p:blipFill>
        <p:spPr>
          <a:xfrm>
            <a:off x="6583680" y="1594948"/>
            <a:ext cx="4967935" cy="2067903"/>
          </a:xfrm>
          <a:prstGeom prst="rect">
            <a:avLst/>
          </a:prstGeom>
        </p:spPr>
      </p:pic>
      <p:sp>
        <p:nvSpPr>
          <p:cNvPr id="12" name="Text 7"/>
          <p:cNvSpPr txBox="1"/>
          <p:nvPr/>
        </p:nvSpPr>
        <p:spPr>
          <a:xfrm>
            <a:off x="6492240" y="3858768"/>
            <a:ext cx="5150815" cy="274320"/>
          </a:xfrm>
          <a:prstGeom prst="rect">
            <a:avLst/>
          </a:prstGeom>
          <a:noFill/>
          <a:ln/>
        </p:spPr>
        <p:txBody>
          <a:bodyPr wrap="square" lIns="0" tIns="0" rIns="0" bIns="0" rtlCol="0" anchor="ctr"/>
          <a:lstStyle/>
          <a:p>
            <a:pPr marL="0" indent="0">
              <a:buNone/>
            </a:pPr>
            <a:r>
              <a:rPr lang="en-US" sz="1050" i="1" dirty="0">
                <a:solidFill>
                  <a:srgbClr val="6E6064"/>
                </a:solidFill>
                <a:latin typeface="Calibri" pitchFamily="34" charset="0"/>
                <a:ea typeface="Calibri" pitchFamily="34" charset="-122"/>
                <a:cs typeface="Calibri" pitchFamily="34" charset="-120"/>
              </a:rPr>
              <a:t>Instagram: 2,164 followers, with highlights for classes, competitions, camp and exams</a:t>
            </a:r>
            <a:endParaRPr lang="en-US" sz="1050" dirty="0"/>
          </a:p>
        </p:txBody>
      </p:sp>
      <p:sp>
        <p:nvSpPr>
          <p:cNvPr id="13" name="Shape 8"/>
          <p:cNvSpPr/>
          <p:nvPr/>
        </p:nvSpPr>
        <p:spPr>
          <a:xfrm>
            <a:off x="6492240" y="4370832"/>
            <a:ext cx="347472" cy="347472"/>
          </a:xfrm>
          <a:prstGeom prst="ellipse">
            <a:avLst/>
          </a:prstGeom>
          <a:solidFill>
            <a:srgbClr val="C99474"/>
          </a:solidFill>
          <a:ln w="12700">
            <a:solidFill>
              <a:srgbClr val="C99474"/>
            </a:solidFill>
            <a:prstDash val="solid"/>
          </a:ln>
        </p:spPr>
        <p:txBody>
          <a:bodyPr/>
          <a:lstStyle/>
          <a:p>
            <a:endParaRPr lang="en-US"/>
          </a:p>
        </p:txBody>
      </p:sp>
      <p:sp>
        <p:nvSpPr>
          <p:cNvPr id="14" name="Text 9"/>
          <p:cNvSpPr txBox="1"/>
          <p:nvPr/>
        </p:nvSpPr>
        <p:spPr>
          <a:xfrm>
            <a:off x="6492240" y="437083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5" name="Text 10"/>
          <p:cNvSpPr txBox="1"/>
          <p:nvPr/>
        </p:nvSpPr>
        <p:spPr>
          <a:xfrm>
            <a:off x="6995160" y="4343400"/>
            <a:ext cx="4647895" cy="566928"/>
          </a:xfrm>
          <a:prstGeom prst="rect">
            <a:avLst/>
          </a:prstGeom>
          <a:noFill/>
          <a:ln/>
        </p:spPr>
        <p:txBody>
          <a:bodyPr wrap="square" lIns="0" tIns="0" rIns="0" bIns="0" rtlCol="0" anchor="t"/>
          <a:lstStyle/>
          <a:p>
            <a:pPr marL="0" indent="0">
              <a:spcAft>
                <a:spcPts val="200"/>
              </a:spcAft>
              <a:buNone/>
            </a:pPr>
            <a:r>
              <a:rPr lang="en-US" sz="1250" b="1" dirty="0">
                <a:solidFill>
                  <a:srgbClr val="2E1F27"/>
                </a:solidFill>
                <a:latin typeface="Calibri" pitchFamily="34" charset="0"/>
                <a:ea typeface="Calibri" pitchFamily="34" charset="-122"/>
                <a:cs typeface="Calibri" pitchFamily="34" charset="-120"/>
              </a:rPr>
              <a:t>Hard to contact.  </a:t>
            </a:r>
            <a:r>
              <a:rPr lang="en-US" sz="1250" dirty="0">
                <a:solidFill>
                  <a:srgbClr val="2B2124"/>
                </a:solidFill>
                <a:latin typeface="Calibri" pitchFamily="34" charset="0"/>
                <a:ea typeface="Calibri" pitchFamily="34" charset="-122"/>
                <a:cs typeface="Calibri" pitchFamily="34" charset="-120"/>
              </a:rPr>
              <a:t>Parents who find the Facebook page have no quick way to call or message.</a:t>
            </a:r>
            <a:endParaRPr lang="en-US" sz="1250" dirty="0"/>
          </a:p>
        </p:txBody>
      </p:sp>
      <p:sp>
        <p:nvSpPr>
          <p:cNvPr id="16" name="Shape 11"/>
          <p:cNvSpPr/>
          <p:nvPr/>
        </p:nvSpPr>
        <p:spPr>
          <a:xfrm>
            <a:off x="6492240" y="5010912"/>
            <a:ext cx="347472" cy="347472"/>
          </a:xfrm>
          <a:prstGeom prst="ellipse">
            <a:avLst/>
          </a:prstGeom>
          <a:solidFill>
            <a:srgbClr val="C99474"/>
          </a:solidFill>
          <a:ln w="12700">
            <a:solidFill>
              <a:srgbClr val="C99474"/>
            </a:solidFill>
            <a:prstDash val="solid"/>
          </a:ln>
        </p:spPr>
        <p:txBody>
          <a:bodyPr/>
          <a:lstStyle/>
          <a:p>
            <a:endParaRPr lang="en-US"/>
          </a:p>
        </p:txBody>
      </p:sp>
      <p:sp>
        <p:nvSpPr>
          <p:cNvPr id="17" name="Text 12"/>
          <p:cNvSpPr txBox="1"/>
          <p:nvPr/>
        </p:nvSpPr>
        <p:spPr>
          <a:xfrm>
            <a:off x="6492240" y="501091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8" name="Text 13"/>
          <p:cNvSpPr txBox="1"/>
          <p:nvPr/>
        </p:nvSpPr>
        <p:spPr>
          <a:xfrm>
            <a:off x="6995160" y="4983480"/>
            <a:ext cx="4647895" cy="566928"/>
          </a:xfrm>
          <a:prstGeom prst="rect">
            <a:avLst/>
          </a:prstGeom>
          <a:noFill/>
          <a:ln/>
        </p:spPr>
        <p:txBody>
          <a:bodyPr wrap="square" lIns="0" tIns="0" rIns="0" bIns="0" rtlCol="0" anchor="t"/>
          <a:lstStyle/>
          <a:p>
            <a:pPr marL="0" indent="0">
              <a:spcAft>
                <a:spcPts val="200"/>
              </a:spcAft>
              <a:buNone/>
            </a:pPr>
            <a:r>
              <a:rPr lang="en-US" sz="1250" b="1" dirty="0">
                <a:solidFill>
                  <a:srgbClr val="2E1F27"/>
                </a:solidFill>
                <a:latin typeface="Calibri" pitchFamily="34" charset="0"/>
                <a:ea typeface="Calibri" pitchFamily="34" charset="-122"/>
                <a:cs typeface="Calibri" pitchFamily="34" charset="-120"/>
              </a:rPr>
              <a:t>Great content, one place.  </a:t>
            </a:r>
            <a:r>
              <a:rPr lang="en-US" sz="1250" dirty="0">
                <a:solidFill>
                  <a:srgbClr val="2B2124"/>
                </a:solidFill>
                <a:latin typeface="Calibri" pitchFamily="34" charset="0"/>
                <a:ea typeface="Calibri" pitchFamily="34" charset="-122"/>
                <a:cs typeface="Calibri" pitchFamily="34" charset="-120"/>
              </a:rPr>
              <a:t>Exam, camp and competition stories (MIBC'26, YPAC'25) live only in Instagram highlights.</a:t>
            </a:r>
            <a:endParaRPr lang="en-US" sz="1250" dirty="0"/>
          </a:p>
        </p:txBody>
      </p:sp>
      <p:sp>
        <p:nvSpPr>
          <p:cNvPr id="19" name="Shape 14"/>
          <p:cNvSpPr/>
          <p:nvPr/>
        </p:nvSpPr>
        <p:spPr>
          <a:xfrm>
            <a:off x="6492240" y="5650992"/>
            <a:ext cx="347472" cy="347472"/>
          </a:xfrm>
          <a:prstGeom prst="ellipse">
            <a:avLst/>
          </a:prstGeom>
          <a:solidFill>
            <a:srgbClr val="C99474"/>
          </a:solidFill>
          <a:ln w="12700">
            <a:solidFill>
              <a:srgbClr val="C99474"/>
            </a:solidFill>
            <a:prstDash val="solid"/>
          </a:ln>
        </p:spPr>
        <p:txBody>
          <a:bodyPr/>
          <a:lstStyle/>
          <a:p>
            <a:endParaRPr lang="en-US"/>
          </a:p>
        </p:txBody>
      </p:sp>
      <p:sp>
        <p:nvSpPr>
          <p:cNvPr id="20" name="Text 15"/>
          <p:cNvSpPr txBox="1"/>
          <p:nvPr/>
        </p:nvSpPr>
        <p:spPr>
          <a:xfrm>
            <a:off x="6492240" y="565099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1" name="Text 16"/>
          <p:cNvSpPr txBox="1"/>
          <p:nvPr/>
        </p:nvSpPr>
        <p:spPr>
          <a:xfrm>
            <a:off x="6995160" y="5623560"/>
            <a:ext cx="4647895" cy="566928"/>
          </a:xfrm>
          <a:prstGeom prst="rect">
            <a:avLst/>
          </a:prstGeom>
          <a:noFill/>
          <a:ln/>
        </p:spPr>
        <p:txBody>
          <a:bodyPr wrap="square" lIns="0" tIns="0" rIns="0" bIns="0" rtlCol="0" anchor="t"/>
          <a:lstStyle/>
          <a:p>
            <a:pPr marL="0" indent="0">
              <a:spcAft>
                <a:spcPts val="200"/>
              </a:spcAft>
              <a:buNone/>
            </a:pPr>
            <a:r>
              <a:rPr lang="en-US" sz="1250" b="1" dirty="0">
                <a:solidFill>
                  <a:srgbClr val="2E1F27"/>
                </a:solidFill>
                <a:latin typeface="Calibri" pitchFamily="34" charset="0"/>
                <a:ea typeface="Calibri" pitchFamily="34" charset="-122"/>
                <a:cs typeface="Calibri" pitchFamily="34" charset="-120"/>
              </a:rPr>
              <a:t>No working website.  </a:t>
            </a:r>
            <a:r>
              <a:rPr lang="en-US" sz="1250" dirty="0">
                <a:solidFill>
                  <a:srgbClr val="2B2124"/>
                </a:solidFill>
                <a:latin typeface="Calibri" pitchFamily="34" charset="0"/>
                <a:ea typeface="Calibri" pitchFamily="34" charset="-122"/>
                <a:cs typeface="Calibri" pitchFamily="34" charset="-120"/>
              </a:rPr>
              <a:t>The ballottedance.com link on Google now opens a gambling site (next slide).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100" b="1" kern="0" spc="400" dirty="0">
                <a:solidFill>
                  <a:srgbClr val="9C6445"/>
                </a:solidFill>
                <a:latin typeface="Calibri" pitchFamily="34" charset="0"/>
                <a:ea typeface="Calibri" pitchFamily="34" charset="-122"/>
                <a:cs typeface="Calibri" pitchFamily="34" charset="-120"/>
              </a:rPr>
              <a:t>04  ONLINE PRESENCE</a:t>
            </a:r>
            <a:endParaRPr lang="en-US" sz="1100" dirty="0"/>
          </a:p>
        </p:txBody>
      </p:sp>
      <p:sp>
        <p:nvSpPr>
          <p:cNvPr id="3" name="Text 1"/>
          <p:cNvSpPr txBox="1"/>
          <p:nvPr/>
        </p:nvSpPr>
        <p:spPr>
          <a:xfrm>
            <a:off x="548640" y="621792"/>
            <a:ext cx="10241280" cy="658368"/>
          </a:xfrm>
          <a:prstGeom prst="rect">
            <a:avLst/>
          </a:prstGeom>
          <a:noFill/>
          <a:ln/>
        </p:spPr>
        <p:txBody>
          <a:bodyPr wrap="square" lIns="0" tIns="0" rIns="0" bIns="0" rtlCol="0" anchor="ctr"/>
          <a:lstStyle/>
          <a:p>
            <a:pPr marL="0" indent="0">
              <a:buNone/>
            </a:pPr>
            <a:r>
              <a:rPr lang="en-US" sz="3000" b="1" dirty="0">
                <a:solidFill>
                  <a:srgbClr val="2E1F27"/>
                </a:solidFill>
                <a:latin typeface="Cambria" pitchFamily="34" charset="0"/>
                <a:ea typeface="Cambria" pitchFamily="34" charset="-122"/>
                <a:cs typeface="Cambria" pitchFamily="34" charset="-120"/>
              </a:rPr>
              <a:t>Ballotté on Google: a strength and a risk</a:t>
            </a:r>
            <a:endParaRPr lang="en-US" sz="3000" dirty="0"/>
          </a:p>
        </p:txBody>
      </p:sp>
      <p:pic>
        <p:nvPicPr>
          <p:cNvPr id="4" name="Image 0" descr="/home/claude/deck/img/dancer_rose.png"/>
          <p:cNvPicPr>
            <a:picLocks noChangeAspect="1"/>
          </p:cNvPicPr>
          <p:nvPr/>
        </p:nvPicPr>
        <p:blipFill>
          <a:blip r:embed="rId3"/>
          <a:stretch>
            <a:fillRect/>
          </a:stretch>
        </p:blipFill>
        <p:spPr>
          <a:xfrm>
            <a:off x="11076127" y="292384"/>
            <a:ext cx="566928" cy="677105"/>
          </a:xfrm>
          <a:prstGeom prst="rect">
            <a:avLst/>
          </a:prstGeom>
        </p:spPr>
      </p:pic>
      <p:sp>
        <p:nvSpPr>
          <p:cNvPr id="5" name="Text 2"/>
          <p:cNvSpPr txBox="1"/>
          <p:nvPr/>
        </p:nvSpPr>
        <p:spPr>
          <a:xfrm>
            <a:off x="548640" y="6473952"/>
            <a:ext cx="4572000" cy="228600"/>
          </a:xfrm>
          <a:prstGeom prst="rect">
            <a:avLst/>
          </a:prstGeom>
          <a:noFill/>
          <a:ln/>
        </p:spPr>
        <p:txBody>
          <a:bodyPr wrap="square" lIns="0" tIns="0" rIns="0" bIns="0" rtlCol="0" anchor="ctr"/>
          <a:lstStyle/>
          <a:p>
            <a:pPr marL="0" indent="0">
              <a:buNone/>
            </a:pPr>
            <a:r>
              <a:rPr lang="en-US" sz="900" dirty="0">
                <a:solidFill>
                  <a:srgbClr val="6E6064"/>
                </a:solidFill>
                <a:latin typeface="Calibri" pitchFamily="34" charset="0"/>
                <a:ea typeface="Calibri" pitchFamily="34" charset="-122"/>
                <a:cs typeface="Calibri" pitchFamily="34" charset="-120"/>
              </a:rPr>
              <a:t>Ballotté Dance Academy #Puchong</a:t>
            </a:r>
            <a:endParaRPr lang="en-US" sz="900" dirty="0"/>
          </a:p>
        </p:txBody>
      </p:sp>
      <p:sp>
        <p:nvSpPr>
          <p:cNvPr id="6" name="Text 3"/>
          <p:cNvSpPr txBox="1"/>
          <p:nvPr/>
        </p:nvSpPr>
        <p:spPr>
          <a:xfrm>
            <a:off x="11185855" y="6473952"/>
            <a:ext cx="457200" cy="228600"/>
          </a:xfrm>
          <a:prstGeom prst="rect">
            <a:avLst/>
          </a:prstGeom>
          <a:noFill/>
          <a:ln/>
        </p:spPr>
        <p:txBody>
          <a:bodyPr wrap="square" lIns="0" tIns="0" rIns="0" bIns="0" rtlCol="0" anchor="ctr"/>
          <a:lstStyle/>
          <a:p>
            <a:pPr marL="0" indent="0" algn="r">
              <a:buNone/>
            </a:pPr>
            <a:r>
              <a:rPr lang="en-US" sz="900" dirty="0">
                <a:solidFill>
                  <a:srgbClr val="6E6064"/>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548640" y="1463040"/>
            <a:ext cx="5364328" cy="3794760"/>
          </a:xfrm>
          <a:prstGeom prst="roundRect">
            <a:avLst>
              <a:gd name="adj" fmla="val 2410"/>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pic>
        <p:nvPicPr>
          <p:cNvPr id="8" name="Image 1" descr="/home/claude/deck/img/google_profile.png"/>
          <p:cNvPicPr>
            <a:picLocks noChangeAspect="1"/>
          </p:cNvPicPr>
          <p:nvPr/>
        </p:nvPicPr>
        <p:blipFill>
          <a:blip r:embed="rId4"/>
          <a:stretch>
            <a:fillRect/>
          </a:stretch>
        </p:blipFill>
        <p:spPr>
          <a:xfrm>
            <a:off x="640080" y="1608803"/>
            <a:ext cx="5181448" cy="3503234"/>
          </a:xfrm>
          <a:prstGeom prst="rect">
            <a:avLst/>
          </a:prstGeom>
        </p:spPr>
      </p:pic>
      <p:sp>
        <p:nvSpPr>
          <p:cNvPr id="9" name="Shape 5"/>
          <p:cNvSpPr/>
          <p:nvPr/>
        </p:nvSpPr>
        <p:spPr>
          <a:xfrm>
            <a:off x="6278728" y="1463040"/>
            <a:ext cx="5364328" cy="3794760"/>
          </a:xfrm>
          <a:prstGeom prst="roundRect">
            <a:avLst>
              <a:gd name="adj" fmla="val 2410"/>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pic>
        <p:nvPicPr>
          <p:cNvPr id="10" name="Image 2" descr="/home/claude/deck/img/gambling_site.png"/>
          <p:cNvPicPr>
            <a:picLocks noChangeAspect="1"/>
          </p:cNvPicPr>
          <p:nvPr/>
        </p:nvPicPr>
        <p:blipFill>
          <a:blip r:embed="rId5"/>
          <a:stretch>
            <a:fillRect/>
          </a:stretch>
        </p:blipFill>
        <p:spPr>
          <a:xfrm>
            <a:off x="6370168" y="1911054"/>
            <a:ext cx="5181448" cy="2898732"/>
          </a:xfrm>
          <a:prstGeom prst="rect">
            <a:avLst/>
          </a:prstGeom>
        </p:spPr>
      </p:pic>
      <p:sp>
        <p:nvSpPr>
          <p:cNvPr id="11" name="Shape 6"/>
          <p:cNvSpPr/>
          <p:nvPr/>
        </p:nvSpPr>
        <p:spPr>
          <a:xfrm>
            <a:off x="4091837" y="3990824"/>
            <a:ext cx="485230" cy="228066"/>
          </a:xfrm>
          <a:prstGeom prst="roundRect">
            <a:avLst>
              <a:gd name="adj" fmla="val 24056"/>
            </a:avLst>
          </a:prstGeom>
          <a:ln w="28575">
            <a:solidFill>
              <a:srgbClr val="C62828"/>
            </a:solidFill>
            <a:prstDash val="solid"/>
          </a:ln>
        </p:spPr>
        <p:txBody>
          <a:bodyPr/>
          <a:lstStyle/>
          <a:p>
            <a:endParaRPr lang="en-US"/>
          </a:p>
        </p:txBody>
      </p:sp>
      <p:sp>
        <p:nvSpPr>
          <p:cNvPr id="12" name="Shape 7"/>
          <p:cNvSpPr/>
          <p:nvPr/>
        </p:nvSpPr>
        <p:spPr>
          <a:xfrm>
            <a:off x="7863338" y="1887074"/>
            <a:ext cx="2200289" cy="176953"/>
          </a:xfrm>
          <a:prstGeom prst="roundRect">
            <a:avLst>
              <a:gd name="adj" fmla="val 31005"/>
            </a:avLst>
          </a:prstGeom>
          <a:ln w="28575">
            <a:solidFill>
              <a:srgbClr val="C62828"/>
            </a:solidFill>
            <a:prstDash val="solid"/>
          </a:ln>
        </p:spPr>
        <p:txBody>
          <a:bodyPr/>
          <a:lstStyle/>
          <a:p>
            <a:endParaRPr lang="en-US"/>
          </a:p>
        </p:txBody>
      </p:sp>
      <p:sp>
        <p:nvSpPr>
          <p:cNvPr id="13" name="Text 8"/>
          <p:cNvSpPr txBox="1"/>
          <p:nvPr/>
        </p:nvSpPr>
        <p:spPr>
          <a:xfrm>
            <a:off x="7955051" y="1545294"/>
            <a:ext cx="2011680" cy="274320"/>
          </a:xfrm>
          <a:prstGeom prst="roundRect">
            <a:avLst>
              <a:gd name="adj" fmla="val 26667"/>
            </a:avLst>
          </a:prstGeom>
          <a:solidFill>
            <a:srgbClr val="C62828"/>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Opens 365dmd.online</a:t>
            </a:r>
            <a:endParaRPr lang="en-US" sz="1100" dirty="0"/>
          </a:p>
        </p:txBody>
      </p:sp>
      <p:sp>
        <p:nvSpPr>
          <p:cNvPr id="14" name="Text 9"/>
          <p:cNvSpPr txBox="1"/>
          <p:nvPr/>
        </p:nvSpPr>
        <p:spPr>
          <a:xfrm>
            <a:off x="548640" y="5321808"/>
            <a:ext cx="5364328" cy="256032"/>
          </a:xfrm>
          <a:prstGeom prst="rect">
            <a:avLst/>
          </a:prstGeom>
          <a:noFill/>
          <a:ln/>
        </p:spPr>
        <p:txBody>
          <a:bodyPr wrap="square" lIns="0" tIns="0" rIns="0" bIns="0" rtlCol="0" anchor="ctr"/>
          <a:lstStyle/>
          <a:p>
            <a:pPr marL="0" indent="0">
              <a:buNone/>
            </a:pPr>
            <a:r>
              <a:rPr lang="en-US" sz="1050" i="1" dirty="0">
                <a:solidFill>
                  <a:srgbClr val="6E6064"/>
                </a:solidFill>
                <a:latin typeface="Calibri" pitchFamily="34" charset="0"/>
                <a:ea typeface="Calibri" pitchFamily="34" charset="-122"/>
                <a:cs typeface="Calibri" pitchFamily="34" charset="-120"/>
              </a:rPr>
              <a:t>Google search for "ballotte dance academy", 11 Sep 2026</a:t>
            </a:r>
            <a:endParaRPr lang="en-US" sz="1050" dirty="0"/>
          </a:p>
        </p:txBody>
      </p:sp>
      <p:sp>
        <p:nvSpPr>
          <p:cNvPr id="15" name="Text 10"/>
          <p:cNvSpPr txBox="1"/>
          <p:nvPr/>
        </p:nvSpPr>
        <p:spPr>
          <a:xfrm>
            <a:off x="6278728" y="5321808"/>
            <a:ext cx="5364328" cy="256032"/>
          </a:xfrm>
          <a:prstGeom prst="rect">
            <a:avLst/>
          </a:prstGeom>
          <a:noFill/>
          <a:ln/>
        </p:spPr>
        <p:txBody>
          <a:bodyPr wrap="square" lIns="0" tIns="0" rIns="0" bIns="0" rtlCol="0" anchor="ctr"/>
          <a:lstStyle/>
          <a:p>
            <a:pPr marL="0" indent="0">
              <a:buNone/>
            </a:pPr>
            <a:r>
              <a:rPr lang="en-US" sz="1050" i="1" dirty="0">
                <a:solidFill>
                  <a:srgbClr val="6E6064"/>
                </a:solidFill>
                <a:latin typeface="Calibri" pitchFamily="34" charset="0"/>
                <a:ea typeface="Calibri" pitchFamily="34" charset="-122"/>
                <a:cs typeface="Calibri" pitchFamily="34" charset="-120"/>
              </a:rPr>
              <a:t>Where the Website link on Google leads: 365dmd.online, 11 Sep 2026</a:t>
            </a:r>
            <a:endParaRPr lang="en-US" sz="1050" dirty="0"/>
          </a:p>
        </p:txBody>
      </p:sp>
      <p:sp>
        <p:nvSpPr>
          <p:cNvPr id="16" name="Shape 11"/>
          <p:cNvSpPr/>
          <p:nvPr/>
        </p:nvSpPr>
        <p:spPr>
          <a:xfrm>
            <a:off x="548640" y="5715000"/>
            <a:ext cx="347472" cy="347472"/>
          </a:xfrm>
          <a:prstGeom prst="ellipse">
            <a:avLst/>
          </a:prstGeom>
          <a:solidFill>
            <a:srgbClr val="2E7D32"/>
          </a:solidFill>
          <a:ln w="12700">
            <a:solidFill>
              <a:srgbClr val="2E7D32"/>
            </a:solidFill>
            <a:prstDash val="solid"/>
          </a:ln>
        </p:spPr>
        <p:txBody>
          <a:bodyPr/>
          <a:lstStyle/>
          <a:p>
            <a:endParaRPr lang="en-US"/>
          </a:p>
        </p:txBody>
      </p:sp>
      <p:sp>
        <p:nvSpPr>
          <p:cNvPr id="17" name="Text 12"/>
          <p:cNvSpPr txBox="1"/>
          <p:nvPr/>
        </p:nvSpPr>
        <p:spPr>
          <a:xfrm>
            <a:off x="548640" y="571500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a:t>
            </a:r>
            <a:endParaRPr lang="en-US" sz="1200" dirty="0"/>
          </a:p>
        </p:txBody>
      </p:sp>
      <p:sp>
        <p:nvSpPr>
          <p:cNvPr id="18" name="Text 13"/>
          <p:cNvSpPr txBox="1"/>
          <p:nvPr/>
        </p:nvSpPr>
        <p:spPr>
          <a:xfrm>
            <a:off x="1051560" y="5669280"/>
            <a:ext cx="4861408" cy="566928"/>
          </a:xfrm>
          <a:prstGeom prst="rect">
            <a:avLst/>
          </a:prstGeom>
          <a:noFill/>
          <a:ln/>
        </p:spPr>
        <p:txBody>
          <a:bodyPr wrap="square" lIns="0" tIns="0" rIns="0" bIns="0" rtlCol="0" anchor="t"/>
          <a:lstStyle/>
          <a:p>
            <a:pPr marL="0" indent="0">
              <a:buNone/>
            </a:pPr>
            <a:r>
              <a:rPr lang="en-US" sz="1250" b="1" dirty="0">
                <a:solidFill>
                  <a:srgbClr val="2E1F27"/>
                </a:solidFill>
                <a:latin typeface="Calibri" pitchFamily="34" charset="0"/>
                <a:ea typeface="Calibri" pitchFamily="34" charset="-122"/>
                <a:cs typeface="Calibri" pitchFamily="34" charset="-120"/>
              </a:rPr>
              <a:t>Strong reviews.  </a:t>
            </a:r>
            <a:r>
              <a:rPr lang="en-US" sz="1250" dirty="0">
                <a:solidFill>
                  <a:srgbClr val="2B2124"/>
                </a:solidFill>
                <a:latin typeface="Calibri" pitchFamily="34" charset="0"/>
                <a:ea typeface="Calibri" pitchFamily="34" charset="-122"/>
                <a:cs typeface="Calibri" pitchFamily="34" charset="-120"/>
              </a:rPr>
              <a:t>4.8 stars from 55 Google reviews, with phone number, hours and directions all showing.</a:t>
            </a:r>
            <a:endParaRPr lang="en-US" sz="1250" dirty="0"/>
          </a:p>
        </p:txBody>
      </p:sp>
      <p:sp>
        <p:nvSpPr>
          <p:cNvPr id="19" name="Shape 14"/>
          <p:cNvSpPr/>
          <p:nvPr/>
        </p:nvSpPr>
        <p:spPr>
          <a:xfrm>
            <a:off x="6278728" y="5715000"/>
            <a:ext cx="347472" cy="347472"/>
          </a:xfrm>
          <a:prstGeom prst="ellipse">
            <a:avLst/>
          </a:prstGeom>
          <a:solidFill>
            <a:srgbClr val="C62828"/>
          </a:solidFill>
          <a:ln w="12700">
            <a:solidFill>
              <a:srgbClr val="C62828"/>
            </a:solidFill>
            <a:prstDash val="solid"/>
          </a:ln>
        </p:spPr>
        <p:txBody>
          <a:bodyPr/>
          <a:lstStyle/>
          <a:p>
            <a:endParaRPr lang="en-US"/>
          </a:p>
        </p:txBody>
      </p:sp>
      <p:sp>
        <p:nvSpPr>
          <p:cNvPr id="20" name="Text 15"/>
          <p:cNvSpPr txBox="1"/>
          <p:nvPr/>
        </p:nvSpPr>
        <p:spPr>
          <a:xfrm>
            <a:off x="6278728" y="571500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21" name="Text 16"/>
          <p:cNvSpPr txBox="1"/>
          <p:nvPr/>
        </p:nvSpPr>
        <p:spPr>
          <a:xfrm>
            <a:off x="6781648" y="5669280"/>
            <a:ext cx="4861408" cy="566928"/>
          </a:xfrm>
          <a:prstGeom prst="rect">
            <a:avLst/>
          </a:prstGeom>
          <a:noFill/>
          <a:ln/>
        </p:spPr>
        <p:txBody>
          <a:bodyPr wrap="square" lIns="0" tIns="0" rIns="0" bIns="0" rtlCol="0" anchor="t"/>
          <a:lstStyle/>
          <a:p>
            <a:pPr marL="0" indent="0">
              <a:buNone/>
            </a:pPr>
            <a:r>
              <a:rPr lang="en-US" sz="1250" b="1" dirty="0">
                <a:solidFill>
                  <a:srgbClr val="C62828"/>
                </a:solidFill>
                <a:latin typeface="Calibri" pitchFamily="34" charset="0"/>
                <a:ea typeface="Calibri" pitchFamily="34" charset="-122"/>
                <a:cs typeface="Calibri" pitchFamily="34" charset="-120"/>
              </a:rPr>
              <a:t>Website link goes to a gambling site.  </a:t>
            </a:r>
            <a:r>
              <a:rPr lang="en-US" sz="1250" dirty="0">
                <a:solidFill>
                  <a:srgbClr val="2B2124"/>
                </a:solidFill>
                <a:latin typeface="Calibri" pitchFamily="34" charset="0"/>
                <a:ea typeface="Calibri" pitchFamily="34" charset="-122"/>
                <a:cs typeface="Calibri" pitchFamily="34" charset="-120"/>
              </a:rPr>
              <a:t>Parents who click it land on an online casino, which hurts trust in the studio.</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100" b="1" kern="0" spc="400" dirty="0">
                <a:solidFill>
                  <a:srgbClr val="9C6445"/>
                </a:solidFill>
                <a:latin typeface="Calibri" pitchFamily="34" charset="0"/>
                <a:ea typeface="Calibri" pitchFamily="34" charset="-122"/>
                <a:cs typeface="Calibri" pitchFamily="34" charset="-120"/>
              </a:rPr>
              <a:t>04  ONLINE PRESENCE</a:t>
            </a:r>
            <a:endParaRPr lang="en-US" sz="1100" dirty="0"/>
          </a:p>
        </p:txBody>
      </p:sp>
      <p:sp>
        <p:nvSpPr>
          <p:cNvPr id="3" name="Text 1"/>
          <p:cNvSpPr txBox="1"/>
          <p:nvPr/>
        </p:nvSpPr>
        <p:spPr>
          <a:xfrm>
            <a:off x="548640" y="621792"/>
            <a:ext cx="10241280" cy="658368"/>
          </a:xfrm>
          <a:prstGeom prst="rect">
            <a:avLst/>
          </a:prstGeom>
          <a:noFill/>
          <a:ln/>
        </p:spPr>
        <p:txBody>
          <a:bodyPr wrap="square" lIns="0" tIns="0" rIns="0" bIns="0" rtlCol="0" anchor="ctr"/>
          <a:lstStyle/>
          <a:p>
            <a:pPr marL="0" indent="0">
              <a:buNone/>
            </a:pPr>
            <a:r>
              <a:rPr lang="en-US" sz="3000" b="1" dirty="0">
                <a:solidFill>
                  <a:srgbClr val="2E1F27"/>
                </a:solidFill>
                <a:latin typeface="Cambria" pitchFamily="34" charset="0"/>
                <a:ea typeface="Cambria" pitchFamily="34" charset="-122"/>
                <a:cs typeface="Cambria" pitchFamily="34" charset="-120"/>
              </a:rPr>
              <a:t>What competitors are doing</a:t>
            </a:r>
            <a:endParaRPr lang="en-US" sz="3000" dirty="0"/>
          </a:p>
        </p:txBody>
      </p:sp>
      <p:pic>
        <p:nvPicPr>
          <p:cNvPr id="4" name="Image 0" descr="/home/claude/deck/img/dancer_rose.png"/>
          <p:cNvPicPr>
            <a:picLocks noChangeAspect="1"/>
          </p:cNvPicPr>
          <p:nvPr/>
        </p:nvPicPr>
        <p:blipFill>
          <a:blip r:embed="rId3"/>
          <a:stretch>
            <a:fillRect/>
          </a:stretch>
        </p:blipFill>
        <p:spPr>
          <a:xfrm>
            <a:off x="11076127" y="292384"/>
            <a:ext cx="566928" cy="677105"/>
          </a:xfrm>
          <a:prstGeom prst="rect">
            <a:avLst/>
          </a:prstGeom>
        </p:spPr>
      </p:pic>
      <p:sp>
        <p:nvSpPr>
          <p:cNvPr id="5" name="Text 2"/>
          <p:cNvSpPr txBox="1"/>
          <p:nvPr/>
        </p:nvSpPr>
        <p:spPr>
          <a:xfrm>
            <a:off x="548640" y="6473952"/>
            <a:ext cx="4572000" cy="228600"/>
          </a:xfrm>
          <a:prstGeom prst="rect">
            <a:avLst/>
          </a:prstGeom>
          <a:noFill/>
          <a:ln/>
        </p:spPr>
        <p:txBody>
          <a:bodyPr wrap="square" lIns="0" tIns="0" rIns="0" bIns="0" rtlCol="0" anchor="ctr"/>
          <a:lstStyle/>
          <a:p>
            <a:pPr marL="0" indent="0">
              <a:buNone/>
            </a:pPr>
            <a:r>
              <a:rPr lang="en-US" sz="900" dirty="0">
                <a:solidFill>
                  <a:srgbClr val="6E6064"/>
                </a:solidFill>
                <a:latin typeface="Calibri" pitchFamily="34" charset="0"/>
                <a:ea typeface="Calibri" pitchFamily="34" charset="-122"/>
                <a:cs typeface="Calibri" pitchFamily="34" charset="-120"/>
              </a:rPr>
              <a:t>Ballotté Dance Academy #Puchong</a:t>
            </a:r>
            <a:endParaRPr lang="en-US" sz="900" dirty="0"/>
          </a:p>
        </p:txBody>
      </p:sp>
      <p:sp>
        <p:nvSpPr>
          <p:cNvPr id="6" name="Text 3"/>
          <p:cNvSpPr txBox="1"/>
          <p:nvPr/>
        </p:nvSpPr>
        <p:spPr>
          <a:xfrm>
            <a:off x="11185855" y="6473952"/>
            <a:ext cx="457200" cy="228600"/>
          </a:xfrm>
          <a:prstGeom prst="rect">
            <a:avLst/>
          </a:prstGeom>
          <a:noFill/>
          <a:ln/>
        </p:spPr>
        <p:txBody>
          <a:bodyPr wrap="square" lIns="0" tIns="0" rIns="0" bIns="0" rtlCol="0" anchor="ctr"/>
          <a:lstStyle/>
          <a:p>
            <a:pPr marL="0" indent="0" algn="r">
              <a:buNone/>
            </a:pPr>
            <a:r>
              <a:rPr lang="en-US" sz="900" dirty="0">
                <a:solidFill>
                  <a:srgbClr val="6E6064"/>
                </a:solidFill>
                <a:latin typeface="Calibri" pitchFamily="34" charset="0"/>
                <a:ea typeface="Calibri" pitchFamily="34" charset="-122"/>
                <a:cs typeface="Calibri"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4005072"/>
        </p:xfrm>
        <a:graphic>
          <a:graphicData uri="http://schemas.openxmlformats.org/drawingml/2006/table">
            <a:tbl>
              <a:tblPr/>
              <a:tblGrid>
                <a:gridCol w="17373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873752">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Studio</a:t>
                      </a:r>
                      <a:endParaRPr lang="en-US" sz="11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Events seen online</a:t>
                      </a:r>
                      <a:endParaRPr lang="en-US" sz="11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Marketing strategy</a:t>
                      </a:r>
                      <a:endParaRPr lang="en-US" sz="11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extLst>
                  <a:ext uri="{0D108BD9-81ED-4DB2-BD59-A6C34878D82A}">
                    <a16:rowId xmlns:a16="http://schemas.microsoft.com/office/drawing/2014/main" val="10000"/>
                  </a:ext>
                </a:extLst>
              </a:tr>
              <a:tr h="822960">
                <a:tc>
                  <a:txBody>
                    <a:bodyPr/>
                    <a:lstStyle/>
                    <a:p>
                      <a:pPr marL="0" indent="0">
                        <a:buNone/>
                      </a:pPr>
                      <a:r>
                        <a:rPr lang="en-US" sz="1200" b="1" dirty="0">
                          <a:solidFill>
                            <a:srgbClr val="2E1F27"/>
                          </a:solidFill>
                          <a:latin typeface="Calibri" pitchFamily="34" charset="0"/>
                          <a:ea typeface="Calibri" pitchFamily="34" charset="-122"/>
                          <a:cs typeface="Calibri" pitchFamily="34" charset="-120"/>
                        </a:rPr>
                        <a:t>Pointe &amp; Music</a:t>
                      </a:r>
                      <a:endParaRPr lang="en-US" sz="12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Competitions in 2025: Asia Open Dance Championship, Hong Kong Challenge Cup, CSTD 12th Malaysia Dance Competition</a:t>
                      </a:r>
                      <a:endParaRPr lang="en-US" sz="11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Monthly parent blog (e.g. "best age to start ballet")</a:t>
                      </a:r>
                      <a:endParaRPr lang="en-US" sz="1100" dirty="0">
                        <a:latin typeface="Calibri" charset="0"/>
                        <a:ea typeface="Calibri" charset="0"/>
                        <a:cs typeface="Calibri" charset="0"/>
                      </a:endParaRPr>
                    </a:p>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Awards page and online trial booking</a:t>
                      </a:r>
                      <a:endParaRPr lang="en-US" sz="1100" dirty="0">
                        <a:latin typeface="Calibri" charset="0"/>
                        <a:ea typeface="Calibri" charset="0"/>
                        <a:cs typeface="Calibri" charset="0"/>
                      </a:endParaRPr>
                    </a:p>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Website pages naming Puchong and Bukit Jalil for Google</a:t>
                      </a:r>
                      <a:endParaRPr lang="en-US" sz="11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buNone/>
                      </a:pPr>
                      <a:r>
                        <a:rPr lang="en-US" sz="1200" b="1" dirty="0">
                          <a:solidFill>
                            <a:srgbClr val="2E1F27"/>
                          </a:solidFill>
                          <a:latin typeface="Calibri" pitchFamily="34" charset="0"/>
                          <a:ea typeface="Calibri" pitchFamily="34" charset="-122"/>
                          <a:cs typeface="Calibri" pitchFamily="34" charset="-120"/>
                        </a:rPr>
                        <a:t>Angie Lee</a:t>
                      </a:r>
                      <a:endParaRPr lang="en-US" sz="12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Celebrated MXDC 2025 competition winners</a:t>
                      </a:r>
                      <a:endParaRPr lang="en-US" sz="1100" dirty="0">
                        <a:latin typeface="Calibri" charset="0"/>
                        <a:ea typeface="Calibri" charset="0"/>
                        <a:cs typeface="Calibri" charset="0"/>
                      </a:endParaRPr>
                    </a:p>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Joint Open Day with Fusion Music Studio Puchong</a:t>
                      </a:r>
                      <a:endParaRPr lang="en-US" sz="11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Buro247 magazine feature</a:t>
                      </a:r>
                      <a:endParaRPr lang="en-US" sz="1100" dirty="0">
                        <a:latin typeface="Calibri" charset="0"/>
                        <a:ea typeface="Calibri" charset="0"/>
                        <a:cs typeface="Calibri" charset="0"/>
                      </a:endParaRPr>
                    </a:p>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Adult ballet for ages 18+</a:t>
                      </a:r>
                      <a:endParaRPr lang="en-US" sz="1100" dirty="0">
                        <a:latin typeface="Calibri" charset="0"/>
                        <a:ea typeface="Calibri" charset="0"/>
                        <a:cs typeface="Calibri" charset="0"/>
                      </a:endParaRPr>
                    </a:p>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WhatsApp button and 4 Facebook reviews</a:t>
                      </a:r>
                      <a:endParaRPr lang="en-US" sz="11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extLst>
                  <a:ext uri="{0D108BD9-81ED-4DB2-BD59-A6C34878D82A}">
                    <a16:rowId xmlns:a16="http://schemas.microsoft.com/office/drawing/2014/main" val="10002"/>
                  </a:ext>
                </a:extLst>
              </a:tr>
              <a:tr h="749808">
                <a:tc>
                  <a:txBody>
                    <a:bodyPr/>
                    <a:lstStyle/>
                    <a:p>
                      <a:pPr marL="0" indent="0">
                        <a:buNone/>
                      </a:pPr>
                      <a:r>
                        <a:rPr lang="en-US" sz="1200" b="1" dirty="0">
                          <a:solidFill>
                            <a:srgbClr val="2E1F27"/>
                          </a:solidFill>
                          <a:latin typeface="Calibri" pitchFamily="34" charset="0"/>
                          <a:ea typeface="Calibri" pitchFamily="34" charset="-122"/>
                          <a:cs typeface="Calibri" pitchFamily="34" charset="-120"/>
                        </a:rPr>
                        <a:t>Great Dance</a:t>
                      </a:r>
                      <a:endParaRPr lang="en-US" sz="12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2026: International Ballet Grand Prix, Asian Elite Dance Competition, RAD exams</a:t>
                      </a:r>
                      <a:endParaRPr lang="en-US" sz="1100" dirty="0">
                        <a:latin typeface="Calibri" charset="0"/>
                        <a:ea typeface="Calibri" charset="0"/>
                        <a:cs typeface="Calibri" charset="0"/>
                      </a:endParaRPr>
                    </a:p>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Own Academy Day showcase</a:t>
                      </a:r>
                      <a:endParaRPr lang="en-US" sz="11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A news post for every event</a:t>
                      </a:r>
                      <a:endParaRPr lang="en-US" sz="1100" dirty="0">
                        <a:latin typeface="Calibri" charset="0"/>
                        <a:ea typeface="Calibri" charset="0"/>
                        <a:cs typeface="Calibri" charset="0"/>
                      </a:endParaRPr>
                    </a:p>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Email newsletter sign-up</a:t>
                      </a:r>
                      <a:endParaRPr lang="en-US" sz="1100" dirty="0">
                        <a:latin typeface="Calibri" charset="0"/>
                        <a:ea typeface="Calibri" charset="0"/>
                        <a:cs typeface="Calibri" charset="0"/>
                      </a:endParaRPr>
                    </a:p>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HiParents enrolment post; two branches</a:t>
                      </a:r>
                      <a:endParaRPr lang="en-US" sz="11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200" b="1" dirty="0">
                          <a:solidFill>
                            <a:srgbClr val="2E1F27"/>
                          </a:solidFill>
                          <a:latin typeface="Calibri" pitchFamily="34" charset="0"/>
                          <a:ea typeface="Calibri" pitchFamily="34" charset="-122"/>
                          <a:cs typeface="Calibri" pitchFamily="34" charset="-120"/>
                        </a:rPr>
                        <a:t>Dance Rise</a:t>
                      </a:r>
                      <a:endParaRPr lang="en-US" sz="12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None found online</a:t>
                      </a:r>
                      <a:endParaRPr lang="en-US" sz="11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Adult barre sold as fitness (toning, posture)</a:t>
                      </a:r>
                      <a:endParaRPr lang="en-US" sz="1100" dirty="0">
                        <a:latin typeface="Calibri" charset="0"/>
                        <a:ea typeface="Calibri" charset="0"/>
                        <a:cs typeface="Calibri" charset="0"/>
                      </a:endParaRPr>
                    </a:p>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HiParents listing and a free website</a:t>
                      </a:r>
                      <a:endParaRPr lang="en-US" sz="11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extLst>
                  <a:ext uri="{0D108BD9-81ED-4DB2-BD59-A6C34878D82A}">
                    <a16:rowId xmlns:a16="http://schemas.microsoft.com/office/drawing/2014/main" val="10004"/>
                  </a:ext>
                </a:extLst>
              </a:tr>
              <a:tr h="749808">
                <a:tc>
                  <a:txBody>
                    <a:bodyPr/>
                    <a:lstStyle/>
                    <a:p>
                      <a:pPr marL="0" indent="0">
                        <a:buNone/>
                      </a:pPr>
                      <a:r>
                        <a:rPr lang="en-US" sz="1200" b="1" dirty="0">
                          <a:solidFill>
                            <a:srgbClr val="2E1F27"/>
                          </a:solidFill>
                          <a:latin typeface="Calibri" pitchFamily="34" charset="0"/>
                          <a:ea typeface="Calibri" pitchFamily="34" charset="-122"/>
                          <a:cs typeface="Calibri" pitchFamily="34" charset="-120"/>
                        </a:rPr>
                        <a:t>Dua Space</a:t>
                      </a:r>
                      <a:endParaRPr lang="en-US" sz="12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Ticketed stage shows sold on CloudJoi</a:t>
                      </a:r>
                      <a:endParaRPr lang="en-US" sz="1100" dirty="0">
                        <a:latin typeface="Calibri" charset="0"/>
                        <a:ea typeface="Calibri" charset="0"/>
                        <a:cs typeface="Calibri" charset="0"/>
                      </a:endParaRPr>
                    </a:p>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Silver Ballet 55+ launched August 2026</a:t>
                      </a:r>
                      <a:endParaRPr lang="en-US" sz="11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Adult classes: pilates, yoga, Chinese dance, adult ballet</a:t>
                      </a:r>
                      <a:endParaRPr lang="en-US" sz="1100" dirty="0">
                        <a:latin typeface="Calibri" charset="0"/>
                        <a:ea typeface="Calibri" charset="0"/>
                        <a:cs typeface="Calibri" charset="0"/>
                      </a:endParaRPr>
                    </a:p>
                    <a:p>
                      <a:pPr marL="152400" indent="-152400">
                        <a:buSzPct val="100000"/>
                        <a:buChar char="•"/>
                      </a:pPr>
                      <a:r>
                        <a:rPr lang="en-US" sz="1100" dirty="0">
                          <a:solidFill>
                            <a:srgbClr val="2B2124"/>
                          </a:solidFill>
                          <a:latin typeface="Calibri" pitchFamily="34" charset="0"/>
                          <a:ea typeface="Calibri" pitchFamily="34" charset="-122"/>
                          <a:cs typeface="Calibri" pitchFamily="34" charset="-120"/>
                        </a:rPr>
                        <a:t>Bilingual English and Chinese branding</a:t>
                      </a:r>
                      <a:endParaRPr lang="en-US" sz="1100" dirty="0">
                        <a:latin typeface="Calibri" charset="0"/>
                        <a:ea typeface="Calibri" charset="0"/>
                        <a:cs typeface="Calibri" charset="0"/>
                      </a:endParaRPr>
                    </a:p>
                  </a:txBody>
                  <a:tcPr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100" b="1" kern="0" spc="400" dirty="0">
                <a:solidFill>
                  <a:srgbClr val="9C6445"/>
                </a:solidFill>
                <a:latin typeface="Calibri" pitchFamily="34" charset="0"/>
                <a:ea typeface="Calibri" pitchFamily="34" charset="-122"/>
                <a:cs typeface="Calibri" pitchFamily="34" charset="-120"/>
              </a:rPr>
              <a:t>04  ONLINE PRESENCE</a:t>
            </a:r>
            <a:endParaRPr lang="en-US" sz="1100" dirty="0"/>
          </a:p>
        </p:txBody>
      </p:sp>
      <p:sp>
        <p:nvSpPr>
          <p:cNvPr id="3" name="Text 1"/>
          <p:cNvSpPr txBox="1"/>
          <p:nvPr/>
        </p:nvSpPr>
        <p:spPr>
          <a:xfrm>
            <a:off x="548640" y="621792"/>
            <a:ext cx="10241280" cy="658368"/>
          </a:xfrm>
          <a:prstGeom prst="rect">
            <a:avLst/>
          </a:prstGeom>
          <a:noFill/>
          <a:ln/>
        </p:spPr>
        <p:txBody>
          <a:bodyPr wrap="square" lIns="0" tIns="0" rIns="0" bIns="0" rtlCol="0" anchor="ctr"/>
          <a:lstStyle/>
          <a:p>
            <a:pPr marL="0" indent="0">
              <a:buNone/>
            </a:pPr>
            <a:r>
              <a:rPr lang="en-US" sz="3000" b="1" dirty="0">
                <a:solidFill>
                  <a:srgbClr val="2E1F27"/>
                </a:solidFill>
                <a:latin typeface="Cambria" pitchFamily="34" charset="0"/>
                <a:ea typeface="Cambria" pitchFamily="34" charset="-122"/>
                <a:cs typeface="Cambria" pitchFamily="34" charset="-120"/>
              </a:rPr>
              <a:t>A look at their pages</a:t>
            </a:r>
            <a:endParaRPr lang="en-US" sz="3000" dirty="0"/>
          </a:p>
        </p:txBody>
      </p:sp>
      <p:pic>
        <p:nvPicPr>
          <p:cNvPr id="4" name="Image 0" descr="/home/claude/deck/img/dancer_rose.png"/>
          <p:cNvPicPr>
            <a:picLocks noChangeAspect="1"/>
          </p:cNvPicPr>
          <p:nvPr/>
        </p:nvPicPr>
        <p:blipFill>
          <a:blip r:embed="rId3"/>
          <a:stretch>
            <a:fillRect/>
          </a:stretch>
        </p:blipFill>
        <p:spPr>
          <a:xfrm>
            <a:off x="11076127" y="292384"/>
            <a:ext cx="566928" cy="677105"/>
          </a:xfrm>
          <a:prstGeom prst="rect">
            <a:avLst/>
          </a:prstGeom>
        </p:spPr>
      </p:pic>
      <p:sp>
        <p:nvSpPr>
          <p:cNvPr id="5" name="Text 2"/>
          <p:cNvSpPr txBox="1"/>
          <p:nvPr/>
        </p:nvSpPr>
        <p:spPr>
          <a:xfrm>
            <a:off x="548640" y="6473952"/>
            <a:ext cx="4572000" cy="228600"/>
          </a:xfrm>
          <a:prstGeom prst="rect">
            <a:avLst/>
          </a:prstGeom>
          <a:noFill/>
          <a:ln/>
        </p:spPr>
        <p:txBody>
          <a:bodyPr wrap="square" lIns="0" tIns="0" rIns="0" bIns="0" rtlCol="0" anchor="ctr"/>
          <a:lstStyle/>
          <a:p>
            <a:pPr marL="0" indent="0">
              <a:buNone/>
            </a:pPr>
            <a:r>
              <a:rPr lang="en-US" sz="900" dirty="0">
                <a:solidFill>
                  <a:srgbClr val="6E6064"/>
                </a:solidFill>
                <a:latin typeface="Calibri" pitchFamily="34" charset="0"/>
                <a:ea typeface="Calibri" pitchFamily="34" charset="-122"/>
                <a:cs typeface="Calibri" pitchFamily="34" charset="-120"/>
              </a:rPr>
              <a:t>Ballotté Dance Academy #Puchong</a:t>
            </a:r>
            <a:endParaRPr lang="en-US" sz="900" dirty="0"/>
          </a:p>
        </p:txBody>
      </p:sp>
      <p:sp>
        <p:nvSpPr>
          <p:cNvPr id="6" name="Text 3"/>
          <p:cNvSpPr txBox="1"/>
          <p:nvPr/>
        </p:nvSpPr>
        <p:spPr>
          <a:xfrm>
            <a:off x="11185855" y="6473952"/>
            <a:ext cx="457200" cy="228600"/>
          </a:xfrm>
          <a:prstGeom prst="rect">
            <a:avLst/>
          </a:prstGeom>
          <a:noFill/>
          <a:ln/>
        </p:spPr>
        <p:txBody>
          <a:bodyPr wrap="square" lIns="0" tIns="0" rIns="0" bIns="0" rtlCol="0" anchor="ctr"/>
          <a:lstStyle/>
          <a:p>
            <a:pPr marL="0" indent="0" algn="r">
              <a:buNone/>
            </a:pPr>
            <a:r>
              <a:rPr lang="en-US" sz="900" dirty="0">
                <a:solidFill>
                  <a:srgbClr val="6E6064"/>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548640" y="1463040"/>
            <a:ext cx="5364328" cy="1965960"/>
          </a:xfrm>
          <a:prstGeom prst="roundRect">
            <a:avLst>
              <a:gd name="adj" fmla="val 4651"/>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pic>
        <p:nvPicPr>
          <p:cNvPr id="8" name="Image 1" descr="/home/claude/deck/img/pointe_fb_c.png"/>
          <p:cNvPicPr>
            <a:picLocks noChangeAspect="1"/>
          </p:cNvPicPr>
          <p:nvPr/>
        </p:nvPicPr>
        <p:blipFill>
          <a:blip r:embed="rId4"/>
          <a:stretch>
            <a:fillRect/>
          </a:stretch>
        </p:blipFill>
        <p:spPr>
          <a:xfrm>
            <a:off x="956234" y="1536192"/>
            <a:ext cx="4549140" cy="1819656"/>
          </a:xfrm>
          <a:prstGeom prst="rect">
            <a:avLst/>
          </a:prstGeom>
        </p:spPr>
      </p:pic>
      <p:sp>
        <p:nvSpPr>
          <p:cNvPr id="9" name="Text 5"/>
          <p:cNvSpPr txBox="1"/>
          <p:nvPr/>
        </p:nvSpPr>
        <p:spPr>
          <a:xfrm>
            <a:off x="548640" y="3493008"/>
            <a:ext cx="5364328" cy="274320"/>
          </a:xfrm>
          <a:prstGeom prst="rect">
            <a:avLst/>
          </a:prstGeom>
          <a:noFill/>
          <a:ln/>
        </p:spPr>
        <p:txBody>
          <a:bodyPr wrap="square" lIns="0" tIns="0" rIns="0" bIns="0" rtlCol="0" anchor="ctr"/>
          <a:lstStyle/>
          <a:p>
            <a:pPr marL="0" indent="0">
              <a:buNone/>
            </a:pPr>
            <a:r>
              <a:rPr lang="en-US" sz="1050" i="1" dirty="0">
                <a:solidFill>
                  <a:srgbClr val="6E6064"/>
                </a:solidFill>
                <a:latin typeface="Calibri" pitchFamily="34" charset="0"/>
                <a:ea typeface="Calibri" pitchFamily="34" charset="-122"/>
                <a:cs typeface="Calibri" pitchFamily="34" charset="-120"/>
              </a:rPr>
              <a:t>Pointe &amp; Music: 3.6K Facebook followers, 2.2K on Instagram, WhatsApp button</a:t>
            </a:r>
            <a:endParaRPr lang="en-US" sz="1050" dirty="0"/>
          </a:p>
        </p:txBody>
      </p:sp>
      <p:sp>
        <p:nvSpPr>
          <p:cNvPr id="10" name="Shape 6"/>
          <p:cNvSpPr/>
          <p:nvPr/>
        </p:nvSpPr>
        <p:spPr>
          <a:xfrm>
            <a:off x="6278728" y="1463040"/>
            <a:ext cx="5364328" cy="1965960"/>
          </a:xfrm>
          <a:prstGeom prst="roundRect">
            <a:avLst>
              <a:gd name="adj" fmla="val 4651"/>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pic>
        <p:nvPicPr>
          <p:cNvPr id="11" name="Image 2" descr="/home/claude/deck/img/duaspace_fb_c.png"/>
          <p:cNvPicPr>
            <a:picLocks noChangeAspect="1"/>
          </p:cNvPicPr>
          <p:nvPr/>
        </p:nvPicPr>
        <p:blipFill>
          <a:blip r:embed="rId5"/>
          <a:stretch>
            <a:fillRect/>
          </a:stretch>
        </p:blipFill>
        <p:spPr>
          <a:xfrm>
            <a:off x="6728970" y="1536192"/>
            <a:ext cx="4463844" cy="1819656"/>
          </a:xfrm>
          <a:prstGeom prst="rect">
            <a:avLst/>
          </a:prstGeom>
        </p:spPr>
      </p:pic>
      <p:sp>
        <p:nvSpPr>
          <p:cNvPr id="12" name="Text 7"/>
          <p:cNvSpPr txBox="1"/>
          <p:nvPr/>
        </p:nvSpPr>
        <p:spPr>
          <a:xfrm>
            <a:off x="6278728" y="3493008"/>
            <a:ext cx="5364328" cy="274320"/>
          </a:xfrm>
          <a:prstGeom prst="rect">
            <a:avLst/>
          </a:prstGeom>
          <a:noFill/>
          <a:ln/>
        </p:spPr>
        <p:txBody>
          <a:bodyPr wrap="square" lIns="0" tIns="0" rIns="0" bIns="0" rtlCol="0" anchor="ctr"/>
          <a:lstStyle/>
          <a:p>
            <a:pPr marL="0" indent="0">
              <a:buNone/>
            </a:pPr>
            <a:r>
              <a:rPr lang="en-US" sz="1050" i="1" dirty="0">
                <a:solidFill>
                  <a:srgbClr val="6E6064"/>
                </a:solidFill>
                <a:latin typeface="Calibri" pitchFamily="34" charset="0"/>
                <a:ea typeface="Calibri" pitchFamily="34" charset="-122"/>
                <a:cs typeface="Calibri" pitchFamily="34" charset="-120"/>
              </a:rPr>
              <a:t>Dua Space: new Silver Ballet 55+ class for adults aged 55 and over</a:t>
            </a:r>
            <a:endParaRPr lang="en-US" sz="1050" dirty="0"/>
          </a:p>
        </p:txBody>
      </p:sp>
      <p:sp>
        <p:nvSpPr>
          <p:cNvPr id="13" name="Shape 8"/>
          <p:cNvSpPr/>
          <p:nvPr/>
        </p:nvSpPr>
        <p:spPr>
          <a:xfrm>
            <a:off x="548640" y="3931920"/>
            <a:ext cx="5364328" cy="1965960"/>
          </a:xfrm>
          <a:prstGeom prst="roundRect">
            <a:avLst>
              <a:gd name="adj" fmla="val 4651"/>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pic>
        <p:nvPicPr>
          <p:cNvPr id="14" name="Image 3" descr="/home/claude/deck/img/angielee_fb_c.png"/>
          <p:cNvPicPr>
            <a:picLocks noChangeAspect="1"/>
          </p:cNvPicPr>
          <p:nvPr/>
        </p:nvPicPr>
        <p:blipFill>
          <a:blip r:embed="rId6"/>
          <a:stretch>
            <a:fillRect/>
          </a:stretch>
        </p:blipFill>
        <p:spPr>
          <a:xfrm>
            <a:off x="1319197" y="4005072"/>
            <a:ext cx="3823213" cy="1819656"/>
          </a:xfrm>
          <a:prstGeom prst="rect">
            <a:avLst/>
          </a:prstGeom>
        </p:spPr>
      </p:pic>
      <p:sp>
        <p:nvSpPr>
          <p:cNvPr id="15" name="Text 9"/>
          <p:cNvSpPr txBox="1"/>
          <p:nvPr/>
        </p:nvSpPr>
        <p:spPr>
          <a:xfrm>
            <a:off x="548640" y="5961888"/>
            <a:ext cx="5364328" cy="274320"/>
          </a:xfrm>
          <a:prstGeom prst="rect">
            <a:avLst/>
          </a:prstGeom>
          <a:noFill/>
          <a:ln/>
        </p:spPr>
        <p:txBody>
          <a:bodyPr wrap="square" lIns="0" tIns="0" rIns="0" bIns="0" rtlCol="0" anchor="ctr"/>
          <a:lstStyle/>
          <a:p>
            <a:pPr marL="0" indent="0">
              <a:buNone/>
            </a:pPr>
            <a:r>
              <a:rPr lang="en-US" sz="1050" i="1" dirty="0">
                <a:solidFill>
                  <a:srgbClr val="6E6064"/>
                </a:solidFill>
                <a:latin typeface="Calibri" pitchFamily="34" charset="0"/>
                <a:ea typeface="Calibri" pitchFamily="34" charset="-122"/>
                <a:cs typeface="Calibri" pitchFamily="34" charset="-120"/>
              </a:rPr>
              <a:t>Angie Lee: "Excellence in Classical Ballet" banner and WhatsApp button</a:t>
            </a:r>
            <a:endParaRPr lang="en-US" sz="1050" dirty="0"/>
          </a:p>
        </p:txBody>
      </p:sp>
      <p:sp>
        <p:nvSpPr>
          <p:cNvPr id="16" name="Shape 10"/>
          <p:cNvSpPr/>
          <p:nvPr/>
        </p:nvSpPr>
        <p:spPr>
          <a:xfrm>
            <a:off x="6278728" y="3931920"/>
            <a:ext cx="5364328" cy="1965960"/>
          </a:xfrm>
          <a:prstGeom prst="roundRect">
            <a:avLst>
              <a:gd name="adj" fmla="val 4651"/>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pic>
        <p:nvPicPr>
          <p:cNvPr id="17" name="Image 4" descr="/home/claude/deck/img/greatdance_web_c.png"/>
          <p:cNvPicPr>
            <a:picLocks noChangeAspect="1"/>
          </p:cNvPicPr>
          <p:nvPr/>
        </p:nvPicPr>
        <p:blipFill>
          <a:blip r:embed="rId7"/>
          <a:stretch>
            <a:fillRect/>
          </a:stretch>
        </p:blipFill>
        <p:spPr>
          <a:xfrm>
            <a:off x="6731604" y="4005072"/>
            <a:ext cx="4458575" cy="1819656"/>
          </a:xfrm>
          <a:prstGeom prst="rect">
            <a:avLst/>
          </a:prstGeom>
        </p:spPr>
      </p:pic>
      <p:sp>
        <p:nvSpPr>
          <p:cNvPr id="18" name="Text 11"/>
          <p:cNvSpPr txBox="1"/>
          <p:nvPr/>
        </p:nvSpPr>
        <p:spPr>
          <a:xfrm>
            <a:off x="6278728" y="5961888"/>
            <a:ext cx="5364328" cy="274320"/>
          </a:xfrm>
          <a:prstGeom prst="rect">
            <a:avLst/>
          </a:prstGeom>
          <a:noFill/>
          <a:ln/>
        </p:spPr>
        <p:txBody>
          <a:bodyPr wrap="square" lIns="0" tIns="0" rIns="0" bIns="0" rtlCol="0" anchor="ctr"/>
          <a:lstStyle/>
          <a:p>
            <a:pPr marL="0" indent="0">
              <a:buNone/>
            </a:pPr>
            <a:r>
              <a:rPr lang="en-US" sz="1050" i="1" dirty="0">
                <a:solidFill>
                  <a:srgbClr val="6E6064"/>
                </a:solidFill>
                <a:latin typeface="Calibri" pitchFamily="34" charset="0"/>
                <a:ea typeface="Calibri" pitchFamily="34" charset="-122"/>
                <a:cs typeface="Calibri" pitchFamily="34" charset="-120"/>
              </a:rPr>
              <a:t>Great Dance: a website page for each class type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100" b="1" kern="0" spc="400" dirty="0">
                <a:solidFill>
                  <a:srgbClr val="9C6445"/>
                </a:solidFill>
                <a:latin typeface="Calibri" pitchFamily="34" charset="0"/>
                <a:ea typeface="Calibri" pitchFamily="34" charset="-122"/>
                <a:cs typeface="Calibri" pitchFamily="34" charset="-120"/>
              </a:rPr>
              <a:t>05  VISIBILITY</a:t>
            </a:r>
            <a:endParaRPr lang="en-US" sz="1100" dirty="0"/>
          </a:p>
        </p:txBody>
      </p:sp>
      <p:sp>
        <p:nvSpPr>
          <p:cNvPr id="3" name="Text 1"/>
          <p:cNvSpPr txBox="1"/>
          <p:nvPr/>
        </p:nvSpPr>
        <p:spPr>
          <a:xfrm>
            <a:off x="548640" y="621792"/>
            <a:ext cx="10241280" cy="658368"/>
          </a:xfrm>
          <a:prstGeom prst="rect">
            <a:avLst/>
          </a:prstGeom>
          <a:noFill/>
          <a:ln/>
        </p:spPr>
        <p:txBody>
          <a:bodyPr wrap="square" lIns="0" tIns="0" rIns="0" bIns="0" rtlCol="0" anchor="ctr"/>
          <a:lstStyle/>
          <a:p>
            <a:pPr marL="0" indent="0">
              <a:buNone/>
            </a:pPr>
            <a:r>
              <a:rPr lang="en-US" sz="3000" b="1" dirty="0">
                <a:solidFill>
                  <a:srgbClr val="2E1F27"/>
                </a:solidFill>
                <a:latin typeface="Cambria" pitchFamily="34" charset="0"/>
                <a:ea typeface="Cambria" pitchFamily="34" charset="-122"/>
                <a:cs typeface="Cambria" pitchFamily="34" charset="-120"/>
              </a:rPr>
              <a:t>Where studios are listed</a:t>
            </a:r>
            <a:endParaRPr lang="en-US" sz="3000" dirty="0"/>
          </a:p>
        </p:txBody>
      </p:sp>
      <p:pic>
        <p:nvPicPr>
          <p:cNvPr id="4" name="Image 0" descr="/home/claude/deck/img/dancer_rose.png"/>
          <p:cNvPicPr>
            <a:picLocks noChangeAspect="1"/>
          </p:cNvPicPr>
          <p:nvPr/>
        </p:nvPicPr>
        <p:blipFill>
          <a:blip r:embed="rId3"/>
          <a:stretch>
            <a:fillRect/>
          </a:stretch>
        </p:blipFill>
        <p:spPr>
          <a:xfrm>
            <a:off x="11076127" y="292384"/>
            <a:ext cx="566928" cy="677105"/>
          </a:xfrm>
          <a:prstGeom prst="rect">
            <a:avLst/>
          </a:prstGeom>
        </p:spPr>
      </p:pic>
      <p:sp>
        <p:nvSpPr>
          <p:cNvPr id="5" name="Text 2"/>
          <p:cNvSpPr txBox="1"/>
          <p:nvPr/>
        </p:nvSpPr>
        <p:spPr>
          <a:xfrm>
            <a:off x="548640" y="6473952"/>
            <a:ext cx="4572000" cy="228600"/>
          </a:xfrm>
          <a:prstGeom prst="rect">
            <a:avLst/>
          </a:prstGeom>
          <a:noFill/>
          <a:ln/>
        </p:spPr>
        <p:txBody>
          <a:bodyPr wrap="square" lIns="0" tIns="0" rIns="0" bIns="0" rtlCol="0" anchor="ctr"/>
          <a:lstStyle/>
          <a:p>
            <a:pPr marL="0" indent="0">
              <a:buNone/>
            </a:pPr>
            <a:r>
              <a:rPr lang="en-US" sz="900" dirty="0">
                <a:solidFill>
                  <a:srgbClr val="6E6064"/>
                </a:solidFill>
                <a:latin typeface="Calibri" pitchFamily="34" charset="0"/>
                <a:ea typeface="Calibri" pitchFamily="34" charset="-122"/>
                <a:cs typeface="Calibri" pitchFamily="34" charset="-120"/>
              </a:rPr>
              <a:t>Ballotté Dance Academy #Puchong</a:t>
            </a:r>
            <a:endParaRPr lang="en-US" sz="900" dirty="0"/>
          </a:p>
        </p:txBody>
      </p:sp>
      <p:sp>
        <p:nvSpPr>
          <p:cNvPr id="6" name="Text 3"/>
          <p:cNvSpPr txBox="1"/>
          <p:nvPr/>
        </p:nvSpPr>
        <p:spPr>
          <a:xfrm>
            <a:off x="11185855" y="6473952"/>
            <a:ext cx="457200" cy="228600"/>
          </a:xfrm>
          <a:prstGeom prst="rect">
            <a:avLst/>
          </a:prstGeom>
          <a:noFill/>
          <a:ln/>
        </p:spPr>
        <p:txBody>
          <a:bodyPr wrap="square" lIns="0" tIns="0" rIns="0" bIns="0" rtlCol="0" anchor="ctr"/>
          <a:lstStyle/>
          <a:p>
            <a:pPr marL="0" indent="0" algn="r">
              <a:buNone/>
            </a:pPr>
            <a:r>
              <a:rPr lang="en-US" sz="900" dirty="0">
                <a:solidFill>
                  <a:srgbClr val="6E6064"/>
                </a:solidFill>
                <a:latin typeface="Calibri" pitchFamily="34" charset="0"/>
                <a:ea typeface="Calibri" pitchFamily="34" charset="-122"/>
                <a:cs typeface="Calibri"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496940997"/>
              </p:ext>
            </p:extLst>
          </p:nvPr>
        </p:nvGraphicFramePr>
        <p:xfrm>
          <a:off x="548640" y="1463040"/>
          <a:ext cx="6949440" cy="3072384"/>
        </p:xfrm>
        <a:graphic>
          <a:graphicData uri="http://schemas.openxmlformats.org/drawingml/2006/table">
            <a:tbl>
              <a:tblPr/>
              <a:tblGrid>
                <a:gridCol w="1325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tblGrid>
              <a:tr h="43891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Studio</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HiParents</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CSTD Malaysia</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Buro247</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CloudJoi</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MyDance Alliance</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Eksentrika</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Pavilion Bukit Jalil</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extLst>
                  <a:ext uri="{0D108BD9-81ED-4DB2-BD59-A6C34878D82A}">
                    <a16:rowId xmlns:a16="http://schemas.microsoft.com/office/drawing/2014/main" val="10000"/>
                  </a:ext>
                </a:extLst>
              </a:tr>
              <a:tr h="438912">
                <a:tc>
                  <a:txBody>
                    <a:bodyPr/>
                    <a:lstStyle/>
                    <a:p>
                      <a:pPr marL="0" indent="0">
                        <a:buNone/>
                      </a:pPr>
                      <a:r>
                        <a:rPr lang="en-US" sz="1100" b="1" dirty="0">
                          <a:solidFill>
                            <a:srgbClr val="9E4A67"/>
                          </a:solidFill>
                          <a:latin typeface="Calibri" pitchFamily="34" charset="0"/>
                          <a:ea typeface="Calibri" pitchFamily="34" charset="-122"/>
                          <a:cs typeface="Calibri" pitchFamily="34" charset="-120"/>
                        </a:rPr>
                        <a:t>Ballotté</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0000"/>
                          </a:solidFill>
                          <a:latin typeface="Calibri" pitchFamily="34" charset="0"/>
                          <a:ea typeface="Calibri" pitchFamily="34" charset="-122"/>
                          <a:cs typeface="Calibri" pitchFamily="34" charset="-120"/>
                        </a:rPr>
                        <a:t>Closed</a:t>
                      </a:r>
                      <a:endParaRPr lang="en-US" sz="1400" dirty="0">
                        <a:solidFill>
                          <a:srgbClr val="FF0000"/>
                        </a:solidFill>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Pointe &amp; Music</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extLst>
                  <a:ext uri="{0D108BD9-81ED-4DB2-BD59-A6C34878D82A}">
                    <a16:rowId xmlns:a16="http://schemas.microsoft.com/office/drawing/2014/main" val="10002"/>
                  </a:ext>
                </a:extLst>
              </a:tr>
              <a:tr h="438912">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Angie Lee</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Great Dance</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extLst>
                  <a:ext uri="{0D108BD9-81ED-4DB2-BD59-A6C34878D82A}">
                    <a16:rowId xmlns:a16="http://schemas.microsoft.com/office/drawing/2014/main" val="10004"/>
                  </a:ext>
                </a:extLst>
              </a:tr>
              <a:tr h="438912">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Dance Rise</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Dua Space</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400" b="1" dirty="0">
                          <a:solidFill>
                            <a:srgbClr val="2E7D3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lgn="ctr">
                        <a:buNone/>
                      </a:pPr>
                      <a:r>
                        <a:rPr lang="en-US" sz="1100" dirty="0">
                          <a:solidFill>
                            <a:srgbClr val="B0A4A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45720" marR="45720"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extLst>
                  <a:ext uri="{0D108BD9-81ED-4DB2-BD59-A6C34878D82A}">
                    <a16:rowId xmlns:a16="http://schemas.microsoft.com/office/drawing/2014/main" val="10006"/>
                  </a:ext>
                </a:extLst>
              </a:tr>
            </a:tbl>
          </a:graphicData>
        </a:graphic>
      </p:graphicFrame>
      <p:sp>
        <p:nvSpPr>
          <p:cNvPr id="8" name="Shape 4"/>
          <p:cNvSpPr/>
          <p:nvPr/>
        </p:nvSpPr>
        <p:spPr>
          <a:xfrm>
            <a:off x="7863840" y="1463040"/>
            <a:ext cx="3779215" cy="1600200"/>
          </a:xfrm>
          <a:prstGeom prst="roundRect">
            <a:avLst>
              <a:gd name="adj" fmla="val 5714"/>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pic>
        <p:nvPicPr>
          <p:cNvPr id="9" name="Image 1" descr="/home/claude/deck/img/cstd_members.png"/>
          <p:cNvPicPr>
            <a:picLocks noChangeAspect="1"/>
          </p:cNvPicPr>
          <p:nvPr/>
        </p:nvPicPr>
        <p:blipFill>
          <a:blip r:embed="rId4"/>
          <a:stretch>
            <a:fillRect/>
          </a:stretch>
        </p:blipFill>
        <p:spPr>
          <a:xfrm>
            <a:off x="7936992" y="1586510"/>
            <a:ext cx="3632911" cy="1353259"/>
          </a:xfrm>
          <a:prstGeom prst="rect">
            <a:avLst/>
          </a:prstGeom>
        </p:spPr>
      </p:pic>
      <p:sp>
        <p:nvSpPr>
          <p:cNvPr id="10" name="Text 5"/>
          <p:cNvSpPr txBox="1"/>
          <p:nvPr/>
        </p:nvSpPr>
        <p:spPr>
          <a:xfrm>
            <a:off x="7863840" y="3108960"/>
            <a:ext cx="3779215" cy="256032"/>
          </a:xfrm>
          <a:prstGeom prst="rect">
            <a:avLst/>
          </a:prstGeom>
          <a:noFill/>
          <a:ln/>
        </p:spPr>
        <p:txBody>
          <a:bodyPr wrap="square" lIns="0" tIns="0" rIns="0" bIns="0" rtlCol="0" anchor="ctr"/>
          <a:lstStyle/>
          <a:p>
            <a:pPr marL="0" indent="0">
              <a:buNone/>
            </a:pPr>
            <a:r>
              <a:rPr lang="en-US" sz="1050" i="1" dirty="0">
                <a:solidFill>
                  <a:srgbClr val="6E6064"/>
                </a:solidFill>
                <a:latin typeface="Calibri" pitchFamily="34" charset="0"/>
                <a:ea typeface="Calibri" pitchFamily="34" charset="-122"/>
                <a:cs typeface="Calibri" pitchFamily="34" charset="-120"/>
              </a:rPr>
              <a:t>CSTD's member studio list includes Pointe &amp; Music</a:t>
            </a:r>
            <a:endParaRPr lang="en-US" sz="1050" dirty="0"/>
          </a:p>
        </p:txBody>
      </p:sp>
      <p:sp>
        <p:nvSpPr>
          <p:cNvPr id="11" name="Shape 6"/>
          <p:cNvSpPr/>
          <p:nvPr/>
        </p:nvSpPr>
        <p:spPr>
          <a:xfrm>
            <a:off x="7863840" y="3520440"/>
            <a:ext cx="3779215" cy="2103120"/>
          </a:xfrm>
          <a:prstGeom prst="roundRect">
            <a:avLst>
              <a:gd name="adj" fmla="val 4348"/>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pic>
        <p:nvPicPr>
          <p:cNvPr id="12" name="Image 2" descr="/home/claude/deck/img/cloudjoi.png"/>
          <p:cNvPicPr>
            <a:picLocks noChangeAspect="1"/>
          </p:cNvPicPr>
          <p:nvPr/>
        </p:nvPicPr>
        <p:blipFill>
          <a:blip r:embed="rId5"/>
          <a:stretch>
            <a:fillRect/>
          </a:stretch>
        </p:blipFill>
        <p:spPr>
          <a:xfrm>
            <a:off x="8048161" y="3593592"/>
            <a:ext cx="3410573" cy="1956816"/>
          </a:xfrm>
          <a:prstGeom prst="rect">
            <a:avLst/>
          </a:prstGeom>
        </p:spPr>
      </p:pic>
      <p:sp>
        <p:nvSpPr>
          <p:cNvPr id="13" name="Text 7"/>
          <p:cNvSpPr txBox="1"/>
          <p:nvPr/>
        </p:nvSpPr>
        <p:spPr>
          <a:xfrm>
            <a:off x="7863840" y="5669280"/>
            <a:ext cx="3779215" cy="256032"/>
          </a:xfrm>
          <a:prstGeom prst="rect">
            <a:avLst/>
          </a:prstGeom>
          <a:noFill/>
          <a:ln/>
        </p:spPr>
        <p:txBody>
          <a:bodyPr wrap="square" lIns="0" tIns="0" rIns="0" bIns="0" rtlCol="0" anchor="ctr"/>
          <a:lstStyle/>
          <a:p>
            <a:pPr marL="0" indent="0">
              <a:buNone/>
            </a:pPr>
            <a:r>
              <a:rPr lang="en-US" sz="1050" i="1" dirty="0">
                <a:solidFill>
                  <a:srgbClr val="6E6064"/>
                </a:solidFill>
                <a:latin typeface="Calibri" pitchFamily="34" charset="0"/>
                <a:ea typeface="Calibri" pitchFamily="34" charset="-122"/>
                <a:cs typeface="Calibri" pitchFamily="34" charset="-120"/>
              </a:rPr>
              <a:t>Dua Space sells show tickets on CloudJoi</a:t>
            </a:r>
            <a:endParaRPr lang="en-US" sz="1050" dirty="0"/>
          </a:p>
        </p:txBody>
      </p:sp>
      <p:sp>
        <p:nvSpPr>
          <p:cNvPr id="14" name="Shape 8"/>
          <p:cNvSpPr/>
          <p:nvPr/>
        </p:nvSpPr>
        <p:spPr>
          <a:xfrm>
            <a:off x="548640" y="4782312"/>
            <a:ext cx="347472" cy="347472"/>
          </a:xfrm>
          <a:prstGeom prst="ellipse">
            <a:avLst/>
          </a:prstGeom>
          <a:solidFill>
            <a:srgbClr val="C99474"/>
          </a:solidFill>
          <a:ln w="12700">
            <a:solidFill>
              <a:srgbClr val="C99474"/>
            </a:solidFill>
            <a:prstDash val="solid"/>
          </a:ln>
        </p:spPr>
        <p:txBody>
          <a:bodyPr/>
          <a:lstStyle/>
          <a:p>
            <a:endParaRPr lang="en-US"/>
          </a:p>
        </p:txBody>
      </p:sp>
      <p:sp>
        <p:nvSpPr>
          <p:cNvPr id="15" name="Text 9"/>
          <p:cNvSpPr txBox="1"/>
          <p:nvPr/>
        </p:nvSpPr>
        <p:spPr>
          <a:xfrm>
            <a:off x="548640" y="478231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7" name="Text 10"/>
          <p:cNvSpPr txBox="1"/>
          <p:nvPr/>
        </p:nvSpPr>
        <p:spPr>
          <a:xfrm>
            <a:off x="1051560" y="4754880"/>
            <a:ext cx="6446520" cy="640080"/>
          </a:xfrm>
          <a:prstGeom prst="rect">
            <a:avLst/>
          </a:prstGeom>
          <a:noFill/>
          <a:ln/>
        </p:spPr>
        <p:txBody>
          <a:bodyPr wrap="square" lIns="0" tIns="0" rIns="0" bIns="0" rtlCol="0" anchor="t"/>
          <a:lstStyle/>
          <a:p>
            <a:pPr marL="0" indent="0">
              <a:spcAft>
                <a:spcPts val="200"/>
              </a:spcAft>
              <a:buNone/>
            </a:pPr>
            <a:r>
              <a:rPr lang="en-US" sz="1300" b="1" dirty="0">
                <a:solidFill>
                  <a:srgbClr val="2E1F27"/>
                </a:solidFill>
                <a:latin typeface="Calibri" pitchFamily="34" charset="0"/>
                <a:ea typeface="Calibri" pitchFamily="34" charset="-122"/>
                <a:cs typeface="Calibri" pitchFamily="34" charset="-120"/>
              </a:rPr>
              <a:t>Ballotté appears on 2 of 7 sites;  </a:t>
            </a:r>
            <a:r>
              <a:rPr lang="en-US" sz="1300" dirty="0">
                <a:solidFill>
                  <a:srgbClr val="2B2124"/>
                </a:solidFill>
                <a:latin typeface="Calibri" pitchFamily="34" charset="0"/>
                <a:ea typeface="Calibri" pitchFamily="34" charset="-122"/>
                <a:cs typeface="Calibri" pitchFamily="34" charset="-120"/>
              </a:rPr>
              <a:t>Dua Space appears on 4. Ballotté already teaches CSTD but isn't in CSTD's studio list.</a:t>
            </a:r>
            <a:endParaRPr lang="en-US" sz="1300" dirty="0"/>
          </a:p>
        </p:txBody>
      </p:sp>
      <p:sp>
        <p:nvSpPr>
          <p:cNvPr id="17" name="Shape 11"/>
          <p:cNvSpPr/>
          <p:nvPr/>
        </p:nvSpPr>
        <p:spPr>
          <a:xfrm>
            <a:off x="548640" y="5468112"/>
            <a:ext cx="347472" cy="347472"/>
          </a:xfrm>
          <a:prstGeom prst="ellipse">
            <a:avLst/>
          </a:prstGeom>
          <a:solidFill>
            <a:srgbClr val="C99474"/>
          </a:solidFill>
          <a:ln w="12700">
            <a:solidFill>
              <a:srgbClr val="C99474"/>
            </a:solidFill>
            <a:prstDash val="solid"/>
          </a:ln>
        </p:spPr>
        <p:txBody>
          <a:bodyPr/>
          <a:lstStyle/>
          <a:p>
            <a:endParaRPr lang="en-US"/>
          </a:p>
        </p:txBody>
      </p:sp>
      <p:sp>
        <p:nvSpPr>
          <p:cNvPr id="18" name="Text 12"/>
          <p:cNvSpPr txBox="1"/>
          <p:nvPr/>
        </p:nvSpPr>
        <p:spPr>
          <a:xfrm>
            <a:off x="548640" y="546811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9" name="Text 13"/>
          <p:cNvSpPr txBox="1"/>
          <p:nvPr/>
        </p:nvSpPr>
        <p:spPr>
          <a:xfrm>
            <a:off x="1051560" y="5440680"/>
            <a:ext cx="6446520" cy="548640"/>
          </a:xfrm>
          <a:prstGeom prst="rect">
            <a:avLst/>
          </a:prstGeom>
          <a:noFill/>
          <a:ln/>
        </p:spPr>
        <p:txBody>
          <a:bodyPr wrap="square" lIns="0" tIns="0" rIns="0" bIns="0" rtlCol="0" anchor="t"/>
          <a:lstStyle/>
          <a:p>
            <a:pPr marL="0" indent="0">
              <a:spcAft>
                <a:spcPts val="200"/>
              </a:spcAft>
              <a:buNone/>
            </a:pPr>
            <a:r>
              <a:rPr lang="en-US" sz="1300" b="1" dirty="0">
                <a:solidFill>
                  <a:srgbClr val="2E1F27"/>
                </a:solidFill>
                <a:latin typeface="Calibri" pitchFamily="34" charset="0"/>
                <a:ea typeface="Calibri" pitchFamily="34" charset="-122"/>
                <a:cs typeface="Calibri" pitchFamily="34" charset="-120"/>
              </a:rPr>
              <a:t>One Ballotté-only listing:  </a:t>
            </a:r>
            <a:r>
              <a:rPr lang="en-US" sz="1300" dirty="0">
                <a:solidFill>
                  <a:srgbClr val="2B2124"/>
                </a:solidFill>
                <a:latin typeface="Calibri" pitchFamily="34" charset="0"/>
                <a:ea typeface="Calibri" pitchFamily="34" charset="-122"/>
                <a:cs typeface="Calibri" pitchFamily="34" charset="-120"/>
              </a:rPr>
              <a:t>the Pavilion Bukit Jalil store directory, which mall shoppers see.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100" b="1" kern="0" spc="400" dirty="0">
                <a:solidFill>
                  <a:srgbClr val="9C6445"/>
                </a:solidFill>
                <a:latin typeface="Calibri" pitchFamily="34" charset="0"/>
                <a:ea typeface="Calibri" pitchFamily="34" charset="-122"/>
                <a:cs typeface="Calibri" pitchFamily="34" charset="-120"/>
              </a:rPr>
              <a:t>05  VISIBILITY</a:t>
            </a:r>
            <a:endParaRPr lang="en-US" sz="1100" dirty="0"/>
          </a:p>
        </p:txBody>
      </p:sp>
      <p:sp>
        <p:nvSpPr>
          <p:cNvPr id="3" name="Text 1"/>
          <p:cNvSpPr txBox="1"/>
          <p:nvPr/>
        </p:nvSpPr>
        <p:spPr>
          <a:xfrm>
            <a:off x="548640" y="621792"/>
            <a:ext cx="10241280" cy="658368"/>
          </a:xfrm>
          <a:prstGeom prst="rect">
            <a:avLst/>
          </a:prstGeom>
          <a:noFill/>
          <a:ln/>
        </p:spPr>
        <p:txBody>
          <a:bodyPr wrap="square" lIns="0" tIns="0" rIns="0" bIns="0" rtlCol="0" anchor="ctr"/>
          <a:lstStyle/>
          <a:p>
            <a:pPr marL="0" indent="0">
              <a:buNone/>
            </a:pPr>
            <a:r>
              <a:rPr lang="en-US" sz="3000" b="1" dirty="0">
                <a:solidFill>
                  <a:srgbClr val="2E1F27"/>
                </a:solidFill>
                <a:latin typeface="Cambria" pitchFamily="34" charset="0"/>
                <a:ea typeface="Cambria" pitchFamily="34" charset="-122"/>
                <a:cs typeface="Cambria" pitchFamily="34" charset="-120"/>
              </a:rPr>
              <a:t>New places to get Ballotté seen</a:t>
            </a:r>
            <a:endParaRPr lang="en-US" sz="3000" dirty="0"/>
          </a:p>
        </p:txBody>
      </p:sp>
      <p:pic>
        <p:nvPicPr>
          <p:cNvPr id="4" name="Image 0" descr="/home/claude/deck/img/dancer_rose.png"/>
          <p:cNvPicPr>
            <a:picLocks noChangeAspect="1"/>
          </p:cNvPicPr>
          <p:nvPr/>
        </p:nvPicPr>
        <p:blipFill>
          <a:blip r:embed="rId3"/>
          <a:stretch>
            <a:fillRect/>
          </a:stretch>
        </p:blipFill>
        <p:spPr>
          <a:xfrm>
            <a:off x="11076127" y="292384"/>
            <a:ext cx="566928" cy="677105"/>
          </a:xfrm>
          <a:prstGeom prst="rect">
            <a:avLst/>
          </a:prstGeom>
        </p:spPr>
      </p:pic>
      <p:sp>
        <p:nvSpPr>
          <p:cNvPr id="5" name="Text 2"/>
          <p:cNvSpPr txBox="1"/>
          <p:nvPr/>
        </p:nvSpPr>
        <p:spPr>
          <a:xfrm>
            <a:off x="548640" y="6473952"/>
            <a:ext cx="4572000" cy="228600"/>
          </a:xfrm>
          <a:prstGeom prst="rect">
            <a:avLst/>
          </a:prstGeom>
          <a:noFill/>
          <a:ln/>
        </p:spPr>
        <p:txBody>
          <a:bodyPr wrap="square" lIns="0" tIns="0" rIns="0" bIns="0" rtlCol="0" anchor="ctr"/>
          <a:lstStyle/>
          <a:p>
            <a:pPr marL="0" indent="0">
              <a:buNone/>
            </a:pPr>
            <a:r>
              <a:rPr lang="en-US" sz="900" dirty="0">
                <a:solidFill>
                  <a:srgbClr val="6E6064"/>
                </a:solidFill>
                <a:latin typeface="Calibri" pitchFamily="34" charset="0"/>
                <a:ea typeface="Calibri" pitchFamily="34" charset="-122"/>
                <a:cs typeface="Calibri" pitchFamily="34" charset="-120"/>
              </a:rPr>
              <a:t>Ballotté Dance Academy #Puchong</a:t>
            </a:r>
            <a:endParaRPr lang="en-US" sz="900" dirty="0"/>
          </a:p>
        </p:txBody>
      </p:sp>
      <p:sp>
        <p:nvSpPr>
          <p:cNvPr id="6" name="Text 3"/>
          <p:cNvSpPr txBox="1"/>
          <p:nvPr/>
        </p:nvSpPr>
        <p:spPr>
          <a:xfrm>
            <a:off x="11185855" y="6473952"/>
            <a:ext cx="457200" cy="228600"/>
          </a:xfrm>
          <a:prstGeom prst="rect">
            <a:avLst/>
          </a:prstGeom>
          <a:noFill/>
          <a:ln/>
        </p:spPr>
        <p:txBody>
          <a:bodyPr wrap="square" lIns="0" tIns="0" rIns="0" bIns="0" rtlCol="0" anchor="ctr"/>
          <a:lstStyle/>
          <a:p>
            <a:pPr marL="0" indent="0" algn="r">
              <a:buNone/>
            </a:pPr>
            <a:r>
              <a:rPr lang="en-US" sz="900" dirty="0">
                <a:solidFill>
                  <a:srgbClr val="6E6064"/>
                </a:solidFill>
                <a:latin typeface="Calibri" pitchFamily="34" charset="0"/>
                <a:ea typeface="Calibri" pitchFamily="34" charset="-122"/>
                <a:cs typeface="Calibri"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766560" cy="3657600"/>
        </p:xfrm>
        <a:graphic>
          <a:graphicData uri="http://schemas.openxmlformats.org/drawingml/2006/table">
            <a:tbl>
              <a:tblPr/>
              <a:tblGrid>
                <a:gridCol w="41148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5720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Website / article</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it is</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2E1F27"/>
                    </a:solidFill>
                  </a:tcPr>
                </a:tc>
                <a:extLst>
                  <a:ext uri="{0D108BD9-81ED-4DB2-BD59-A6C34878D82A}">
                    <a16:rowId xmlns:a16="http://schemas.microsoft.com/office/drawing/2014/main" val="10000"/>
                  </a:ext>
                </a:extLst>
              </a:tr>
              <a:tr h="457200">
                <a:tc>
                  <a:txBody>
                    <a:bodyPr/>
                    <a:lstStyle/>
                    <a:p>
                      <a:pPr marL="0" indent="0" algn="ctr">
                        <a:buNone/>
                      </a:pPr>
                      <a:r>
                        <a:rPr lang="en-US" sz="1100" b="1" dirty="0">
                          <a:solidFill>
                            <a:srgbClr val="9C6445"/>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TallyPress</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"Top 10 Ballet Studios in KL &amp; Selangor" article, updated Oct 2025</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100" b="1" dirty="0">
                          <a:solidFill>
                            <a:srgbClr val="9C6445"/>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Little Steps Asia (KL)</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Parenting guide: best dance classes for kids in KL</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extLst>
                  <a:ext uri="{0D108BD9-81ED-4DB2-BD59-A6C34878D82A}">
                    <a16:rowId xmlns:a16="http://schemas.microsoft.com/office/drawing/2014/main" val="10002"/>
                  </a:ext>
                </a:extLst>
              </a:tr>
              <a:tr h="457200">
                <a:tc>
                  <a:txBody>
                    <a:bodyPr/>
                    <a:lstStyle/>
                    <a:p>
                      <a:pPr marL="0" indent="0" algn="ctr">
                        <a:buNone/>
                      </a:pPr>
                      <a:r>
                        <a:rPr lang="en-US" sz="1100" b="1" dirty="0">
                          <a:solidFill>
                            <a:srgbClr val="9C6445"/>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Kiddy123</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Malaysian parenting directory of kids' classes by city</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100" b="1" dirty="0">
                          <a:solidFill>
                            <a:srgbClr val="9C6445"/>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Time Out Kuala Lumpur</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City guide with kids' learning centre listings</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extLst>
                  <a:ext uri="{0D108BD9-81ED-4DB2-BD59-A6C34878D82A}">
                    <a16:rowId xmlns:a16="http://schemas.microsoft.com/office/drawing/2014/main" val="10004"/>
                  </a:ext>
                </a:extLst>
              </a:tr>
              <a:tr h="457200">
                <a:tc>
                  <a:txBody>
                    <a:bodyPr/>
                    <a:lstStyle/>
                    <a:p>
                      <a:pPr marL="0" indent="0" algn="ctr">
                        <a:buNone/>
                      </a:pPr>
                      <a:r>
                        <a:rPr lang="en-US" sz="1100" b="1" dirty="0">
                          <a:solidFill>
                            <a:srgbClr val="9C6445"/>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DTOL (Dance Teachers Online)</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Directory of dance teachers and studios, Malaysia section</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ctr">
                        <a:buNone/>
                      </a:pPr>
                      <a:r>
                        <a:rPr lang="en-US" sz="1100" b="1" dirty="0">
                          <a:solidFill>
                            <a:srgbClr val="9C6445"/>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MyPrivateTutor Malaysia</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Class directory with a Klang Valley ballet page</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8EEEA"/>
                    </a:solidFill>
                  </a:tcPr>
                </a:tc>
                <a:extLst>
                  <a:ext uri="{0D108BD9-81ED-4DB2-BD59-A6C34878D82A}">
                    <a16:rowId xmlns:a16="http://schemas.microsoft.com/office/drawing/2014/main" val="10006"/>
                  </a:ext>
                </a:extLst>
              </a:tr>
              <a:tr h="457200">
                <a:tc>
                  <a:txBody>
                    <a:bodyPr/>
                    <a:lstStyle/>
                    <a:p>
                      <a:pPr marL="0" indent="0" algn="ctr">
                        <a:buNone/>
                      </a:pPr>
                      <a:r>
                        <a:rPr lang="en-US" sz="1100" b="1" dirty="0">
                          <a:solidFill>
                            <a:srgbClr val="9C6445"/>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b="1" dirty="0">
                          <a:solidFill>
                            <a:srgbClr val="2E1F27"/>
                          </a:solidFill>
                          <a:latin typeface="Calibri" pitchFamily="34" charset="0"/>
                          <a:ea typeface="Calibri" pitchFamily="34" charset="-122"/>
                          <a:cs typeface="Calibri" pitchFamily="34" charset="-120"/>
                        </a:rPr>
                        <a:t>Yelp</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tc>
                  <a:txBody>
                    <a:bodyPr/>
                    <a:lstStyle/>
                    <a:p>
                      <a:pPr marL="0" indent="0">
                        <a:buNone/>
                      </a:pPr>
                      <a:r>
                        <a:rPr lang="en-US" sz="1100" dirty="0">
                          <a:solidFill>
                            <a:srgbClr val="2B2124"/>
                          </a:solidFill>
                          <a:latin typeface="Calibri" pitchFamily="34" charset="0"/>
                          <a:ea typeface="Calibri" pitchFamily="34" charset="-122"/>
                          <a:cs typeface="Calibri" pitchFamily="34" charset="-120"/>
                        </a:rPr>
                        <a:t>Review site with dance studio listings</a:t>
                      </a:r>
                      <a:endParaRPr lang="en-US" sz="1100" dirty="0">
                        <a:latin typeface="Calibri" charset="0"/>
                        <a:ea typeface="Calibri" charset="0"/>
                        <a:cs typeface="Calibri" charset="0"/>
                      </a:endParaRPr>
                    </a:p>
                  </a:txBody>
                  <a:tcPr marT="27432" marB="27432" anchor="ctr">
                    <a:lnL w="6350" cap="flat" cmpd="sng" algn="ctr">
                      <a:solidFill>
                        <a:srgbClr val="E6D3CB"/>
                      </a:solidFill>
                      <a:prstDash val="solid"/>
                      <a:round/>
                      <a:headEnd type="none" w="med" len="med"/>
                      <a:tailEnd type="none" w="med" len="med"/>
                    </a:lnL>
                    <a:lnR w="6350" cap="flat" cmpd="sng" algn="ctr">
                      <a:solidFill>
                        <a:srgbClr val="E6D3CB"/>
                      </a:solidFill>
                      <a:prstDash val="solid"/>
                      <a:round/>
                      <a:headEnd type="none" w="med" len="med"/>
                      <a:tailEnd type="none" w="med" len="med"/>
                    </a:lnR>
                    <a:lnT w="6350" cap="flat" cmpd="sng" algn="ctr">
                      <a:solidFill>
                        <a:srgbClr val="E6D3CB"/>
                      </a:solidFill>
                      <a:prstDash val="solid"/>
                      <a:round/>
                      <a:headEnd type="none" w="med" len="med"/>
                      <a:tailEnd type="none" w="med" len="med"/>
                    </a:lnT>
                    <a:lnB w="6350" cap="flat" cmpd="sng" algn="ctr">
                      <a:solidFill>
                        <a:srgbClr val="E6D3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Shape 4"/>
          <p:cNvSpPr/>
          <p:nvPr/>
        </p:nvSpPr>
        <p:spPr>
          <a:xfrm>
            <a:off x="7680960" y="1463040"/>
            <a:ext cx="3962095" cy="1234440"/>
          </a:xfrm>
          <a:prstGeom prst="roundRect">
            <a:avLst>
              <a:gd name="adj" fmla="val 7407"/>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pic>
        <p:nvPicPr>
          <p:cNvPr id="9" name="Image 1" descr="/home/claude/deck/img/yelp.png"/>
          <p:cNvPicPr>
            <a:picLocks noChangeAspect="1"/>
          </p:cNvPicPr>
          <p:nvPr/>
        </p:nvPicPr>
        <p:blipFill>
          <a:blip r:embed="rId4"/>
          <a:stretch>
            <a:fillRect/>
          </a:stretch>
        </p:blipFill>
        <p:spPr>
          <a:xfrm>
            <a:off x="7754112" y="1565612"/>
            <a:ext cx="3815791" cy="1029297"/>
          </a:xfrm>
          <a:prstGeom prst="rect">
            <a:avLst/>
          </a:prstGeom>
        </p:spPr>
      </p:pic>
      <p:sp>
        <p:nvSpPr>
          <p:cNvPr id="10" name="Shape 5"/>
          <p:cNvSpPr/>
          <p:nvPr/>
        </p:nvSpPr>
        <p:spPr>
          <a:xfrm>
            <a:off x="7680960" y="2834640"/>
            <a:ext cx="3962095" cy="2148840"/>
          </a:xfrm>
          <a:prstGeom prst="roundRect">
            <a:avLst>
              <a:gd name="adj" fmla="val 4255"/>
            </a:avLst>
          </a:prstGeom>
          <a:solidFill>
            <a:srgbClr val="FFFFFF"/>
          </a:solidFill>
          <a:ln w="9525">
            <a:solidFill>
              <a:srgbClr val="E6D3CB"/>
            </a:solidFill>
            <a:prstDash val="solid"/>
          </a:ln>
          <a:effectLst>
            <a:outerShdw blurRad="101600" dist="25400" dir="5400000" algn="bl" rotWithShape="0">
              <a:srgbClr val="5A3A45">
                <a:alpha val="18000"/>
              </a:srgbClr>
            </a:outerShdw>
          </a:effectLst>
        </p:spPr>
        <p:txBody>
          <a:bodyPr/>
          <a:lstStyle/>
          <a:p>
            <a:endParaRPr lang="en-US"/>
          </a:p>
        </p:txBody>
      </p:sp>
      <p:pic>
        <p:nvPicPr>
          <p:cNvPr id="11" name="Image 2" descr="/home/claude/deck/img/ai_overview.png"/>
          <p:cNvPicPr>
            <a:picLocks noChangeAspect="1"/>
          </p:cNvPicPr>
          <p:nvPr/>
        </p:nvPicPr>
        <p:blipFill>
          <a:blip r:embed="rId5"/>
          <a:stretch>
            <a:fillRect/>
          </a:stretch>
        </p:blipFill>
        <p:spPr>
          <a:xfrm>
            <a:off x="7754112" y="2958863"/>
            <a:ext cx="3815791" cy="1900394"/>
          </a:xfrm>
          <a:prstGeom prst="rect">
            <a:avLst/>
          </a:prstGeom>
        </p:spPr>
      </p:pic>
      <p:sp>
        <p:nvSpPr>
          <p:cNvPr id="12" name="Text 6"/>
          <p:cNvSpPr txBox="1"/>
          <p:nvPr/>
        </p:nvSpPr>
        <p:spPr>
          <a:xfrm>
            <a:off x="7680960" y="5074920"/>
            <a:ext cx="3962095" cy="685800"/>
          </a:xfrm>
          <a:prstGeom prst="rect">
            <a:avLst/>
          </a:prstGeom>
          <a:noFill/>
          <a:ln/>
        </p:spPr>
        <p:txBody>
          <a:bodyPr wrap="square" lIns="0" tIns="0" rIns="0" bIns="0" rtlCol="0" anchor="ctr"/>
          <a:lstStyle/>
          <a:p>
            <a:pPr marL="0" indent="0">
              <a:buNone/>
            </a:pPr>
            <a:r>
              <a:rPr lang="en-US" sz="1100" i="1" dirty="0">
                <a:solidFill>
                  <a:srgbClr val="6E6064"/>
                </a:solidFill>
                <a:latin typeface="Calibri" pitchFamily="34" charset="0"/>
                <a:ea typeface="Calibri" pitchFamily="34" charset="-122"/>
                <a:cs typeface="Calibri" pitchFamily="34" charset="-120"/>
              </a:rPr>
              <a:t>Google's AI overview points parents to Yelp's best dance studios near Puchong, and notes Ballotté isn't listed there.</a:t>
            </a:r>
            <a:endParaRPr lang="en-US" sz="1100" dirty="0"/>
          </a:p>
        </p:txBody>
      </p:sp>
      <p:sp>
        <p:nvSpPr>
          <p:cNvPr id="13" name="Shape 7"/>
          <p:cNvSpPr/>
          <p:nvPr/>
        </p:nvSpPr>
        <p:spPr>
          <a:xfrm>
            <a:off x="548640" y="5468112"/>
            <a:ext cx="347472" cy="347472"/>
          </a:xfrm>
          <a:prstGeom prst="ellipse">
            <a:avLst/>
          </a:prstGeom>
          <a:solidFill>
            <a:srgbClr val="C99474"/>
          </a:solidFill>
          <a:ln w="12700">
            <a:solidFill>
              <a:srgbClr val="C99474"/>
            </a:solidFill>
            <a:prstDash val="solid"/>
          </a:ln>
        </p:spPr>
        <p:txBody>
          <a:bodyPr/>
          <a:lstStyle/>
          <a:p>
            <a:endParaRPr lang="en-US"/>
          </a:p>
        </p:txBody>
      </p:sp>
      <p:sp>
        <p:nvSpPr>
          <p:cNvPr id="14" name="Text 8"/>
          <p:cNvSpPr txBox="1"/>
          <p:nvPr/>
        </p:nvSpPr>
        <p:spPr>
          <a:xfrm>
            <a:off x="548640" y="546811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5" name="Text 9"/>
          <p:cNvSpPr txBox="1"/>
          <p:nvPr/>
        </p:nvSpPr>
        <p:spPr>
          <a:xfrm>
            <a:off x="1051560" y="5440680"/>
            <a:ext cx="6263640" cy="594360"/>
          </a:xfrm>
          <a:prstGeom prst="rect">
            <a:avLst/>
          </a:prstGeom>
          <a:noFill/>
          <a:ln/>
        </p:spPr>
        <p:txBody>
          <a:bodyPr wrap="square" lIns="0" tIns="0" rIns="0" bIns="0" rtlCol="0" anchor="t"/>
          <a:lstStyle/>
          <a:p>
            <a:pPr marL="0" indent="0">
              <a:spcAft>
                <a:spcPts val="200"/>
              </a:spcAft>
              <a:buNone/>
            </a:pPr>
            <a:r>
              <a:rPr lang="en-US" sz="1300" b="1" dirty="0">
                <a:solidFill>
                  <a:srgbClr val="2E1F27"/>
                </a:solidFill>
                <a:latin typeface="Calibri" pitchFamily="34" charset="0"/>
                <a:ea typeface="Calibri" pitchFamily="34" charset="-122"/>
                <a:cs typeface="Calibri" pitchFamily="34" charset="-120"/>
              </a:rPr>
              <a:t>Start with TallyPress and Kiddy123:  </a:t>
            </a:r>
            <a:r>
              <a:rPr lang="en-US" sz="1300" dirty="0">
                <a:solidFill>
                  <a:srgbClr val="2B2124"/>
                </a:solidFill>
                <a:latin typeface="Calibri" pitchFamily="34" charset="0"/>
                <a:ea typeface="Calibri" pitchFamily="34" charset="-122"/>
                <a:cs typeface="Calibri" pitchFamily="34" charset="-120"/>
              </a:rPr>
              <a:t>a ballet-only list updated in 2025, and a directory parents can search by Puchong.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E1F27"/>
        </a:solidFill>
        <a:effectLst/>
      </p:bgPr>
    </p:bg>
    <p:spTree>
      <p:nvGrpSpPr>
        <p:cNvPr id="1" name=""/>
        <p:cNvGrpSpPr/>
        <p:nvPr/>
      </p:nvGrpSpPr>
      <p:grpSpPr>
        <a:xfrm>
          <a:off x="0" y="0"/>
          <a:ext cx="0" cy="0"/>
          <a:chOff x="0" y="0"/>
          <a:chExt cx="0" cy="0"/>
        </a:xfrm>
      </p:grpSpPr>
      <p:sp>
        <p:nvSpPr>
          <p:cNvPr id="2" name="Shape 0"/>
          <p:cNvSpPr/>
          <p:nvPr/>
        </p:nvSpPr>
        <p:spPr>
          <a:xfrm>
            <a:off x="9966960" y="-822960"/>
            <a:ext cx="2743200" cy="2743200"/>
          </a:xfrm>
          <a:prstGeom prst="ellipse">
            <a:avLst/>
          </a:prstGeom>
          <a:ln w="12700">
            <a:solidFill>
              <a:srgbClr val="C99474">
                <a:alpha val="40000"/>
              </a:srgbClr>
            </a:solidFill>
            <a:prstDash val="solid"/>
          </a:ln>
        </p:spPr>
        <p:txBody>
          <a:bodyPr/>
          <a:lstStyle/>
          <a:p>
            <a:endParaRPr lang="en-US"/>
          </a:p>
        </p:txBody>
      </p:sp>
      <p:pic>
        <p:nvPicPr>
          <p:cNvPr id="3" name="Image 0" descr="/home/claude/deck/img/dancer_light.png"/>
          <p:cNvPicPr>
            <a:picLocks noChangeAspect="1"/>
          </p:cNvPicPr>
          <p:nvPr/>
        </p:nvPicPr>
        <p:blipFill>
          <a:blip r:embed="rId3"/>
          <a:stretch>
            <a:fillRect/>
          </a:stretch>
        </p:blipFill>
        <p:spPr>
          <a:xfrm>
            <a:off x="10911535" y="294678"/>
            <a:ext cx="731520" cy="873683"/>
          </a:xfrm>
          <a:prstGeom prst="rect">
            <a:avLst/>
          </a:prstGeom>
        </p:spPr>
      </p:pic>
      <p:sp>
        <p:nvSpPr>
          <p:cNvPr id="4" name="Text 1"/>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100" b="1" kern="0" spc="400" dirty="0">
                <a:solidFill>
                  <a:srgbClr val="C99474"/>
                </a:solidFill>
                <a:latin typeface="Calibri" pitchFamily="34" charset="0"/>
                <a:ea typeface="Calibri" pitchFamily="34" charset="-122"/>
                <a:cs typeface="Calibri" pitchFamily="34" charset="-120"/>
              </a:rPr>
              <a:t>FINAL RECOMMENDATIONS</a:t>
            </a:r>
            <a:endParaRPr lang="en-US" sz="1100" dirty="0"/>
          </a:p>
        </p:txBody>
      </p:sp>
      <p:sp>
        <p:nvSpPr>
          <p:cNvPr id="5" name="Text 2"/>
          <p:cNvSpPr txBox="1"/>
          <p:nvPr/>
        </p:nvSpPr>
        <p:spPr>
          <a:xfrm>
            <a:off x="548640" y="621792"/>
            <a:ext cx="9144000" cy="658368"/>
          </a:xfrm>
          <a:prstGeom prst="rect">
            <a:avLst/>
          </a:prstGeom>
          <a:noFill/>
          <a:ln/>
        </p:spPr>
        <p:txBody>
          <a:bodyPr wrap="square" lIns="0" tIns="0" rIns="0" bIns="0" rtlCol="0" anchor="ctr"/>
          <a:lstStyle/>
          <a:p>
            <a:pPr marL="0" indent="0">
              <a:buNone/>
            </a:pPr>
            <a:r>
              <a:rPr lang="en-US" sz="3000" b="1" dirty="0">
                <a:solidFill>
                  <a:srgbClr val="F6E2D6"/>
                </a:solidFill>
                <a:latin typeface="Cambria" pitchFamily="34" charset="0"/>
                <a:ea typeface="Cambria" pitchFamily="34" charset="-122"/>
                <a:cs typeface="Cambria" pitchFamily="34" charset="-120"/>
              </a:rPr>
              <a:t>Nine moves to grow Ballotté</a:t>
            </a:r>
            <a:endParaRPr lang="en-US" sz="3000" dirty="0"/>
          </a:p>
        </p:txBody>
      </p:sp>
      <p:sp>
        <p:nvSpPr>
          <p:cNvPr id="6" name="Shape 3"/>
          <p:cNvSpPr/>
          <p:nvPr/>
        </p:nvSpPr>
        <p:spPr>
          <a:xfrm>
            <a:off x="548640" y="1554480"/>
            <a:ext cx="3515258" cy="4846320"/>
          </a:xfrm>
          <a:prstGeom prst="roundRect">
            <a:avLst>
              <a:gd name="adj" fmla="val 3121"/>
            </a:avLst>
          </a:prstGeom>
          <a:solidFill>
            <a:srgbClr val="F8EEEA"/>
          </a:solidFill>
          <a:ln w="9525">
            <a:solidFill>
              <a:srgbClr val="C99474"/>
            </a:solidFill>
            <a:prstDash val="solid"/>
          </a:ln>
        </p:spPr>
        <p:txBody>
          <a:bodyPr/>
          <a:lstStyle/>
          <a:p>
            <a:endParaRPr lang="en-US"/>
          </a:p>
        </p:txBody>
      </p:sp>
      <p:sp>
        <p:nvSpPr>
          <p:cNvPr id="7" name="Text 4"/>
          <p:cNvSpPr txBox="1"/>
          <p:nvPr/>
        </p:nvSpPr>
        <p:spPr>
          <a:xfrm>
            <a:off x="822960" y="1737360"/>
            <a:ext cx="2966618" cy="457200"/>
          </a:xfrm>
          <a:prstGeom prst="rect">
            <a:avLst/>
          </a:prstGeom>
          <a:noFill/>
          <a:ln/>
        </p:spPr>
        <p:txBody>
          <a:bodyPr wrap="square" lIns="0" tIns="0" rIns="0" bIns="0" rtlCol="0" anchor="ctr"/>
          <a:lstStyle/>
          <a:p>
            <a:pPr marL="0" indent="0">
              <a:buNone/>
            </a:pPr>
            <a:r>
              <a:rPr lang="en-US" sz="1800" b="1" dirty="0">
                <a:solidFill>
                  <a:srgbClr val="9E4A67"/>
                </a:solidFill>
                <a:latin typeface="Cambria" pitchFamily="34" charset="0"/>
                <a:ea typeface="Cambria" pitchFamily="34" charset="-122"/>
                <a:cs typeface="Cambria" pitchFamily="34" charset="-120"/>
              </a:rPr>
              <a:t>Win nearby families</a:t>
            </a:r>
            <a:endParaRPr lang="en-US" sz="1800" dirty="0"/>
          </a:p>
        </p:txBody>
      </p:sp>
      <p:sp>
        <p:nvSpPr>
          <p:cNvPr id="8" name="Shape 5"/>
          <p:cNvSpPr/>
          <p:nvPr/>
        </p:nvSpPr>
        <p:spPr>
          <a:xfrm>
            <a:off x="822960" y="2395728"/>
            <a:ext cx="365760" cy="365760"/>
          </a:xfrm>
          <a:prstGeom prst="ellipse">
            <a:avLst/>
          </a:prstGeom>
          <a:solidFill>
            <a:srgbClr val="2E1F27"/>
          </a:solidFill>
          <a:ln w="12700">
            <a:solidFill>
              <a:srgbClr val="2E1F27"/>
            </a:solidFill>
            <a:prstDash val="solid"/>
          </a:ln>
        </p:spPr>
        <p:txBody>
          <a:bodyPr/>
          <a:lstStyle/>
          <a:p>
            <a:endParaRPr lang="en-US"/>
          </a:p>
        </p:txBody>
      </p:sp>
      <p:sp>
        <p:nvSpPr>
          <p:cNvPr id="9" name="Text 6"/>
          <p:cNvSpPr txBox="1"/>
          <p:nvPr/>
        </p:nvSpPr>
        <p:spPr>
          <a:xfrm>
            <a:off x="822960" y="2395728"/>
            <a:ext cx="365760" cy="365760"/>
          </a:xfrm>
          <a:prstGeom prst="rect">
            <a:avLst/>
          </a:prstGeom>
          <a:noFill/>
          <a:ln/>
        </p:spPr>
        <p:txBody>
          <a:bodyPr wrap="square" lIns="0" tIns="0" rIns="0" bIns="0" rtlCol="0" anchor="ctr"/>
          <a:lstStyle/>
          <a:p>
            <a:pPr marL="0" indent="0" algn="ctr">
              <a:buNone/>
            </a:pPr>
            <a:r>
              <a:rPr lang="en-US" sz="1200" b="1" dirty="0">
                <a:solidFill>
                  <a:srgbClr val="F6E2D6"/>
                </a:solidFill>
                <a:latin typeface="Cambria" pitchFamily="34" charset="0"/>
                <a:ea typeface="Cambria" pitchFamily="34" charset="-122"/>
                <a:cs typeface="Cambria" pitchFamily="34" charset="-120"/>
              </a:rPr>
              <a:t>1</a:t>
            </a:r>
            <a:endParaRPr lang="en-US" sz="1200" dirty="0"/>
          </a:p>
        </p:txBody>
      </p:sp>
      <p:sp>
        <p:nvSpPr>
          <p:cNvPr id="10" name="Text 7"/>
          <p:cNvSpPr txBox="1"/>
          <p:nvPr/>
        </p:nvSpPr>
        <p:spPr>
          <a:xfrm>
            <a:off x="1325880" y="2377440"/>
            <a:ext cx="2509418" cy="1234440"/>
          </a:xfrm>
          <a:prstGeom prst="rect">
            <a:avLst/>
          </a:prstGeom>
          <a:noFill/>
          <a:ln/>
        </p:spPr>
        <p:txBody>
          <a:bodyPr wrap="square" lIns="0" tIns="0" rIns="0" bIns="0" rtlCol="0" anchor="t"/>
          <a:lstStyle/>
          <a:p>
            <a:pPr marL="0" indent="0">
              <a:spcAft>
                <a:spcPts val="200"/>
              </a:spcAft>
              <a:buNone/>
            </a:pPr>
            <a:r>
              <a:rPr lang="en-US" sz="1200" b="1" dirty="0">
                <a:solidFill>
                  <a:srgbClr val="2E1F27"/>
                </a:solidFill>
                <a:latin typeface="Calibri" pitchFamily="34" charset="0"/>
                <a:ea typeface="Calibri" pitchFamily="34" charset="-122"/>
                <a:cs typeface="Calibri" pitchFamily="34" charset="-120"/>
              </a:rPr>
              <a:t>Protect the home turf.</a:t>
            </a:r>
            <a:endParaRPr lang="en-US" sz="1200" dirty="0"/>
          </a:p>
          <a:p>
            <a:pPr marL="0" indent="0">
              <a:spcAft>
                <a:spcPts val="200"/>
              </a:spcAft>
              <a:buNone/>
            </a:pPr>
            <a:r>
              <a:rPr lang="en-US" sz="1200" dirty="0">
                <a:solidFill>
                  <a:srgbClr val="2B2124"/>
                </a:solidFill>
                <a:latin typeface="Calibri" pitchFamily="34" charset="0"/>
                <a:ea typeface="Calibri" pitchFamily="34" charset="-122"/>
                <a:cs typeface="Calibri" pitchFamily="34" charset="-120"/>
              </a:rPr>
              <a:t>12 students live within 2 km of Angie Lee Academy. Keep them with sibling discounts and visible exam and competition results.</a:t>
            </a:r>
            <a:endParaRPr lang="en-US" sz="1200" dirty="0"/>
          </a:p>
        </p:txBody>
      </p:sp>
      <p:sp>
        <p:nvSpPr>
          <p:cNvPr id="11" name="Shape 8"/>
          <p:cNvSpPr/>
          <p:nvPr/>
        </p:nvSpPr>
        <p:spPr>
          <a:xfrm>
            <a:off x="822960" y="3721608"/>
            <a:ext cx="365760" cy="365760"/>
          </a:xfrm>
          <a:prstGeom prst="ellipse">
            <a:avLst/>
          </a:prstGeom>
          <a:solidFill>
            <a:srgbClr val="2E1F27"/>
          </a:solidFill>
          <a:ln w="12700">
            <a:solidFill>
              <a:srgbClr val="2E1F27"/>
            </a:solidFill>
            <a:prstDash val="solid"/>
          </a:ln>
        </p:spPr>
        <p:txBody>
          <a:bodyPr/>
          <a:lstStyle/>
          <a:p>
            <a:endParaRPr lang="en-US"/>
          </a:p>
        </p:txBody>
      </p:sp>
      <p:sp>
        <p:nvSpPr>
          <p:cNvPr id="12" name="Text 9"/>
          <p:cNvSpPr txBox="1"/>
          <p:nvPr/>
        </p:nvSpPr>
        <p:spPr>
          <a:xfrm>
            <a:off x="822960" y="3721608"/>
            <a:ext cx="365760" cy="365760"/>
          </a:xfrm>
          <a:prstGeom prst="rect">
            <a:avLst/>
          </a:prstGeom>
          <a:noFill/>
          <a:ln/>
        </p:spPr>
        <p:txBody>
          <a:bodyPr wrap="square" lIns="0" tIns="0" rIns="0" bIns="0" rtlCol="0" anchor="ctr"/>
          <a:lstStyle/>
          <a:p>
            <a:pPr marL="0" indent="0" algn="ctr">
              <a:buNone/>
            </a:pPr>
            <a:r>
              <a:rPr lang="en-US" sz="1200" b="1" dirty="0">
                <a:solidFill>
                  <a:srgbClr val="F6E2D6"/>
                </a:solidFill>
                <a:latin typeface="Cambria" pitchFamily="34" charset="0"/>
                <a:ea typeface="Cambria" pitchFamily="34" charset="-122"/>
                <a:cs typeface="Cambria" pitchFamily="34" charset="-120"/>
              </a:rPr>
              <a:t>2</a:t>
            </a:r>
            <a:endParaRPr lang="en-US" sz="1200" dirty="0"/>
          </a:p>
        </p:txBody>
      </p:sp>
      <p:sp>
        <p:nvSpPr>
          <p:cNvPr id="13" name="Text 10"/>
          <p:cNvSpPr txBox="1"/>
          <p:nvPr/>
        </p:nvSpPr>
        <p:spPr>
          <a:xfrm>
            <a:off x="1325880" y="3703320"/>
            <a:ext cx="2509418" cy="1234440"/>
          </a:xfrm>
          <a:prstGeom prst="rect">
            <a:avLst/>
          </a:prstGeom>
          <a:noFill/>
          <a:ln/>
        </p:spPr>
        <p:txBody>
          <a:bodyPr wrap="square" lIns="0" tIns="0" rIns="0" bIns="0" rtlCol="0" anchor="t"/>
          <a:lstStyle/>
          <a:p>
            <a:pPr marL="0" indent="0">
              <a:spcAft>
                <a:spcPts val="200"/>
              </a:spcAft>
              <a:buNone/>
            </a:pPr>
            <a:r>
              <a:rPr lang="en-US" sz="1200" b="1" dirty="0">
                <a:solidFill>
                  <a:srgbClr val="2E1F27"/>
                </a:solidFill>
                <a:latin typeface="Calibri" pitchFamily="34" charset="0"/>
                <a:ea typeface="Calibri" pitchFamily="34" charset="-122"/>
                <a:cs typeface="Calibri" pitchFamily="34" charset="-120"/>
              </a:rPr>
              <a:t>Use referrals.</a:t>
            </a:r>
            <a:endParaRPr lang="en-US" sz="1200" dirty="0"/>
          </a:p>
          <a:p>
            <a:pPr marL="0" indent="0">
              <a:spcAft>
                <a:spcPts val="200"/>
              </a:spcAft>
              <a:buNone/>
            </a:pPr>
            <a:r>
              <a:rPr lang="en-US" sz="1200" dirty="0">
                <a:solidFill>
                  <a:srgbClr val="2B2124"/>
                </a:solidFill>
                <a:latin typeface="Calibri" pitchFamily="34" charset="0"/>
                <a:ea typeface="Calibri" pitchFamily="34" charset="-122"/>
                <a:cs typeface="Calibri" pitchFamily="34" charset="-120"/>
              </a:rPr>
              <a:t>Push the existing RM50 referral discount in developments with Ballotté families (X2, Desa Impiana, Elevia), then offer demo classes at the 13 targets.</a:t>
            </a:r>
            <a:endParaRPr lang="en-US" sz="1200" dirty="0"/>
          </a:p>
        </p:txBody>
      </p:sp>
      <p:sp>
        <p:nvSpPr>
          <p:cNvPr id="14" name="Shape 11"/>
          <p:cNvSpPr/>
          <p:nvPr/>
        </p:nvSpPr>
        <p:spPr>
          <a:xfrm>
            <a:off x="822960" y="5047488"/>
            <a:ext cx="365760" cy="365760"/>
          </a:xfrm>
          <a:prstGeom prst="ellipse">
            <a:avLst/>
          </a:prstGeom>
          <a:solidFill>
            <a:srgbClr val="2E1F27"/>
          </a:solidFill>
          <a:ln w="12700">
            <a:solidFill>
              <a:srgbClr val="2E1F27"/>
            </a:solidFill>
            <a:prstDash val="solid"/>
          </a:ln>
        </p:spPr>
        <p:txBody>
          <a:bodyPr/>
          <a:lstStyle/>
          <a:p>
            <a:endParaRPr lang="en-US"/>
          </a:p>
        </p:txBody>
      </p:sp>
      <p:sp>
        <p:nvSpPr>
          <p:cNvPr id="15" name="Text 12"/>
          <p:cNvSpPr txBox="1"/>
          <p:nvPr/>
        </p:nvSpPr>
        <p:spPr>
          <a:xfrm>
            <a:off x="822960" y="5047488"/>
            <a:ext cx="365760" cy="365760"/>
          </a:xfrm>
          <a:prstGeom prst="rect">
            <a:avLst/>
          </a:prstGeom>
          <a:noFill/>
          <a:ln/>
        </p:spPr>
        <p:txBody>
          <a:bodyPr wrap="square" lIns="0" tIns="0" rIns="0" bIns="0" rtlCol="0" anchor="ctr"/>
          <a:lstStyle/>
          <a:p>
            <a:pPr marL="0" indent="0" algn="ctr">
              <a:buNone/>
            </a:pPr>
            <a:r>
              <a:rPr lang="en-US" sz="1200" b="1" dirty="0">
                <a:solidFill>
                  <a:srgbClr val="F6E2D6"/>
                </a:solidFill>
                <a:latin typeface="Cambria" pitchFamily="34" charset="0"/>
                <a:ea typeface="Cambria" pitchFamily="34" charset="-122"/>
                <a:cs typeface="Cambria" pitchFamily="34" charset="-120"/>
              </a:rPr>
              <a:t>3</a:t>
            </a:r>
            <a:endParaRPr lang="en-US" sz="1200" dirty="0"/>
          </a:p>
        </p:txBody>
      </p:sp>
      <p:sp>
        <p:nvSpPr>
          <p:cNvPr id="16" name="Text 13"/>
          <p:cNvSpPr txBox="1"/>
          <p:nvPr/>
        </p:nvSpPr>
        <p:spPr>
          <a:xfrm>
            <a:off x="1325880" y="5029200"/>
            <a:ext cx="2509418" cy="1234440"/>
          </a:xfrm>
          <a:prstGeom prst="rect">
            <a:avLst/>
          </a:prstGeom>
          <a:noFill/>
          <a:ln/>
        </p:spPr>
        <p:txBody>
          <a:bodyPr wrap="square" lIns="0" tIns="0" rIns="0" bIns="0" rtlCol="0" anchor="t"/>
          <a:lstStyle/>
          <a:p>
            <a:pPr marL="0" indent="0">
              <a:spcAft>
                <a:spcPts val="200"/>
              </a:spcAft>
              <a:buNone/>
            </a:pPr>
            <a:r>
              <a:rPr lang="en-US" sz="1200" b="1" dirty="0">
                <a:solidFill>
                  <a:srgbClr val="2E1F27"/>
                </a:solidFill>
                <a:latin typeface="Calibri" pitchFamily="34" charset="0"/>
                <a:ea typeface="Calibri" pitchFamily="34" charset="-122"/>
                <a:cs typeface="Calibri" pitchFamily="34" charset="-120"/>
              </a:rPr>
              <a:t>Win Cyberjaya.</a:t>
            </a:r>
            <a:endParaRPr lang="en-US" sz="1200" dirty="0"/>
          </a:p>
          <a:p>
            <a:pPr marL="0" indent="0">
              <a:spcAft>
                <a:spcPts val="200"/>
              </a:spcAft>
              <a:buNone/>
            </a:pPr>
            <a:r>
              <a:rPr lang="en-US" sz="1200" dirty="0">
                <a:solidFill>
                  <a:srgbClr val="2B2124"/>
                </a:solidFill>
                <a:latin typeface="Calibri" pitchFamily="34" charset="0"/>
                <a:ea typeface="Calibri" pitchFamily="34" charset="-122"/>
                <a:cs typeface="Calibri" pitchFamily="34" charset="-120"/>
              </a:rPr>
              <a:t>Ask Cyberjaya parents why they travel, then target Setia Eco Glades, Verdi, Mutiara Ville, Sejati, Lakefront and Setia Safiro.</a:t>
            </a:r>
            <a:endParaRPr lang="en-US" sz="1200" dirty="0"/>
          </a:p>
        </p:txBody>
      </p:sp>
      <p:sp>
        <p:nvSpPr>
          <p:cNvPr id="17" name="Shape 14"/>
          <p:cNvSpPr/>
          <p:nvPr/>
        </p:nvSpPr>
        <p:spPr>
          <a:xfrm>
            <a:off x="4338218" y="1554480"/>
            <a:ext cx="3515258" cy="4846320"/>
          </a:xfrm>
          <a:prstGeom prst="roundRect">
            <a:avLst>
              <a:gd name="adj" fmla="val 3121"/>
            </a:avLst>
          </a:prstGeom>
          <a:solidFill>
            <a:srgbClr val="F8EEEA"/>
          </a:solidFill>
          <a:ln w="9525">
            <a:solidFill>
              <a:srgbClr val="C99474"/>
            </a:solidFill>
            <a:prstDash val="solid"/>
          </a:ln>
        </p:spPr>
        <p:txBody>
          <a:bodyPr/>
          <a:lstStyle/>
          <a:p>
            <a:endParaRPr lang="en-US"/>
          </a:p>
        </p:txBody>
      </p:sp>
      <p:sp>
        <p:nvSpPr>
          <p:cNvPr id="18" name="Text 15"/>
          <p:cNvSpPr txBox="1"/>
          <p:nvPr/>
        </p:nvSpPr>
        <p:spPr>
          <a:xfrm>
            <a:off x="4612538" y="1737360"/>
            <a:ext cx="2966618" cy="457200"/>
          </a:xfrm>
          <a:prstGeom prst="rect">
            <a:avLst/>
          </a:prstGeom>
          <a:noFill/>
          <a:ln/>
        </p:spPr>
        <p:txBody>
          <a:bodyPr wrap="square" lIns="0" tIns="0" rIns="0" bIns="0" rtlCol="0" anchor="ctr"/>
          <a:lstStyle/>
          <a:p>
            <a:pPr marL="0" indent="0">
              <a:buNone/>
            </a:pPr>
            <a:r>
              <a:rPr lang="en-US" sz="1800" b="1" dirty="0">
                <a:solidFill>
                  <a:srgbClr val="9E4A67"/>
                </a:solidFill>
                <a:latin typeface="Cambria" pitchFamily="34" charset="0"/>
                <a:ea typeface="Cambria" pitchFamily="34" charset="-122"/>
                <a:cs typeface="Cambria" pitchFamily="34" charset="-120"/>
              </a:rPr>
              <a:t>Be easy to find</a:t>
            </a:r>
            <a:endParaRPr lang="en-US" sz="1800" dirty="0"/>
          </a:p>
        </p:txBody>
      </p:sp>
      <p:sp>
        <p:nvSpPr>
          <p:cNvPr id="19" name="Shape 16"/>
          <p:cNvSpPr/>
          <p:nvPr/>
        </p:nvSpPr>
        <p:spPr>
          <a:xfrm>
            <a:off x="4612538" y="2395728"/>
            <a:ext cx="365760" cy="365760"/>
          </a:xfrm>
          <a:prstGeom prst="ellipse">
            <a:avLst/>
          </a:prstGeom>
          <a:solidFill>
            <a:srgbClr val="2E1F27"/>
          </a:solidFill>
          <a:ln w="12700">
            <a:solidFill>
              <a:srgbClr val="2E1F27"/>
            </a:solidFill>
            <a:prstDash val="solid"/>
          </a:ln>
        </p:spPr>
        <p:txBody>
          <a:bodyPr/>
          <a:lstStyle/>
          <a:p>
            <a:endParaRPr lang="en-US"/>
          </a:p>
        </p:txBody>
      </p:sp>
      <p:sp>
        <p:nvSpPr>
          <p:cNvPr id="20" name="Text 17"/>
          <p:cNvSpPr txBox="1"/>
          <p:nvPr/>
        </p:nvSpPr>
        <p:spPr>
          <a:xfrm>
            <a:off x="4612538" y="2395728"/>
            <a:ext cx="365760" cy="365760"/>
          </a:xfrm>
          <a:prstGeom prst="rect">
            <a:avLst/>
          </a:prstGeom>
          <a:noFill/>
          <a:ln/>
        </p:spPr>
        <p:txBody>
          <a:bodyPr wrap="square" lIns="0" tIns="0" rIns="0" bIns="0" rtlCol="0" anchor="ctr"/>
          <a:lstStyle/>
          <a:p>
            <a:pPr marL="0" indent="0" algn="ctr">
              <a:buNone/>
            </a:pPr>
            <a:r>
              <a:rPr lang="en-US" sz="1200" b="1" dirty="0">
                <a:solidFill>
                  <a:srgbClr val="F6E2D6"/>
                </a:solidFill>
                <a:latin typeface="Cambria" pitchFamily="34" charset="0"/>
                <a:ea typeface="Cambria" pitchFamily="34" charset="-122"/>
                <a:cs typeface="Cambria" pitchFamily="34" charset="-120"/>
              </a:rPr>
              <a:t>4</a:t>
            </a:r>
            <a:endParaRPr lang="en-US" sz="1200" dirty="0"/>
          </a:p>
        </p:txBody>
      </p:sp>
      <p:sp>
        <p:nvSpPr>
          <p:cNvPr id="21" name="Text 18"/>
          <p:cNvSpPr txBox="1"/>
          <p:nvPr/>
        </p:nvSpPr>
        <p:spPr>
          <a:xfrm>
            <a:off x="5115458" y="2377440"/>
            <a:ext cx="2509418" cy="1234440"/>
          </a:xfrm>
          <a:prstGeom prst="rect">
            <a:avLst/>
          </a:prstGeom>
          <a:noFill/>
          <a:ln/>
        </p:spPr>
        <p:txBody>
          <a:bodyPr wrap="square" lIns="0" tIns="0" rIns="0" bIns="0" rtlCol="0" anchor="t"/>
          <a:lstStyle/>
          <a:p>
            <a:pPr marL="0" indent="0">
              <a:spcAft>
                <a:spcPts val="200"/>
              </a:spcAft>
              <a:buNone/>
            </a:pPr>
            <a:r>
              <a:rPr lang="en-US" sz="1200" b="1" dirty="0">
                <a:solidFill>
                  <a:srgbClr val="2E1F27"/>
                </a:solidFill>
                <a:latin typeface="Calibri" pitchFamily="34" charset="0"/>
                <a:ea typeface="Calibri" pitchFamily="34" charset="-122"/>
                <a:cs typeface="Calibri" pitchFamily="34" charset="-120"/>
              </a:rPr>
              <a:t>Fix the website link now.</a:t>
            </a:r>
            <a:endParaRPr lang="en-US" sz="1200" dirty="0"/>
          </a:p>
          <a:p>
            <a:pPr marL="0" indent="0">
              <a:spcAft>
                <a:spcPts val="200"/>
              </a:spcAft>
              <a:buNone/>
            </a:pPr>
            <a:r>
              <a:rPr lang="en-US" sz="1200" dirty="0">
                <a:solidFill>
                  <a:srgbClr val="2B2124"/>
                </a:solidFill>
                <a:latin typeface="Calibri" pitchFamily="34" charset="0"/>
                <a:ea typeface="Calibri" pitchFamily="34" charset="-122"/>
                <a:cs typeface="Calibri" pitchFamily="34" charset="-120"/>
              </a:rPr>
              <a:t>Google's Website button opens a gambling site. Remove or replace it and add a phone number and WhatsApp button to Facebook. Remove Pavillion directory (misleading)</a:t>
            </a:r>
            <a:endParaRPr lang="en-US" sz="1200" dirty="0"/>
          </a:p>
        </p:txBody>
      </p:sp>
      <p:sp>
        <p:nvSpPr>
          <p:cNvPr id="22" name="Shape 19"/>
          <p:cNvSpPr/>
          <p:nvPr/>
        </p:nvSpPr>
        <p:spPr>
          <a:xfrm>
            <a:off x="4612538" y="3721608"/>
            <a:ext cx="365760" cy="365760"/>
          </a:xfrm>
          <a:prstGeom prst="ellipse">
            <a:avLst/>
          </a:prstGeom>
          <a:solidFill>
            <a:srgbClr val="2E1F27"/>
          </a:solidFill>
          <a:ln w="12700">
            <a:solidFill>
              <a:srgbClr val="2E1F27"/>
            </a:solidFill>
            <a:prstDash val="solid"/>
          </a:ln>
        </p:spPr>
        <p:txBody>
          <a:bodyPr/>
          <a:lstStyle/>
          <a:p>
            <a:endParaRPr lang="en-US"/>
          </a:p>
        </p:txBody>
      </p:sp>
      <p:sp>
        <p:nvSpPr>
          <p:cNvPr id="23" name="Text 20"/>
          <p:cNvSpPr txBox="1"/>
          <p:nvPr/>
        </p:nvSpPr>
        <p:spPr>
          <a:xfrm>
            <a:off x="4612538" y="3721608"/>
            <a:ext cx="365760" cy="365760"/>
          </a:xfrm>
          <a:prstGeom prst="rect">
            <a:avLst/>
          </a:prstGeom>
          <a:noFill/>
          <a:ln/>
        </p:spPr>
        <p:txBody>
          <a:bodyPr wrap="square" lIns="0" tIns="0" rIns="0" bIns="0" rtlCol="0" anchor="ctr"/>
          <a:lstStyle/>
          <a:p>
            <a:pPr marL="0" indent="0" algn="ctr">
              <a:buNone/>
            </a:pPr>
            <a:r>
              <a:rPr lang="en-US" sz="1200" b="1" dirty="0">
                <a:solidFill>
                  <a:srgbClr val="F6E2D6"/>
                </a:solidFill>
                <a:latin typeface="Cambria" pitchFamily="34" charset="0"/>
                <a:ea typeface="Cambria" pitchFamily="34" charset="-122"/>
                <a:cs typeface="Cambria" pitchFamily="34" charset="-120"/>
              </a:rPr>
              <a:t>5</a:t>
            </a:r>
            <a:endParaRPr lang="en-US" sz="1200" dirty="0"/>
          </a:p>
        </p:txBody>
      </p:sp>
      <p:sp>
        <p:nvSpPr>
          <p:cNvPr id="24" name="Text 21"/>
          <p:cNvSpPr txBox="1"/>
          <p:nvPr/>
        </p:nvSpPr>
        <p:spPr>
          <a:xfrm>
            <a:off x="5115458" y="3703320"/>
            <a:ext cx="2509418" cy="1234440"/>
          </a:xfrm>
          <a:prstGeom prst="rect">
            <a:avLst/>
          </a:prstGeom>
          <a:noFill/>
          <a:ln/>
        </p:spPr>
        <p:txBody>
          <a:bodyPr wrap="square" lIns="0" tIns="0" rIns="0" bIns="0" rtlCol="0" anchor="t"/>
          <a:lstStyle/>
          <a:p>
            <a:pPr marL="0" indent="0">
              <a:spcAft>
                <a:spcPts val="200"/>
              </a:spcAft>
              <a:buNone/>
            </a:pPr>
            <a:r>
              <a:rPr lang="en-US" sz="1200" b="1" dirty="0">
                <a:solidFill>
                  <a:srgbClr val="2E1F27"/>
                </a:solidFill>
                <a:latin typeface="Calibri" pitchFamily="34" charset="0"/>
                <a:ea typeface="Calibri" pitchFamily="34" charset="-122"/>
                <a:cs typeface="Calibri" pitchFamily="34" charset="-120"/>
              </a:rPr>
              <a:t>Launch a simple website.</a:t>
            </a:r>
            <a:endParaRPr lang="en-US" sz="1200" dirty="0"/>
          </a:p>
          <a:p>
            <a:pPr marL="0" indent="0">
              <a:spcAft>
                <a:spcPts val="200"/>
              </a:spcAft>
              <a:buNone/>
            </a:pPr>
            <a:r>
              <a:rPr lang="en-US" sz="1200" dirty="0">
                <a:solidFill>
                  <a:srgbClr val="2B2124"/>
                </a:solidFill>
                <a:latin typeface="Calibri" pitchFamily="34" charset="0"/>
                <a:ea typeface="Calibri" pitchFamily="34" charset="-122"/>
                <a:cs typeface="Calibri" pitchFamily="34" charset="-120"/>
              </a:rPr>
              <a:t>Include trial-class booking, a results page and a monthly parent-tips post built from Instagram content.</a:t>
            </a:r>
            <a:endParaRPr lang="en-US" sz="1200" dirty="0"/>
          </a:p>
        </p:txBody>
      </p:sp>
      <p:sp>
        <p:nvSpPr>
          <p:cNvPr id="25" name="Shape 22"/>
          <p:cNvSpPr/>
          <p:nvPr/>
        </p:nvSpPr>
        <p:spPr>
          <a:xfrm>
            <a:off x="4612538" y="5047488"/>
            <a:ext cx="365760" cy="365760"/>
          </a:xfrm>
          <a:prstGeom prst="ellipse">
            <a:avLst/>
          </a:prstGeom>
          <a:solidFill>
            <a:srgbClr val="2E1F27"/>
          </a:solidFill>
          <a:ln w="12700">
            <a:solidFill>
              <a:srgbClr val="2E1F27"/>
            </a:solidFill>
            <a:prstDash val="solid"/>
          </a:ln>
        </p:spPr>
        <p:txBody>
          <a:bodyPr/>
          <a:lstStyle/>
          <a:p>
            <a:endParaRPr lang="en-US"/>
          </a:p>
        </p:txBody>
      </p:sp>
      <p:sp>
        <p:nvSpPr>
          <p:cNvPr id="26" name="Text 23"/>
          <p:cNvSpPr txBox="1"/>
          <p:nvPr/>
        </p:nvSpPr>
        <p:spPr>
          <a:xfrm>
            <a:off x="4612538" y="5047488"/>
            <a:ext cx="365760" cy="365760"/>
          </a:xfrm>
          <a:prstGeom prst="rect">
            <a:avLst/>
          </a:prstGeom>
          <a:noFill/>
          <a:ln/>
        </p:spPr>
        <p:txBody>
          <a:bodyPr wrap="square" lIns="0" tIns="0" rIns="0" bIns="0" rtlCol="0" anchor="ctr"/>
          <a:lstStyle/>
          <a:p>
            <a:pPr marL="0" indent="0" algn="ctr">
              <a:buNone/>
            </a:pPr>
            <a:r>
              <a:rPr lang="en-US" sz="1200" b="1" dirty="0">
                <a:solidFill>
                  <a:srgbClr val="F6E2D6"/>
                </a:solidFill>
                <a:latin typeface="Cambria" pitchFamily="34" charset="0"/>
                <a:ea typeface="Cambria" pitchFamily="34" charset="-122"/>
                <a:cs typeface="Cambria" pitchFamily="34" charset="-120"/>
              </a:rPr>
              <a:t>6</a:t>
            </a:r>
            <a:endParaRPr lang="en-US" sz="1200" dirty="0"/>
          </a:p>
        </p:txBody>
      </p:sp>
      <p:sp>
        <p:nvSpPr>
          <p:cNvPr id="27" name="Text 24"/>
          <p:cNvSpPr txBox="1"/>
          <p:nvPr/>
        </p:nvSpPr>
        <p:spPr>
          <a:xfrm>
            <a:off x="5115458" y="5029200"/>
            <a:ext cx="2509418" cy="1234440"/>
          </a:xfrm>
          <a:prstGeom prst="rect">
            <a:avLst/>
          </a:prstGeom>
          <a:noFill/>
          <a:ln/>
        </p:spPr>
        <p:txBody>
          <a:bodyPr wrap="square" lIns="0" tIns="0" rIns="0" bIns="0" rtlCol="0" anchor="t"/>
          <a:lstStyle/>
          <a:p>
            <a:pPr marL="0" indent="0">
              <a:spcAft>
                <a:spcPts val="200"/>
              </a:spcAft>
              <a:buNone/>
            </a:pPr>
            <a:r>
              <a:rPr lang="en-US" sz="1200" b="1" dirty="0">
                <a:solidFill>
                  <a:srgbClr val="2E1F27"/>
                </a:solidFill>
                <a:latin typeface="Calibri" pitchFamily="34" charset="0"/>
                <a:ea typeface="Calibri" pitchFamily="34" charset="-122"/>
                <a:cs typeface="Calibri" pitchFamily="34" charset="-120"/>
              </a:rPr>
              <a:t>Get listed, show reviews.</a:t>
            </a:r>
            <a:endParaRPr lang="en-US" sz="1200" dirty="0"/>
          </a:p>
          <a:p>
            <a:pPr>
              <a:spcAft>
                <a:spcPts val="200"/>
              </a:spcAft>
            </a:pPr>
            <a:r>
              <a:rPr lang="en-US" sz="1200" dirty="0">
                <a:solidFill>
                  <a:srgbClr val="2B2124"/>
                </a:solidFill>
                <a:latin typeface="Calibri" pitchFamily="34" charset="0"/>
                <a:ea typeface="Calibri" pitchFamily="34" charset="-122"/>
                <a:cs typeface="Calibri" pitchFamily="34" charset="-120"/>
              </a:rPr>
              <a:t>Join the CSTD and RAD directories, fix the </a:t>
            </a:r>
            <a:r>
              <a:rPr lang="en-US" sz="1200" dirty="0" err="1">
                <a:solidFill>
                  <a:srgbClr val="2B2124"/>
                </a:solidFill>
                <a:latin typeface="Calibri" pitchFamily="34" charset="0"/>
                <a:ea typeface="Calibri" pitchFamily="34" charset="-122"/>
                <a:cs typeface="Calibri" pitchFamily="34" charset="-120"/>
              </a:rPr>
              <a:t>HiParents</a:t>
            </a:r>
            <a:r>
              <a:rPr lang="en-US" sz="1200" dirty="0">
                <a:solidFill>
                  <a:srgbClr val="2B2124"/>
                </a:solidFill>
                <a:latin typeface="Calibri" pitchFamily="34" charset="0"/>
                <a:ea typeface="Calibri" pitchFamily="34" charset="-122"/>
                <a:cs typeface="Calibri" pitchFamily="34" charset="-120"/>
              </a:rPr>
              <a:t> name (Ballott</a:t>
            </a:r>
            <a:r>
              <a:rPr lang="zh-CN" altLang="en-US" sz="1200" dirty="0">
                <a:solidFill>
                  <a:srgbClr val="2B2124"/>
                </a:solidFill>
                <a:latin typeface="Calibri" pitchFamily="34" charset="0"/>
                <a:ea typeface="Calibri" pitchFamily="34" charset="-122"/>
                <a:cs typeface="Calibri" pitchFamily="34" charset="-120"/>
              </a:rPr>
              <a:t>茅 </a:t>
            </a:r>
            <a:r>
              <a:rPr lang="en-US" sz="1200" dirty="0">
                <a:solidFill>
                  <a:srgbClr val="2B2124"/>
                </a:solidFill>
                <a:latin typeface="Calibri" pitchFamily="34" charset="0"/>
                <a:ea typeface="Calibri" pitchFamily="34" charset="-122"/>
                <a:cs typeface="Calibri" pitchFamily="34" charset="-120"/>
              </a:rPr>
              <a:t>Dance Academy), add </a:t>
            </a:r>
            <a:r>
              <a:rPr lang="en-US" sz="1200" dirty="0" err="1">
                <a:solidFill>
                  <a:srgbClr val="2B2124"/>
                </a:solidFill>
                <a:latin typeface="Calibri" pitchFamily="34" charset="0"/>
                <a:ea typeface="Calibri" pitchFamily="34" charset="-122"/>
                <a:cs typeface="Calibri" pitchFamily="34" charset="-120"/>
              </a:rPr>
              <a:t>TallyPress</a:t>
            </a:r>
            <a:r>
              <a:rPr lang="en-US" sz="1200" dirty="0">
                <a:solidFill>
                  <a:srgbClr val="2B2124"/>
                </a:solidFill>
                <a:latin typeface="Calibri" pitchFamily="34" charset="0"/>
                <a:ea typeface="Calibri" pitchFamily="34" charset="-122"/>
                <a:cs typeface="Calibri" pitchFamily="34" charset="-120"/>
              </a:rPr>
              <a:t>, Kiddy123 and Yelp, and show off the 4.8-star Google rating.</a:t>
            </a:r>
            <a:endParaRPr lang="en-US" sz="1200" dirty="0"/>
          </a:p>
        </p:txBody>
      </p:sp>
      <p:sp>
        <p:nvSpPr>
          <p:cNvPr id="28" name="Shape 25"/>
          <p:cNvSpPr/>
          <p:nvPr/>
        </p:nvSpPr>
        <p:spPr>
          <a:xfrm>
            <a:off x="8127797" y="1554480"/>
            <a:ext cx="3515258" cy="4846320"/>
          </a:xfrm>
          <a:prstGeom prst="roundRect">
            <a:avLst>
              <a:gd name="adj" fmla="val 3121"/>
            </a:avLst>
          </a:prstGeom>
          <a:solidFill>
            <a:srgbClr val="F8EEEA"/>
          </a:solidFill>
          <a:ln w="9525">
            <a:solidFill>
              <a:srgbClr val="C99474"/>
            </a:solidFill>
            <a:prstDash val="solid"/>
          </a:ln>
        </p:spPr>
        <p:txBody>
          <a:bodyPr/>
          <a:lstStyle/>
          <a:p>
            <a:endParaRPr lang="en-US"/>
          </a:p>
        </p:txBody>
      </p:sp>
      <p:sp>
        <p:nvSpPr>
          <p:cNvPr id="29" name="Text 26"/>
          <p:cNvSpPr txBox="1"/>
          <p:nvPr/>
        </p:nvSpPr>
        <p:spPr>
          <a:xfrm>
            <a:off x="8402117" y="1737360"/>
            <a:ext cx="2966618" cy="457200"/>
          </a:xfrm>
          <a:prstGeom prst="rect">
            <a:avLst/>
          </a:prstGeom>
          <a:noFill/>
          <a:ln/>
        </p:spPr>
        <p:txBody>
          <a:bodyPr wrap="square" lIns="0" tIns="0" rIns="0" bIns="0" rtlCol="0" anchor="ctr"/>
          <a:lstStyle/>
          <a:p>
            <a:pPr marL="0" indent="0">
              <a:buNone/>
            </a:pPr>
            <a:r>
              <a:rPr lang="en-US" sz="1800" b="1" dirty="0">
                <a:solidFill>
                  <a:srgbClr val="9E4A67"/>
                </a:solidFill>
                <a:latin typeface="Cambria" pitchFamily="34" charset="0"/>
                <a:ea typeface="Cambria" pitchFamily="34" charset="-122"/>
                <a:cs typeface="Cambria" pitchFamily="34" charset="-120"/>
              </a:rPr>
              <a:t>Grow new classes</a:t>
            </a:r>
            <a:endParaRPr lang="en-US" sz="1800" dirty="0"/>
          </a:p>
        </p:txBody>
      </p:sp>
      <p:sp>
        <p:nvSpPr>
          <p:cNvPr id="30" name="Shape 27"/>
          <p:cNvSpPr/>
          <p:nvPr/>
        </p:nvSpPr>
        <p:spPr>
          <a:xfrm>
            <a:off x="8402117" y="2395728"/>
            <a:ext cx="365760" cy="365760"/>
          </a:xfrm>
          <a:prstGeom prst="ellipse">
            <a:avLst/>
          </a:prstGeom>
          <a:solidFill>
            <a:srgbClr val="2E1F27"/>
          </a:solidFill>
          <a:ln w="12700">
            <a:solidFill>
              <a:srgbClr val="2E1F27"/>
            </a:solidFill>
            <a:prstDash val="solid"/>
          </a:ln>
        </p:spPr>
        <p:txBody>
          <a:bodyPr/>
          <a:lstStyle/>
          <a:p>
            <a:endParaRPr lang="en-US"/>
          </a:p>
        </p:txBody>
      </p:sp>
      <p:sp>
        <p:nvSpPr>
          <p:cNvPr id="31" name="Text 28"/>
          <p:cNvSpPr txBox="1"/>
          <p:nvPr/>
        </p:nvSpPr>
        <p:spPr>
          <a:xfrm>
            <a:off x="8402117" y="2395728"/>
            <a:ext cx="365760" cy="365760"/>
          </a:xfrm>
          <a:prstGeom prst="rect">
            <a:avLst/>
          </a:prstGeom>
          <a:noFill/>
          <a:ln/>
        </p:spPr>
        <p:txBody>
          <a:bodyPr wrap="square" lIns="0" tIns="0" rIns="0" bIns="0" rtlCol="0" anchor="ctr"/>
          <a:lstStyle/>
          <a:p>
            <a:pPr marL="0" indent="0" algn="ctr">
              <a:buNone/>
            </a:pPr>
            <a:r>
              <a:rPr lang="en-US" sz="1200" b="1" dirty="0">
                <a:solidFill>
                  <a:srgbClr val="F6E2D6"/>
                </a:solidFill>
                <a:latin typeface="Cambria" pitchFamily="34" charset="0"/>
                <a:ea typeface="Cambria" pitchFamily="34" charset="-122"/>
                <a:cs typeface="Cambria" pitchFamily="34" charset="-120"/>
              </a:rPr>
              <a:t>7</a:t>
            </a:r>
            <a:endParaRPr lang="en-US" sz="1200" dirty="0"/>
          </a:p>
        </p:txBody>
      </p:sp>
      <p:sp>
        <p:nvSpPr>
          <p:cNvPr id="32" name="Text 29"/>
          <p:cNvSpPr txBox="1"/>
          <p:nvPr/>
        </p:nvSpPr>
        <p:spPr>
          <a:xfrm>
            <a:off x="8905037" y="2377440"/>
            <a:ext cx="2509418" cy="1234440"/>
          </a:xfrm>
          <a:prstGeom prst="rect">
            <a:avLst/>
          </a:prstGeom>
          <a:noFill/>
          <a:ln/>
        </p:spPr>
        <p:txBody>
          <a:bodyPr wrap="square" lIns="0" tIns="0" rIns="0" bIns="0" rtlCol="0" anchor="t"/>
          <a:lstStyle/>
          <a:p>
            <a:pPr marL="0" indent="0">
              <a:spcAft>
                <a:spcPts val="200"/>
              </a:spcAft>
              <a:buNone/>
            </a:pPr>
            <a:r>
              <a:rPr lang="en-US" sz="1200" b="1" dirty="0">
                <a:solidFill>
                  <a:srgbClr val="2E1F27"/>
                </a:solidFill>
                <a:latin typeface="Calibri" pitchFamily="34" charset="0"/>
                <a:ea typeface="Calibri" pitchFamily="34" charset="-122"/>
                <a:cs typeface="Calibri" pitchFamily="34" charset="-120"/>
              </a:rPr>
              <a:t>Centre on ages 4–9.</a:t>
            </a:r>
            <a:endParaRPr lang="en-US" sz="1200" dirty="0"/>
          </a:p>
          <a:p>
            <a:pPr marL="0" indent="0">
              <a:spcAft>
                <a:spcPts val="200"/>
              </a:spcAft>
              <a:buNone/>
            </a:pPr>
            <a:r>
              <a:rPr lang="en-US" sz="1200" dirty="0">
                <a:solidFill>
                  <a:srgbClr val="2B2124"/>
                </a:solidFill>
                <a:latin typeface="Calibri" pitchFamily="34" charset="0"/>
                <a:ea typeface="Calibri" pitchFamily="34" charset="-122"/>
                <a:cs typeface="Calibri" pitchFamily="34" charset="-120"/>
              </a:rPr>
              <a:t>They are 76% of students. Show a clear path from baby ballet to graded exams to competitions.</a:t>
            </a:r>
            <a:endParaRPr lang="en-US" sz="1200" dirty="0"/>
          </a:p>
        </p:txBody>
      </p:sp>
      <p:sp>
        <p:nvSpPr>
          <p:cNvPr id="33" name="Shape 30"/>
          <p:cNvSpPr/>
          <p:nvPr/>
        </p:nvSpPr>
        <p:spPr>
          <a:xfrm>
            <a:off x="8402117" y="3721608"/>
            <a:ext cx="365760" cy="365760"/>
          </a:xfrm>
          <a:prstGeom prst="ellipse">
            <a:avLst/>
          </a:prstGeom>
          <a:solidFill>
            <a:srgbClr val="2E1F27"/>
          </a:solidFill>
          <a:ln w="12700">
            <a:solidFill>
              <a:srgbClr val="2E1F27"/>
            </a:solidFill>
            <a:prstDash val="solid"/>
          </a:ln>
        </p:spPr>
        <p:txBody>
          <a:bodyPr/>
          <a:lstStyle/>
          <a:p>
            <a:endParaRPr lang="en-US"/>
          </a:p>
        </p:txBody>
      </p:sp>
      <p:sp>
        <p:nvSpPr>
          <p:cNvPr id="34" name="Text 31"/>
          <p:cNvSpPr txBox="1"/>
          <p:nvPr/>
        </p:nvSpPr>
        <p:spPr>
          <a:xfrm>
            <a:off x="8402117" y="3721608"/>
            <a:ext cx="365760" cy="365760"/>
          </a:xfrm>
          <a:prstGeom prst="rect">
            <a:avLst/>
          </a:prstGeom>
          <a:noFill/>
          <a:ln/>
        </p:spPr>
        <p:txBody>
          <a:bodyPr wrap="square" lIns="0" tIns="0" rIns="0" bIns="0" rtlCol="0" anchor="ctr"/>
          <a:lstStyle/>
          <a:p>
            <a:pPr marL="0" indent="0" algn="ctr">
              <a:buNone/>
            </a:pPr>
            <a:r>
              <a:rPr lang="en-US" sz="1200" b="1" dirty="0">
                <a:solidFill>
                  <a:srgbClr val="F6E2D6"/>
                </a:solidFill>
                <a:latin typeface="Cambria" pitchFamily="34" charset="0"/>
                <a:ea typeface="Cambria" pitchFamily="34" charset="-122"/>
                <a:cs typeface="Cambria" pitchFamily="34" charset="-120"/>
              </a:rPr>
              <a:t>8</a:t>
            </a:r>
            <a:endParaRPr lang="en-US" sz="1200" dirty="0"/>
          </a:p>
        </p:txBody>
      </p:sp>
      <p:sp>
        <p:nvSpPr>
          <p:cNvPr id="35" name="Text 32"/>
          <p:cNvSpPr txBox="1"/>
          <p:nvPr/>
        </p:nvSpPr>
        <p:spPr>
          <a:xfrm>
            <a:off x="8905037" y="3703320"/>
            <a:ext cx="2509418" cy="1234440"/>
          </a:xfrm>
          <a:prstGeom prst="rect">
            <a:avLst/>
          </a:prstGeom>
          <a:noFill/>
          <a:ln/>
        </p:spPr>
        <p:txBody>
          <a:bodyPr wrap="square" lIns="0" tIns="0" rIns="0" bIns="0" rtlCol="0" anchor="t"/>
          <a:lstStyle/>
          <a:p>
            <a:pPr marL="0" indent="0">
              <a:spcAft>
                <a:spcPts val="200"/>
              </a:spcAft>
              <a:buNone/>
            </a:pPr>
            <a:r>
              <a:rPr lang="en-US" sz="1200" b="1" dirty="0">
                <a:solidFill>
                  <a:srgbClr val="2E1F27"/>
                </a:solidFill>
                <a:latin typeface="Calibri" pitchFamily="34" charset="0"/>
                <a:ea typeface="Calibri" pitchFamily="34" charset="-122"/>
                <a:cs typeface="Calibri" pitchFamily="34" charset="-120"/>
              </a:rPr>
              <a:t>Pilot adult barre.</a:t>
            </a:r>
            <a:endParaRPr lang="en-US" sz="1200" dirty="0"/>
          </a:p>
          <a:p>
            <a:pPr marL="0" indent="0">
              <a:spcAft>
                <a:spcPts val="200"/>
              </a:spcAft>
              <a:buNone/>
            </a:pPr>
            <a:r>
              <a:rPr lang="en-US" sz="1200" dirty="0">
                <a:solidFill>
                  <a:srgbClr val="2B2124"/>
                </a:solidFill>
                <a:latin typeface="Calibri" pitchFamily="34" charset="0"/>
                <a:ea typeface="Calibri" pitchFamily="34" charset="-122"/>
                <a:cs typeface="Calibri" pitchFamily="34" charset="-120"/>
              </a:rPr>
              <a:t>Only 5 students are adults, while Angie Lee, Dance Rise and Dua Space all sell adult classes.</a:t>
            </a:r>
            <a:endParaRPr lang="en-US" sz="1200" dirty="0"/>
          </a:p>
        </p:txBody>
      </p:sp>
      <p:sp>
        <p:nvSpPr>
          <p:cNvPr id="36" name="Shape 33"/>
          <p:cNvSpPr/>
          <p:nvPr/>
        </p:nvSpPr>
        <p:spPr>
          <a:xfrm>
            <a:off x="8402117" y="5047488"/>
            <a:ext cx="365760" cy="365760"/>
          </a:xfrm>
          <a:prstGeom prst="ellipse">
            <a:avLst/>
          </a:prstGeom>
          <a:solidFill>
            <a:srgbClr val="2E1F27"/>
          </a:solidFill>
          <a:ln w="12700">
            <a:solidFill>
              <a:srgbClr val="2E1F27"/>
            </a:solidFill>
            <a:prstDash val="solid"/>
          </a:ln>
        </p:spPr>
        <p:txBody>
          <a:bodyPr/>
          <a:lstStyle/>
          <a:p>
            <a:endParaRPr lang="en-US"/>
          </a:p>
        </p:txBody>
      </p:sp>
      <p:sp>
        <p:nvSpPr>
          <p:cNvPr id="37" name="Text 34"/>
          <p:cNvSpPr txBox="1"/>
          <p:nvPr/>
        </p:nvSpPr>
        <p:spPr>
          <a:xfrm>
            <a:off x="8402117" y="5047488"/>
            <a:ext cx="365760" cy="365760"/>
          </a:xfrm>
          <a:prstGeom prst="rect">
            <a:avLst/>
          </a:prstGeom>
          <a:noFill/>
          <a:ln/>
        </p:spPr>
        <p:txBody>
          <a:bodyPr wrap="square" lIns="0" tIns="0" rIns="0" bIns="0" rtlCol="0" anchor="ctr"/>
          <a:lstStyle/>
          <a:p>
            <a:pPr marL="0" indent="0" algn="ctr">
              <a:buNone/>
            </a:pPr>
            <a:r>
              <a:rPr lang="en-US" sz="1200" b="1" dirty="0">
                <a:solidFill>
                  <a:srgbClr val="F6E2D6"/>
                </a:solidFill>
                <a:latin typeface="Cambria" pitchFamily="34" charset="0"/>
                <a:ea typeface="Cambria" pitchFamily="34" charset="-122"/>
                <a:cs typeface="Cambria" pitchFamily="34" charset="-120"/>
              </a:rPr>
              <a:t>9</a:t>
            </a:r>
            <a:endParaRPr lang="en-US" sz="1200" dirty="0"/>
          </a:p>
        </p:txBody>
      </p:sp>
      <p:sp>
        <p:nvSpPr>
          <p:cNvPr id="38" name="Text 35"/>
          <p:cNvSpPr txBox="1"/>
          <p:nvPr/>
        </p:nvSpPr>
        <p:spPr>
          <a:xfrm>
            <a:off x="8905037" y="5029200"/>
            <a:ext cx="2509418" cy="1234440"/>
          </a:xfrm>
          <a:prstGeom prst="rect">
            <a:avLst/>
          </a:prstGeom>
          <a:noFill/>
          <a:ln/>
        </p:spPr>
        <p:txBody>
          <a:bodyPr wrap="square" lIns="0" tIns="0" rIns="0" bIns="0" rtlCol="0" anchor="t"/>
          <a:lstStyle/>
          <a:p>
            <a:pPr marL="0" indent="0">
              <a:spcAft>
                <a:spcPts val="200"/>
              </a:spcAft>
              <a:buNone/>
            </a:pPr>
            <a:r>
              <a:rPr lang="en-US" sz="1200" b="1" dirty="0">
                <a:solidFill>
                  <a:srgbClr val="2E1F27"/>
                </a:solidFill>
                <a:latin typeface="Calibri" pitchFamily="34" charset="0"/>
                <a:ea typeface="Calibri" pitchFamily="34" charset="-122"/>
                <a:cs typeface="Calibri" pitchFamily="34" charset="-120"/>
              </a:rPr>
              <a:t>Put on a show.</a:t>
            </a:r>
            <a:endParaRPr lang="en-US" sz="1200" dirty="0"/>
          </a:p>
          <a:p>
            <a:pPr marL="0" indent="0">
              <a:spcAft>
                <a:spcPts val="200"/>
              </a:spcAft>
              <a:buNone/>
            </a:pPr>
            <a:r>
              <a:rPr lang="en-US" sz="1200" dirty="0">
                <a:solidFill>
                  <a:srgbClr val="2B2124"/>
                </a:solidFill>
                <a:latin typeface="Calibri" pitchFamily="34" charset="0"/>
                <a:ea typeface="Calibri" pitchFamily="34" charset="-122"/>
                <a:cs typeface="Calibri" pitchFamily="34" charset="-120"/>
              </a:rPr>
              <a:t>Hold a yearly showcase or open day with a partner school and post in English and Chinese.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2726</Words>
  <Application>Microsoft Macintosh PowerPoint</Application>
  <PresentationFormat>Widescreen</PresentationFormat>
  <Paragraphs>469</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Ballotté Dance Academy #Puchong — Growth Analysis</dc:title>
  <dc:subject>PptxGenJS Presentation</dc:subject>
  <dc:creator>PptxGenJS</dc:creator>
  <cp:lastModifiedBy>KWONG SEONG JUIN</cp:lastModifiedBy>
  <cp:revision>6</cp:revision>
  <dcterms:created xsi:type="dcterms:W3CDTF">2026-09-11T14:58:02Z</dcterms:created>
  <dcterms:modified xsi:type="dcterms:W3CDTF">2026-09-11T17:23:21Z</dcterms:modified>
</cp:coreProperties>
</file>